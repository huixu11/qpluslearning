
<file path=[Content_Types].xml><?xml version="1.0" encoding="utf-8"?>
<Types xmlns="http://schemas.openxmlformats.org/package/2006/content-types">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C076D2E-E36A-444F-9FC6-3F09F7B38128}">
  <a:tblStyle styleId="{BC076D2E-E36A-444F-9FC6-3F09F7B3812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kev_lab_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kev_lab_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Imagine Pac-Man reaches a junction. There are three legal moves, a power pellet around one corner and a ghost approaching from another. We want the model to choose a direction from the board in front of it.</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Kev and CLM both turn that problem into a choice, but they learn the choice differently. Small-model Kev reads the state, question and options together. Its LoRA adapters can change the features the encoder produces, and a pointer head scores each option. The original base matrices stay fixed.</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CLM encodes the state and each action separately. Its language-model features stay completely fixed; learned projection heads make a matching state and action point in similar directions. That separation lets it reuse action embeddings.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We follow Kev's published four-stage recipe, then add Pac-Man training. The tradeoff is more encoder computation during training in exchange for the ability to adapt its features. Whether that helps accuracy is something we need to measure.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Sources:</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https://contrastive-lm.notion.site/</a:t>
            </a:r>
            <a:endParaRPr/>
          </a:p>
          <a:p>
            <a:pPr indent="0" lvl="0" marL="0" rtl="0" algn="l">
              <a:spcBef>
                <a:spcPts val="0"/>
              </a:spcBef>
              <a:spcAft>
                <a:spcPts val="0"/>
              </a:spcAft>
              <a:buNone/>
            </a:pPr>
            <a:r>
              <a:rPr lang="zh-CN"/>
              <a:t>https://docs.google.com/presentation/d/1sdnPkV6VyTW9tr6Xmtyyxns4UHlUGoTtTLj-vmxNhfo/edit</a:t>
            </a:r>
            <a:endParaRPr/>
          </a:p>
          <a:p>
            <a:pPr indent="0" lvl="0" marL="0" rtl="0" algn="l">
              <a:spcBef>
                <a:spcPts val="0"/>
              </a:spcBef>
              <a:spcAft>
                <a:spcPts val="0"/>
              </a:spcAft>
              <a:buNone/>
            </a:pPr>
            <a:r>
              <a:rPr lang="zh-CN"/>
              <a:t>https://docs.google.com/presentation/d/1sdnPkV6VyTW9tr6Xmtyyxns4UHlUGoTtTLj-vmxNhfo/edit?slide=id.course_slide_21A#slide=id.course_slide_21A</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decision_lab_pros: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decision_lab_pros: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Let's watch the same CLM walkthrough as in the lecture. The customer has been charged twice, and the candidates are Billing, Technical and Sales. The numbers in this animation are teaching examples.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Watch the two inputs move through the teal encoder. The state and candidates are encoded separately. The encoder is fixed. The orange heads learn how to project those features into a shared space. We normalize the vectors, compare them, and turn the resulting scores into probabilities over the supplied options.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training segment explains what changes: gradients update the heads, while the encoder keeps producing the same features. That makes cached-feature experiments attractive when we can reuse the same representations.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For Pac-Man, an action would be a direction rather than a support team. Kev adds another kind of adaptation: its LoRA updates change the encoder's effective features. We chose it because the general training stages are published and we can carry one adapter through the curriculum. Open the controls if you want to pause or repeat a stage.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Sources:</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https://contrastive-lm.notion.site/</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decision_lab_training_cost: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decision_lab_training_cost: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Suppose we want to try three different training settings. With CLM, we can first extract fixed language-model features and then train the small heads repeatedly from that cache. The extraction still costs something, and it has to be repeated if the inputs or backbone change.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With Kev's LoRA recipe, every training pass runs the encoder forward and sends gradients backward through it. Only the adapters and head are updated, but the computation includes the encoder. That is why counting trainable parameters alone does not tell us the GPU cost.</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Serving is a separate measurement. CLM can reuse candidate-action embeddings. Kev can reuse a shared prefix where its architecture and serving path support it. Neither fact gives us a universal cost winner.</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For this lab, record setup time, training time, GPU use and Colab compute units. Multiply the measured hours by the actual rate if your provider charges by the hour. We have not measured a full task run on the course author's GPU, so the timing estimates are arithmetic examples rather than a quoted bill.</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Sources:</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https://contrastive-lm.notion.site/</a:t>
            </a:r>
            <a:endParaRPr/>
          </a:p>
          <a:p>
            <a:pPr indent="0" lvl="0" marL="0" rtl="0" algn="l">
              <a:spcBef>
                <a:spcPts val="0"/>
              </a:spcBef>
              <a:spcAft>
                <a:spcPts val="0"/>
              </a:spcAft>
              <a:buNone/>
            </a:pPr>
            <a:r>
              <a:rPr lang="zh-CN"/>
              <a:t>https://github.com/jaredpalmer/kev</a:t>
            </a:r>
            <a:endParaRPr/>
          </a:p>
          <a:p>
            <a:pPr indent="0" lvl="0" marL="0" rtl="0" algn="l">
              <a:spcBef>
                <a:spcPts val="0"/>
              </a:spcBef>
              <a:spcAft>
                <a:spcPts val="0"/>
              </a:spcAft>
              <a:buNone/>
            </a:pPr>
            <a:r>
              <a:rPr lang="zh-CN"/>
              <a:t>https://github.com/Contrastive-LM/CLM</a:t>
            </a:r>
            <a:endParaRPr/>
          </a:p>
          <a:p>
            <a:pPr indent="0" lvl="0" marL="0" rtl="0" algn="l">
              <a:spcBef>
                <a:spcPts val="0"/>
              </a:spcBef>
              <a:spcAft>
                <a:spcPts val="0"/>
              </a:spcAft>
              <a:buNone/>
            </a:pPr>
            <a:r>
              <a:rPr lang="zh-CN"/>
              <a:t>https://docs.google.com/presentation/d/1sdnPkV6VyTW9tr6Xmtyyxns4UHlUGoTtTLj-vmxNhfo/edit?slide=id.clm_stage_03#slide=id.clm_stage_03</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decision_lab_performance: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decision_lab_performance: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These reported numbers are useful as examples of deployment, but they are not a race between the two architectures. The CLM measurement uses an RTX 4090 with cached action embeddings. The Kev measurement uses a different GPU and a different serving implementation. The request shapes and reuse conditions also matter.</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If we want an accuracy comparison, we need the same boards, legal actions and labels. If we want a latency comparison, we also need the same hardware, precision, warm-up and cache conditions. Report the median and the slower tail, not just one fast request.</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In our lab we will make a narrower comparison: the completed Skills adapter against our Pac-Man adapter. The backbone, controller and evaluation boards stay the same. That lets us ask whether the task training changed the decisions and gameplay.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A lower training loss is useful feedback, but it does not establish better play. We will keep the predictions and inspect a concrete changed move, especially when a ghost changes from dangerous to edible.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Sources:</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https://github.com/jaredpalmer/kev</a:t>
            </a:r>
            <a:endParaRPr/>
          </a:p>
          <a:p>
            <a:pPr indent="0" lvl="0" marL="0" rtl="0" algn="l">
              <a:spcBef>
                <a:spcPts val="0"/>
              </a:spcBef>
              <a:spcAft>
                <a:spcPts val="0"/>
              </a:spcAft>
              <a:buNone/>
            </a:pPr>
            <a:r>
              <a:rPr lang="zh-CN"/>
              <a:t>https://github.com/Contrastive-LM/CLM</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https://contrastive-lm.notion.site/</a:t>
            </a:r>
            <a:endParaRPr/>
          </a:p>
          <a:p>
            <a:pPr indent="0" lvl="0" marL="0" rtl="0" algn="l">
              <a:spcBef>
                <a:spcPts val="0"/>
              </a:spcBef>
              <a:spcAft>
                <a:spcPts val="0"/>
              </a:spcAft>
              <a:buNone/>
            </a:pPr>
            <a:r>
              <a:rPr lang="zh-CN"/>
              <a:t>https://docs.google.com/presentation/d/1sdnPkV6VyTW9tr6Xmtyyxns4UHlUGoTtTLj-vmxNhfo/edit?slide=id.course_slide_49#slide=id.course_slide_49</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decision_lab_models: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 name="Google Shape;87;decision_lab_models: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A decision API describes how we ask for a choice. It does not mean every model behind that API computes the choice in the same way.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model list here shows different readouts. Some systems compare independently encoded features. Kev uses a decision token and option tokens with a learned pointer head. Other models have their own classifiers or decision-specific architectures. They need a serving implementation that understands that readout.</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llama.cpp decision work includes several such families. The SGLang implementation we inspected takes probabilities from specified label-token logits. That can be useful for a label-token model, but it is a different computation from Kev's pointer head. We should not assume that an endpoint name alone makes a Kev checkpoint compatible.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Our notebook uses the pinned Kev implementation to train and serve the adapter. The active-model badge gives us the checkpoint identity. That is the identity we will carry into the before-and-after evaluation.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Sources:</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https://huggingface.co/SupersonicLabs/Julia-1</a:t>
            </a:r>
            <a:endParaRPr/>
          </a:p>
          <a:p>
            <a:pPr indent="0" lvl="0" marL="0" rtl="0" algn="l">
              <a:spcBef>
                <a:spcPts val="0"/>
              </a:spcBef>
              <a:spcAft>
                <a:spcPts val="0"/>
              </a:spcAft>
              <a:buNone/>
            </a:pPr>
            <a:r>
              <a:rPr lang="zh-CN"/>
              <a:t>https://huggingface.co/convaiinnovations/laya</a:t>
            </a:r>
            <a:endParaRPr/>
          </a:p>
          <a:p>
            <a:pPr indent="0" lvl="0" marL="0" rtl="0" algn="l">
              <a:spcBef>
                <a:spcPts val="0"/>
              </a:spcBef>
              <a:spcAft>
                <a:spcPts val="0"/>
              </a:spcAft>
              <a:buNone/>
            </a:pPr>
            <a:r>
              <a:rPr lang="zh-CN"/>
              <a:t>https://huggingface.co/interfaze-ai/lev</a:t>
            </a:r>
            <a:endParaRPr/>
          </a:p>
          <a:p>
            <a:pPr indent="0" lvl="0" marL="0" rtl="0" algn="l">
              <a:spcBef>
                <a:spcPts val="0"/>
              </a:spcBef>
              <a:spcAft>
                <a:spcPts val="0"/>
              </a:spcAft>
              <a:buNone/>
            </a:pPr>
            <a:r>
              <a:rPr lang="zh-CN"/>
              <a:t>https://huggingface.co/openjev/openjev</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https://contrastive-lm.notion.site/</a:t>
            </a:r>
            <a:endParaRPr/>
          </a:p>
          <a:p>
            <a:pPr indent="0" lvl="0" marL="0" rtl="0" algn="l">
              <a:spcBef>
                <a:spcPts val="0"/>
              </a:spcBef>
              <a:spcAft>
                <a:spcPts val="0"/>
              </a:spcAft>
              <a:buNone/>
            </a:pPr>
            <a:r>
              <a:rPr lang="zh-CN"/>
              <a:t>https://github.com/ggml-org/llama.cpp/blob/master/conversion/lev.py</a:t>
            </a:r>
            <a:endParaRPr/>
          </a:p>
          <a:p>
            <a:pPr indent="0" lvl="0" marL="0" rtl="0" algn="l">
              <a:spcBef>
                <a:spcPts val="0"/>
              </a:spcBef>
              <a:spcAft>
                <a:spcPts val="0"/>
              </a:spcAft>
              <a:buNone/>
            </a:pPr>
            <a:r>
              <a:rPr lang="zh-CN"/>
              <a:t>https://github.com/ggml-org/llama.cpp/blob/master/tools/server/server-decision.cpp</a:t>
            </a:r>
            <a:endParaRPr/>
          </a:p>
          <a:p>
            <a:pPr indent="0" lvl="0" marL="0" rtl="0" algn="l">
              <a:spcBef>
                <a:spcPts val="0"/>
              </a:spcBef>
              <a:spcAft>
                <a:spcPts val="0"/>
              </a:spcAft>
              <a:buNone/>
            </a:pPr>
            <a:r>
              <a:rPr lang="zh-CN"/>
              <a:t>https://lmsysorg.mintlify.app/docs/supported-models/decision_models</a:t>
            </a:r>
            <a:endParaRPr/>
          </a:p>
          <a:p>
            <a:pPr indent="0" lvl="0" marL="0" rtl="0" algn="l">
              <a:spcBef>
                <a:spcPts val="0"/>
              </a:spcBef>
              <a:spcAft>
                <a:spcPts val="0"/>
              </a:spcAft>
              <a:buNone/>
            </a:pPr>
            <a:r>
              <a:rPr lang="zh-CN"/>
              <a:t>https://github.com/sgl-project/sglang/pull/41208</a:t>
            </a:r>
            <a:endParaRPr/>
          </a:p>
          <a:p>
            <a:pPr indent="0" lvl="0" marL="0" rtl="0" algn="l">
              <a:spcBef>
                <a:spcPts val="0"/>
              </a:spcBef>
              <a:spcAft>
                <a:spcPts val="0"/>
              </a:spcAft>
              <a:buNone/>
            </a:pPr>
            <a:r>
              <a:rPr lang="zh-CN"/>
              <a:t>https://github.com/sgl-project/sglang/pull/41712</a:t>
            </a:r>
            <a:endParaRPr/>
          </a:p>
          <a:p>
            <a:pPr indent="0" lvl="0" marL="0" rtl="0" algn="l">
              <a:spcBef>
                <a:spcPts val="0"/>
              </a:spcBef>
              <a:spcAft>
                <a:spcPts val="0"/>
              </a:spcAft>
              <a:buNone/>
            </a:pPr>
            <a:r>
              <a:rPr lang="zh-CN"/>
              <a:t>https://github.com/sgl-project/sglang/pull/41724</a:t>
            </a:r>
            <a:endParaRPr/>
          </a:p>
          <a:p>
            <a:pPr indent="0" lvl="0" marL="0" rtl="0" algn="l">
              <a:spcBef>
                <a:spcPts val="0"/>
              </a:spcBef>
              <a:spcAft>
                <a:spcPts val="0"/>
              </a:spcAft>
              <a:buNone/>
            </a:pPr>
            <a:r>
              <a:rPr lang="zh-CN"/>
              <a:t>https://github.com/sgl-project/sglang/pull/41922</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kev_lab_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 name="Google Shape;95;kev_lab_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At our junction, suppose the pointer head produces logits of two for Up, one for Right and zero for Down. These are illustrative values, not output from a trained checkpoint.</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first formula shows where a logit comes from. The decision representation becomes q. Each option representation becomes k sub j. Their dot product is divided by the square root of the pointer dimension, which is 256 in this recipe. A larger matching score gives that option a larger logit.</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animation then exponentiates the logits and divides each result by their sum. We get roughly 67 percent for Up, 24 percent for Right and 9 percent for Down. All three shares add to one. The sum runs only over the supplied legal moves.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Those shares depend on the candidate set. They are not a promise that Up is safe 67 percent of the time. Our fresh checkpoints keep raw probabilities; we do not copy the release's fitted calibration temperature. Use the interactive controls to change one logit and see how all three shares respond.</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Sources:</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https://contrastive-lm.notion.site/</a:t>
            </a:r>
            <a:endParaRPr/>
          </a:p>
          <a:p>
            <a:pPr indent="0" lvl="0" marL="0" rtl="0" algn="l">
              <a:spcBef>
                <a:spcPts val="0"/>
              </a:spcBef>
              <a:spcAft>
                <a:spcPts val="0"/>
              </a:spcAft>
              <a:buNone/>
            </a:pPr>
            <a:r>
              <a:rPr lang="zh-CN"/>
              <a:t>https://docs.google.com/presentation/d/1sdnPkV6VyTW9tr6Xmtyyxns4UHlUGoTtTLj-vmxNhfo/edit</a:t>
            </a:r>
            <a:endParaRPr/>
          </a:p>
          <a:p>
            <a:pPr indent="0" lvl="0" marL="0" rtl="0" algn="l">
              <a:spcBef>
                <a:spcPts val="0"/>
              </a:spcBef>
              <a:spcAft>
                <a:spcPts val="0"/>
              </a:spcAft>
              <a:buNone/>
            </a:pPr>
            <a:r>
              <a:rPr lang="zh-CN"/>
              <a:t>https://docs.google.com/presentation/d/1sdnPkV6VyTW9tr6Xmtyyxns4UHlUGoTtTLj-vmxNhfo/edit?slide=id.course_slide_21A#slide=id.course_slide_21A</a:t>
            </a:r>
            <a:endParaRPr/>
          </a:p>
          <a:p>
            <a:pPr indent="0" lvl="0" marL="0" rtl="0" algn="l">
              <a:spcBef>
                <a:spcPts val="0"/>
              </a:spcBef>
              <a:spcAft>
                <a:spcPts val="0"/>
              </a:spcAft>
              <a:buNone/>
            </a:pPr>
            <a:r>
              <a:rPr lang="zh-CN"/>
              <a:t>https://drive.google.com/file/d/1ziqTDAN0kxP_fzGQwfJ-C6fQS2cQBcfh/view?usp=drivesdk</a:t>
            </a:r>
            <a:endParaRPr/>
          </a:p>
          <a:p>
            <a:pPr indent="0" lvl="0" marL="0" rtl="0" algn="l">
              <a:spcBef>
                <a:spcPts val="0"/>
              </a:spcBef>
              <a:spcAft>
                <a:spcPts val="0"/>
              </a:spcAft>
              <a:buNone/>
            </a:pPr>
            <a:r>
              <a:rPr lang="zh-CN"/>
              <a:t>https://docs.google.com/presentation/d/1sdnPkV6VyTW9tr6Xmtyyxns4UHlUGoTtTLj-vmxNhfo/edit?slide=id.clm_stage_03#slide=id.clm_stage_03</a:t>
            </a:r>
            <a:endParaRPr/>
          </a:p>
          <a:p>
            <a:pPr indent="0" lvl="0" marL="0" rtl="0" algn="l">
              <a:spcBef>
                <a:spcPts val="0"/>
              </a:spcBef>
              <a:spcAft>
                <a:spcPts val="0"/>
              </a:spcAft>
              <a:buNone/>
            </a:pPr>
            <a:r>
              <a:rPr lang="zh-CN"/>
              <a:t>https://docs.google.com/presentation/d/1sdnPkV6VyTW9tr6Xmtyyxns4UHlUGoTtTLj-vmxNhfo/edit?slide=id.clm_stage_07#slide=id.clm_stage_07</a:t>
            </a:r>
            <a:endParaRPr/>
          </a:p>
          <a:p>
            <a:pPr indent="0" lvl="0" marL="0" rtl="0" algn="l">
              <a:spcBef>
                <a:spcPts val="0"/>
              </a:spcBef>
              <a:spcAft>
                <a:spcPts val="0"/>
              </a:spcAft>
              <a:buNone/>
            </a:pPr>
            <a:r>
              <a:rPr lang="zh-CN"/>
              <a:t>https://docs.google.com/presentation/d/1sdnPkV6VyTW9tr6Xmtyyxns4UHlUGoTtTLj-vmxNhfo/edit?slide=id.clm_stage_08#slide=id.clm_stage_08</a:t>
            </a:r>
            <a:endParaRPr/>
          </a:p>
          <a:p>
            <a:pPr indent="0" lvl="0" marL="0" rtl="0" algn="l">
              <a:spcBef>
                <a:spcPts val="0"/>
              </a:spcBef>
              <a:spcAft>
                <a:spcPts val="0"/>
              </a:spcAft>
              <a:buNone/>
            </a:pPr>
            <a:r>
              <a:rPr lang="zh-CN"/>
              <a:t>https://docs.google.com/presentation/d/1sdnPkV6VyTW9tr6Xmtyyxns4UHlUGoTtTLj-vmxNhfo/edit?slide=id.clm_stage_10#slide=id.clm_stage_10</a:t>
            </a:r>
            <a:endParaRPr/>
          </a:p>
          <a:p>
            <a:pPr indent="0" lvl="0" marL="0" rtl="0" algn="l">
              <a:spcBef>
                <a:spcPts val="0"/>
              </a:spcBef>
              <a:spcAft>
                <a:spcPts val="0"/>
              </a:spcAft>
              <a:buNone/>
            </a:pPr>
            <a:r>
              <a:rPr lang="zh-CN"/>
              <a:t>https://docs.google.com/presentation/d/1sdnPkV6VyTW9tr6Xmtyyxns4UHlUGoTtTLj-vmxNhfo/edit?slide=id.course_slide_44#slide=id.course_slide_44</a:t>
            </a:r>
            <a:endParaRPr/>
          </a:p>
          <a:p>
            <a:pPr indent="0" lvl="0" marL="0" rtl="0" algn="l">
              <a:spcBef>
                <a:spcPts val="0"/>
              </a:spcBef>
              <a:spcAft>
                <a:spcPts val="0"/>
              </a:spcAft>
              <a:buNone/>
            </a:pPr>
            <a:r>
              <a:rPr lang="zh-CN"/>
              <a:t>https://docs.google.com/presentation/d/1sdnPkV6VyTW9tr6Xmtyyxns4UHlUGoTtTLj-vmxNhfo/edit?slide=id.course_slide_33#slide=id.course_slide_33</a:t>
            </a:r>
            <a:endParaRPr/>
          </a:p>
          <a:p>
            <a:pPr indent="0" lvl="0" marL="0" rtl="0" algn="l">
              <a:spcBef>
                <a:spcPts val="0"/>
              </a:spcBef>
              <a:spcAft>
                <a:spcPts val="0"/>
              </a:spcAft>
              <a:buNone/>
            </a:pPr>
            <a:r>
              <a:rPr lang="zh-CN"/>
              <a:t>https://docs.google.com/presentation/d/1sdnPkV6VyTW9tr6Xmtyyxns4UHlUGoTtTLj-vmxNhfo/edit?slide=id.course_slide_49#slide=id.course_slide_49</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kev_lab_0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 name="Google Shape;105;kev_lab_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We arrive with a completed Skills checkpoint. The initial decision, dates, documents and skills stages are separate prework; we are not squeezing all four into this session.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First we watch the baseline play and identify the adapter in the badge. Then we inspect the planning labels. Look for a board where an apparently dangerous ghost is actually frightened, or where a nearby power pellet changes the best direction.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mandatory training block takes thirty minutes: inspect the data and loss, run the full Pac-Man recipe, and check the saved result. The recipe has 762 optimizer updates. If your measured throughput needs longer, start training before the discussion block rather than silently reducing the number of updates.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Finally we evaluate the Skills and task adapters on the same boards, try the task adapter in the separate play activity, and explain one result. There is one assessed checkpoint, CP1, covering review, training, evaluation and explanation. The live game is there to help us notice behaviour; it is an ungraded activity.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Sources:</a:t>
            </a:r>
            <a:endParaRPr/>
          </a:p>
          <a:p>
            <a:pPr indent="0" lvl="0" marL="0" rtl="0" algn="l">
              <a:spcBef>
                <a:spcPts val="0"/>
              </a:spcBef>
              <a:spcAft>
                <a:spcPts val="0"/>
              </a:spcAft>
              <a:buNone/>
            </a:pPr>
            <a:r>
              <a:rPr lang="zh-CN"/>
              <a:t>https://github.com/yxc20089/QPlusLearning/tree/main/labs/lab-01-kev-pacman/cloud_runtime.py</a:t>
            </a:r>
            <a:endParaRPr/>
          </a:p>
          <a:p>
            <a:pPr indent="0" lvl="0" marL="0" rtl="0" algn="l">
              <a:spcBef>
                <a:spcPts val="0"/>
              </a:spcBef>
              <a:spcAft>
                <a:spcPts val="0"/>
              </a:spcAft>
              <a:buNone/>
            </a:pPr>
            <a:r>
              <a:rPr lang="zh-CN"/>
              <a:t>https://huggingface.co/jaredpalmer/kev-4b</a:t>
            </a:r>
            <a:endParaRPr/>
          </a:p>
          <a:p>
            <a:pPr indent="0" lvl="0" marL="0" rtl="0" algn="l">
              <a:spcBef>
                <a:spcPts val="0"/>
              </a:spcBef>
              <a:spcAft>
                <a:spcPts val="0"/>
              </a:spcAft>
              <a:buNone/>
            </a:pPr>
            <a:r>
              <a:rPr lang="zh-CN"/>
              <a:t>https://github.com/masonicGIT/pacman/tree/7407174c1d6a38be8cd230577489e39e0873145b</a:t>
            </a:r>
            <a:endParaRPr/>
          </a:p>
          <a:p>
            <a:pPr indent="0" lvl="0" marL="0" rtl="0" algn="l">
              <a:spcBef>
                <a:spcPts val="0"/>
              </a:spcBef>
              <a:spcAft>
                <a:spcPts val="0"/>
              </a:spcAft>
              <a:buNone/>
            </a:pPr>
            <a:r>
              <a:rPr lang="zh-CN"/>
              <a:t>https://github.com/yxc20089/QPlusLearning/tree/main/labs/lab-01-kev-pacman</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kev_lab_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kev_lab_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Before class, obtain the intended GPU and download the model weights. A free Colab session does not guarantee an RTX PRO 6000 allocation.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setup pins the framework and the optimized training kernels. FLA handles the gated delta-rule layers, the CUDA convolution handles the short convolution, and PyTorch handles full attention. We use BF16 autocast, gradient checkpointing and fused AdamW. The task stage uses four records per microbatch and two accumulation steps, giving an effective batch of eight.</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first step can include kernel compilation, so use several warmed-up steps to estimate training time. For 762 updates, an average of 1.5 seconds gives about nineteen minutes; three seconds gives about thirty-eight minutes. Setup and checkpoint copies add time.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Look at GPU utilization and step throughput as well as memory. Unused memory alone is not evidence of a slow configuration. Our earlier fallback path used much more memory. The optimized path refuses those reference kernels, and its monitor keeps enough batch information to investigate a slow or failed step.</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Sources:</a:t>
            </a:r>
            <a:endParaRPr/>
          </a:p>
          <a:p>
            <a:pPr indent="0" lvl="0" marL="0" rtl="0" algn="l">
              <a:spcBef>
                <a:spcPts val="0"/>
              </a:spcBef>
              <a:spcAft>
                <a:spcPts val="0"/>
              </a:spcAft>
              <a:buNone/>
            </a:pPr>
            <a:r>
              <a:rPr lang="zh-CN"/>
              <a:t>https://huggingface.co/docs/transformers/en/model_doc/qwen3_5</a:t>
            </a:r>
            <a:endParaRPr/>
          </a:p>
          <a:p>
            <a:pPr indent="0" lvl="0" marL="0" rtl="0" algn="l">
              <a:spcBef>
                <a:spcPts val="0"/>
              </a:spcBef>
              <a:spcAft>
                <a:spcPts val="0"/>
              </a:spcAft>
              <a:buNone/>
            </a:pPr>
            <a:r>
              <a:rPr lang="zh-CN"/>
              <a:t>https://github.com/fla-org/flash-linear-attention/releases/tag/v0.5.2</a:t>
            </a:r>
            <a:endParaRPr/>
          </a:p>
          <a:p>
            <a:pPr indent="0" lvl="0" marL="0" rtl="0" algn="l">
              <a:spcBef>
                <a:spcPts val="0"/>
              </a:spcBef>
              <a:spcAft>
                <a:spcPts val="0"/>
              </a:spcAft>
              <a:buNone/>
            </a:pPr>
            <a:r>
              <a:rPr lang="zh-CN"/>
              <a:t>https://github.com/Dao-AILab/causal-conv1d/releases/tag/v1.7.0</a:t>
            </a:r>
            <a:endParaRPr/>
          </a:p>
          <a:p>
            <a:pPr indent="0" lvl="0" marL="0" rtl="0" algn="l">
              <a:spcBef>
                <a:spcPts val="0"/>
              </a:spcBef>
              <a:spcAft>
                <a:spcPts val="0"/>
              </a:spcAft>
              <a:buNone/>
            </a:pPr>
            <a:r>
              <a:rPr lang="zh-CN"/>
              <a:t>https://github.com/yxc20089/QPlusLearning/tree/main/labs/lab-01-kev-pacman/optimized_training.py</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kev_lab_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kev_lab_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word pre-training here means initial decision training on an already pretrained Qwen backbone. We are not training the language model from random weights.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Stage one teaches general decisions. Dates adds temporal and evidence tasks. Documents adds longer document decisions. Skills and developer tools add another domain. Each stage warm-starts from the completed adapter before it, and each has its own output folder and training curves.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Pac-Man is our fifth, course-specific stage. It starts from Skills and mixes 4,096 planning-labelled boards with 2,000 general decision replay records. Replay gives the model some continued practice on earlier decisions while it learns the new game task.</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Pac-Man recipe runs one epoch at a learning rate of two times ten to the minus five. With an effective batch of eight, the 6,096 requests give 762 optimizer updates. Keep all five adapter names distinct. A Skills-only continuation can begin the lab without retraining the earlier stages; it should honestly report which earlier archives are available.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Sources:</a:t>
            </a:r>
            <a:endParaRPr/>
          </a:p>
          <a:p>
            <a:pPr indent="0" lvl="0" marL="0" rtl="0" algn="l">
              <a:spcBef>
                <a:spcPts val="0"/>
              </a:spcBef>
              <a:spcAft>
                <a:spcPts val="0"/>
              </a:spcAft>
              <a:buNone/>
            </a:pPr>
            <a:r>
              <a:rPr lang="zh-CN"/>
              <a:t>https://github.com/jaredpalmer/kev/blob/84847f0a883d900f7de5b7a57eaa341ca7f9a6b4/experiments/q35-4b-s23.json</a:t>
            </a:r>
            <a:endParaRPr/>
          </a:p>
          <a:p>
            <a:pPr indent="0" lvl="0" marL="0" rtl="0" algn="l">
              <a:spcBef>
                <a:spcPts val="0"/>
              </a:spcBef>
              <a:spcAft>
                <a:spcPts val="0"/>
              </a:spcAft>
              <a:buNone/>
            </a:pPr>
            <a:r>
              <a:rPr lang="zh-CN"/>
              <a:t>https://huggingface.co/jaredpalmer/kev-4b</a:t>
            </a:r>
            <a:endParaRPr/>
          </a:p>
          <a:p>
            <a:pPr indent="0" lvl="0" marL="0" rtl="0" algn="l">
              <a:spcBef>
                <a:spcPts val="0"/>
              </a:spcBef>
              <a:spcAft>
                <a:spcPts val="0"/>
              </a:spcAft>
              <a:buNone/>
            </a:pPr>
            <a:r>
              <a:rPr lang="zh-CN"/>
              <a:t>https://github.com/yxc20089/QPlusLearning/tree/main/labs/lab-01-kev-pacman/cloud_runtime.py</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kev_lab_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 name="Google Shape;129;kev_lab_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Let's look at the game before training. Blinky pursues Pac-Man. Pinky aims ahead. Inky uses both Pac-Man and Blinky in its target calculation. Clyde chases when far away and retreats when close. Their native chase and scatter rules matter to the labels.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Power pellets change the situation. The maze uses the letter o for every remaining power pellet and gives Pac-Man's row and column separately. Once a pellet is eaten, that tile becomes empty. The global frightened flag and each ghost's frightened flag tell the model that power mode is active. A returning, eaten ghost is also identified by its movement mode. We do not currently provide the exact remaining power-mode duration or a separate just-consumed flag.</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ghosts leave the house gradually through native counters and timers. In model mode, simulation pauses during inference, so a minute on the wall clock can represent very little game time.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Read the badge before interpreting the play. It should say Skills before task training and Pac-Man afterward. Both runs use the same faithful browser recreation and native ghost mechanics.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Sources:</a:t>
            </a:r>
            <a:endParaRPr/>
          </a:p>
          <a:p>
            <a:pPr indent="0" lvl="0" marL="0" rtl="0" algn="l">
              <a:spcBef>
                <a:spcPts val="0"/>
              </a:spcBef>
              <a:spcAft>
                <a:spcPts val="0"/>
              </a:spcAft>
              <a:buNone/>
            </a:pPr>
            <a:r>
              <a:rPr lang="zh-CN"/>
              <a:t>https://github.com/masonicGIT/pacman/blob/7407174c1d6a38be8cd230577489e39e0873145b/src/targets.js</a:t>
            </a:r>
            <a:endParaRPr/>
          </a:p>
          <a:p>
            <a:pPr indent="0" lvl="0" marL="0" rtl="0" algn="l">
              <a:spcBef>
                <a:spcPts val="0"/>
              </a:spcBef>
              <a:spcAft>
                <a:spcPts val="0"/>
              </a:spcAft>
              <a:buNone/>
            </a:pPr>
            <a:r>
              <a:rPr lang="zh-CN"/>
              <a:t>https://github.com/masonicGIT/pacman/blob/7407174c1d6a38be8cd230577489e39e0873145b/src/ghostReleaser.js</a:t>
            </a:r>
            <a:endParaRPr/>
          </a:p>
          <a:p>
            <a:pPr indent="0" lvl="0" marL="0" rtl="0" algn="l">
              <a:spcBef>
                <a:spcPts val="0"/>
              </a:spcBef>
              <a:spcAft>
                <a:spcPts val="0"/>
              </a:spcAft>
              <a:buNone/>
            </a:pPr>
            <a:r>
              <a:rPr lang="zh-CN"/>
              <a:t>https://github.com/yxc20089/QPlusLearning/tree/main/labs/lab-01-kev-pacman/games/arcade-engine.js</a:t>
            </a:r>
            <a:endParaRPr/>
          </a:p>
          <a:p>
            <a:pPr indent="0" lvl="0" marL="0" rtl="0" algn="l">
              <a:spcBef>
                <a:spcPts val="0"/>
              </a:spcBef>
              <a:spcAft>
                <a:spcPts val="0"/>
              </a:spcAft>
              <a:buNone/>
            </a:pPr>
            <a:r>
              <a:rPr lang="zh-CN"/>
              <a:t>https://github.com/masonicGIT/pacman/tree/7407174c1d6a38be8cd230577489e39e0873145b</a:t>
            </a:r>
            <a:endParaRPr/>
          </a:p>
          <a:p>
            <a:pPr indent="0" lvl="0" marL="0" rtl="0" algn="l">
              <a:spcBef>
                <a:spcPts val="0"/>
              </a:spcBef>
              <a:spcAft>
                <a:spcPts val="0"/>
              </a:spcAft>
              <a:buNone/>
            </a:pPr>
            <a:r>
              <a:rPr lang="zh-CN"/>
              <a:t>https://github.com/yxc20089/QPlusLearning/tree/main/labs/lab-01-kev-pacman/games/arcade-planner.js</a:t>
            </a:r>
            <a:endParaRPr/>
          </a:p>
          <a:p>
            <a:pPr indent="0" lvl="0" marL="0" rtl="0" algn="l">
              <a:spcBef>
                <a:spcPts val="0"/>
              </a:spcBef>
              <a:spcAft>
                <a:spcPts val="0"/>
              </a:spcAft>
              <a:buNone/>
            </a:pPr>
            <a:r>
              <a:rPr lang="zh-CN"/>
              <a:t>https://github.com/yxc20089/QPlusLearning/tree/main/labs/lab-01-kev-pacman/vendor/arcade-pacman/source.json</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kev_lab_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kev_lab_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We are imitating a planning teacher that can advance the actual game engine. For each legal first move, it searches twenty player moves ahead and keeps eight candidate paths. Normal ghost movement follows the native personality rules. Two independent scenarios account for frightened-mode randomness.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We rank survival first. Among equally surviving paths, the formula rewards score gain and pellets, penalizes repeated visits and distance to the nearest pellet, and rewards separation from dangerous ghosts. Delta S is score gain, P is pellets collected, R is repeated-visit cost, D sub p is maze distance to a pellet, taken as zero after the board clears, and D sub g is distance to a dangerous ghost.</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Native score includes eating power pellets and frightened ghosts. Of the 4,096 training boards, 1,450 have power mode active. That shows coverage of the mechanic; it does not by itself prove that every label is a good ghost-hunting decision.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teacher sees current internal timers and pixel offsets. Kev sees the structured board, modes and history. Labels and future search paths stay outside its input. Episodes are separate across splits, and finite search makes the teacher approximate.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Sources:</a:t>
            </a:r>
            <a:endParaRPr/>
          </a:p>
          <a:p>
            <a:pPr indent="0" lvl="0" marL="0" rtl="0" algn="l">
              <a:spcBef>
                <a:spcPts val="0"/>
              </a:spcBef>
              <a:spcAft>
                <a:spcPts val="0"/>
              </a:spcAft>
              <a:buNone/>
            </a:pPr>
            <a:r>
              <a:rPr lang="zh-CN"/>
              <a:t>https://github.com/yxc20089/QPlusLearning/tree/main/labs/lab-01-kev-pacman/planner_data.py</a:t>
            </a:r>
            <a:endParaRPr/>
          </a:p>
          <a:p>
            <a:pPr indent="0" lvl="0" marL="0" rtl="0" algn="l">
              <a:spcBef>
                <a:spcPts val="0"/>
              </a:spcBef>
              <a:spcAft>
                <a:spcPts val="0"/>
              </a:spcAft>
              <a:buNone/>
            </a:pPr>
            <a:r>
              <a:rPr lang="zh-CN"/>
              <a:t>https://github.com/yxc20089/QPlusLearning/tree/main/labs/lab-01-kev-pacman/games/arcade-planner.js</a:t>
            </a:r>
            <a:endParaRPr/>
          </a:p>
          <a:p>
            <a:pPr indent="0" lvl="0" marL="0" rtl="0" algn="l">
              <a:spcBef>
                <a:spcPts val="0"/>
              </a:spcBef>
              <a:spcAft>
                <a:spcPts val="0"/>
              </a:spcAft>
              <a:buNone/>
            </a:pPr>
            <a:r>
              <a:rPr lang="zh-CN"/>
              <a:t>https://github.com/yxc20089/QPlusLearning/tree/main/labs/lab-01-kev-pacman/data/pacman-planner-v1-manifest.json</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kev_lab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kev_lab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CP1 begins with a few labels you can explain. Check the legal moves, the ghost modes and why the planner preferred its selected action. Keep development and evaluation boards separate from training.</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loss is cross-entropy. For each training board, y sub i is the teacher's selected move and p of y sub i is the probability Kev assigns to it. We take the negative logarithm and average over the batch B. A teacher move with probability 0.9 gives a loss of about 0.105. At probability 0.1, the loss is about 2.303, so the model receives a much stronger correction.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Start from the completed Skills adapter. Train the rank-16 LoRA adapters and 256-dimensional pointer head for the complete task epoch, including the 2,000 replay records. The printed command and record audit should show 6,096 accepted requests and 762 updates.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Stop serving before training so that a second model does not occupy the GPU. Save the task adapter in its own folder, then reload it for the paired evaluation. CP1 includes that comparison and the explanation, not just a successful training cell.</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Sources:</a:t>
            </a:r>
            <a:endParaRPr/>
          </a:p>
          <a:p>
            <a:pPr indent="0" lvl="0" marL="0" rtl="0" algn="l">
              <a:spcBef>
                <a:spcPts val="0"/>
              </a:spcBef>
              <a:spcAft>
                <a:spcPts val="0"/>
              </a:spcAft>
              <a:buNone/>
            </a:pPr>
            <a:r>
              <a:rPr lang="zh-CN"/>
              <a:t>https://github.com/yxc20089/QPlusLearning/tree/main/labs/lab-01-kev-pacman/cloud_runtime.py</a:t>
            </a:r>
            <a:endParaRPr/>
          </a:p>
          <a:p>
            <a:pPr indent="0" lvl="0" marL="0" rtl="0" algn="l">
              <a:spcBef>
                <a:spcPts val="0"/>
              </a:spcBef>
              <a:spcAft>
                <a:spcPts val="0"/>
              </a:spcAft>
              <a:buNone/>
            </a:pPr>
            <a:r>
              <a:rPr lang="zh-CN"/>
              <a:t>https://github.com/yxc20089/QPlusLearning/tree/main/labs/lab-01-kev-pacman/checkpoint_backup.py</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kev_lab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7" name="Google Shape;157;kev_lab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animation shows a small matrix example. The base matrix on the left stays fixed. The low-rank update changes, so the effective matrix on the right changes too. These are illustrative four-by-four matrices with rank two, not model weights or measured training steps.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In the real recipe, W zero is a fixed base matrix. A maps the input down to rank r, and B maps it back to the output dimension. We add their product, scaled by alpha divided by r. Kev uses rank sixteen and alpha thirty-two, so that scale is two. The adapters and pointer head account for about 33.8 million trainable parameters in the 4B configuration. Gradients still travel through encoder computation to reach them.</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Watch the actual TensorBoard loss, gradient norm, step time and GPU memory rather than treating this illustration as a training curve. Recovery includes the adapter, head, optimizer, scheduler and random state. It saves after step one, then every hundred steps or five minutes, and at completion. If Drive backup is enabled, wait for the verified backup-complete message before replacing a runtime.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Sources:</a:t>
            </a:r>
            <a:endParaRPr/>
          </a:p>
          <a:p>
            <a:pPr indent="0" lvl="0" marL="0" rtl="0" algn="l">
              <a:spcBef>
                <a:spcPts val="0"/>
              </a:spcBef>
              <a:spcAft>
                <a:spcPts val="0"/>
              </a:spcAft>
              <a:buNone/>
            </a:pPr>
            <a:r>
              <a:rPr lang="zh-CN"/>
              <a:t>https://github.com/yxc20089/QPlusLearning/tree/main/labs/lab-01-kev-pacman/training_monitor.py</a:t>
            </a:r>
            <a:endParaRPr/>
          </a:p>
          <a:p>
            <a:pPr indent="0" lvl="0" marL="0" rtl="0" algn="l">
              <a:spcBef>
                <a:spcPts val="0"/>
              </a:spcBef>
              <a:spcAft>
                <a:spcPts val="0"/>
              </a:spcAft>
              <a:buNone/>
            </a:pPr>
            <a:r>
              <a:rPr lang="zh-CN"/>
              <a:t>https://github.com/yxc20089/QPlusLearning/tree/main/labs/lab-01-kev-pacman/lora_recovery.py</a:t>
            </a:r>
            <a:endParaRPr/>
          </a:p>
          <a:p>
            <a:pPr indent="0" lvl="0" marL="0" rtl="0" algn="l">
              <a:spcBef>
                <a:spcPts val="0"/>
              </a:spcBef>
              <a:spcAft>
                <a:spcPts val="0"/>
              </a:spcAft>
              <a:buNone/>
            </a:pPr>
            <a:r>
              <a:rPr lang="zh-CN"/>
              <a:t>https://github.com/yxc20089/QPlusLearning/tree/main/labs/lab-01-kev-pacman/checkpoint_backup.py</a:t>
            </a:r>
            <a:endParaRPr/>
          </a:p>
          <a:p>
            <a:pPr indent="0" lvl="0" marL="0" rtl="0" algn="l">
              <a:spcBef>
                <a:spcPts val="0"/>
              </a:spcBef>
              <a:spcAft>
                <a:spcPts val="0"/>
              </a:spcAft>
              <a:buNone/>
            </a:pPr>
            <a:r>
              <a:rPr lang="zh-CN"/>
              <a:t>https://docs.google.com/presentation/d/1sdnPkV6VyTW9tr6Xmtyyxns4UHlUGoTtTLj-vmxNhfo/edit?slide=id.course_slide_44#slide=id.course_slide_44</a:t>
            </a:r>
            <a:endParaRPr/>
          </a:p>
          <a:p>
            <a:pPr indent="0" lvl="0" marL="0" rtl="0" algn="l">
              <a:spcBef>
                <a:spcPts val="0"/>
              </a:spcBef>
              <a:spcAft>
                <a:spcPts val="0"/>
              </a:spcAft>
              <a:buNone/>
            </a:pPr>
            <a:r>
              <a:rPr lang="zh-CN"/>
              <a:t>https://docs.google.com/presentation/d/1sdnPkV6VyTW9tr6Xmtyyxns4UHlUGoTtTLj-vmxNhfo/edit?slide=id.clm_stage_10#slide=id.clm_stage_10</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kev_lab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7" name="Google Shape;167;kev_lab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Now we ask whether task training helped. Run both adapters on exactly the same 256 held-out boards.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first formula is strict agreement. N is the number of boards, y sub i is the teacher's move, and a hat sub i is the model's top-ranked move. The indicator contributes one when they agree and zero otherwise, then we average. A is that fraction.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Sometimes the search finds equally good moves. The tie-aware metric handles that, while search regret asks how much value the chosen move gives up among equally surviving choices. Also inspect lower-survival choices and immediate captures. These compare the model with our approximate teacher; they are not a full-game win rate.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Then compare native gameplay with the same seed and action limit. Record pellets, score, repeated tiles and the active adapter. A single appealing replay is not enough to establish improvement, but it can reveal why a decision changed. If probabilities are sharp, remember that our fresh model has not been calibrated. Keep the measured results even when the task adapter does not improve.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Sources:</a:t>
            </a:r>
            <a:endParaRPr/>
          </a:p>
          <a:p>
            <a:pPr indent="0" lvl="0" marL="0" rtl="0" algn="l">
              <a:spcBef>
                <a:spcPts val="0"/>
              </a:spcBef>
              <a:spcAft>
                <a:spcPts val="0"/>
              </a:spcAft>
              <a:buNone/>
            </a:pPr>
            <a:r>
              <a:rPr lang="zh-CN"/>
              <a:t>https://github.com/yxc20089/QPlusLearning/tree/main/labs/lab-01-kev-pacman/pacman_lab.py</a:t>
            </a:r>
            <a:endParaRPr/>
          </a:p>
          <a:p>
            <a:pPr indent="0" lvl="0" marL="0" rtl="0" algn="l">
              <a:spcBef>
                <a:spcPts val="0"/>
              </a:spcBef>
              <a:spcAft>
                <a:spcPts val="0"/>
              </a:spcAft>
              <a:buNone/>
            </a:pPr>
            <a:r>
              <a:rPr lang="zh-CN"/>
              <a:t>https://github.com/yxc20089/QPlusLearning/tree/main/labs/lab-01-kev-pacman/data/pacman-planner-v1-manifest.json</a:t>
            </a:r>
            <a:endParaRPr/>
          </a:p>
          <a:p>
            <a:pPr indent="0" lvl="0" marL="0" rtl="0" algn="l">
              <a:spcBef>
                <a:spcPts val="0"/>
              </a:spcBef>
              <a:spcAft>
                <a:spcPts val="0"/>
              </a:spcAft>
              <a:buNone/>
            </a:pPr>
            <a:r>
              <a:rPr lang="zh-CN"/>
              <a:t>https://github.com/yxc20089/QPlusLearning/tree/main/labs/lab-01-kev-pacman/data/pacman-planner-v1-quality.json</a:t>
            </a:r>
            <a:endParaRPr/>
          </a:p>
          <a:p>
            <a:pPr indent="0" lvl="0" marL="0" rtl="0" algn="l">
              <a:spcBef>
                <a:spcPts val="0"/>
              </a:spcBef>
              <a:spcAft>
                <a:spcPts val="0"/>
              </a:spcAft>
              <a:buNone/>
            </a:pPr>
            <a:r>
              <a:rPr lang="zh-CN"/>
              <a:t>https://github.com/yxc20089/QPlusLearning/tree/main/labs/lab-01-kev-pacman/planner_data.py</a:t>
            </a:r>
            <a:endParaRPr/>
          </a:p>
          <a:p>
            <a:pPr indent="0" lvl="0" marL="0" rtl="0" algn="l">
              <a:spcBef>
                <a:spcPts val="0"/>
              </a:spcBef>
              <a:spcAft>
                <a:spcPts val="0"/>
              </a:spcAft>
              <a:buNone/>
            </a:pPr>
            <a:r>
              <a:rPr lang="zh-CN"/>
              <a:t>https://docs.google.com/presentation/d/1sdnPkV6VyTW9tr6Xmtyyxns4UHlUGoTtTLj-vmxNhfo/edit?slide=id.course_slide_49#slide=id.course_slide_49</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kev_lab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7" name="Google Shape;177;kev_lab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Choose one move that changed after training, or one mistake that remained. Show the board and both predictions. Explain which ghost behaviour matters and whether a power pellet or frightened state changes the interpretation.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Then connect the observation to training. Which parameters received gradients? What did the loss do? How much GPU time and compute did the run use? Could the finite-horizon teacher have missed a better long-term action? These questions make the result useful even if the model still gets stuck.</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Submit the executed notebook, reviewed labels, task adapter and head, paired predictions and measured metrics. Keep the configuration, logs, TensorBoard events and backup evidence together. Package the learned adapter rather than the foundation weights or installed environment. Mark a supplied instructor checkpoint clearly, and report earlier stage archives that are unavailable.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The goal is a reproducible account of what your model learned and what it still struggles with. You can finish by trying the task adapter in the ungraded game, with the checkpoint badge visible.</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Sources:</a:t>
            </a:r>
            <a:endParaRPr/>
          </a:p>
          <a:p>
            <a:pPr indent="0" lvl="0" marL="0" rtl="0" algn="l">
              <a:spcBef>
                <a:spcPts val="0"/>
              </a:spcBef>
              <a:spcAft>
                <a:spcPts val="0"/>
              </a:spcAft>
              <a:buNone/>
            </a:pPr>
            <a:r>
              <a:rPr lang="zh-CN"/>
              <a:t>https://github.com/yxc20089/QPlusLearning/blob/main/labs/lab-01-kev-pacman/notebooks/pacman_kev_lab.ipynb</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zh-C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 Id="rId3" Type="http://schemas.openxmlformats.org/officeDocument/2006/relationships/hyperlink" Target="https://yxc20089.github.io/QPlusLearning/animations/clm.html" TargetMode="External"/><Relationship Id="rId4" Type="http://schemas.openxmlformats.org/officeDocument/2006/relationships/image" Target="../media/image1.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hyperlink" Target="https://yxc20089.github.io/QPlusLearning/animations/kev-math.html#softmax" TargetMode="External"/><Relationship Id="rId4" Type="http://schemas.openxmlformats.org/officeDocument/2006/relationships/image" Target="../media/image2.gif"/><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hyperlink" Target="https://yxc20089.github.io/QPlusLearning/animations/kev-math.html#lora" TargetMode="External"/><Relationship Id="rId4" Type="http://schemas.openxmlformats.org/officeDocument/2006/relationships/image" Target="../media/image3.gif"/><Relationship Id="rId5"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hyperlink" Target="https://docs.google.com/presentation/d/1sdnPkV6VyTW9tr6Xmtyyxns4UHlUGoTtTLj-vmxNhfo/edit?slide=id.course_slide_49#slide=id.course_slide_49" TargetMode="Externa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11829"/>
        </a:solidFill>
      </p:bgPr>
    </p:bg>
    <p:spTree>
      <p:nvGrpSpPr>
        <p:cNvPr id="53" name="Shape 53"/>
        <p:cNvGrpSpPr/>
        <p:nvPr/>
      </p:nvGrpSpPr>
      <p:grpSpPr>
        <a:xfrm>
          <a:off x="0" y="0"/>
          <a:ext cx="0" cy="0"/>
          <a:chOff x="0" y="0"/>
          <a:chExt cx="0" cy="0"/>
        </a:xfrm>
      </p:grpSpPr>
      <p:sp>
        <p:nvSpPr>
          <p:cNvPr id="54" name="Google Shape;54;p13"/>
          <p:cNvSpPr txBox="1"/>
          <p:nvPr>
            <p:ph type="ctrTitle"/>
          </p:nvPr>
        </p:nvSpPr>
        <p:spPr>
          <a:xfrm>
            <a:off x="457200" y="317500"/>
            <a:ext cx="8229600" cy="774600"/>
          </a:xfrm>
          <a:prstGeom prst="rect">
            <a:avLst/>
          </a:prstGeom>
        </p:spPr>
        <p:txBody>
          <a:bodyPr anchorCtr="0" anchor="t" bIns="91425" lIns="91425" spcFirstLastPara="1" rIns="91425" wrap="square" tIns="91425">
            <a:noAutofit/>
          </a:bodyPr>
          <a:lstStyle/>
          <a:p>
            <a:pPr indent="0" lvl="0" marL="0" rtl="0" algn="ctr">
              <a:lnSpc>
                <a:spcPct val="112000"/>
              </a:lnSpc>
              <a:spcBef>
                <a:spcPts val="0"/>
              </a:spcBef>
              <a:spcAft>
                <a:spcPts val="0"/>
              </a:spcAft>
              <a:buNone/>
            </a:pPr>
            <a:r>
              <a:rPr b="1" lang="zh-CN" sz="3800">
                <a:solidFill>
                  <a:srgbClr val="FFFFFF"/>
                </a:solidFill>
              </a:rPr>
              <a:t>Kev and CLM: two ways to decide</a:t>
            </a:r>
            <a:endParaRPr b="1" sz="3800">
              <a:solidFill>
                <a:srgbClr val="FFFFFF"/>
              </a:solidFill>
            </a:endParaRPr>
          </a:p>
          <a:p>
            <a:pPr indent="0" lvl="0" marL="0" rtl="0" algn="ctr">
              <a:lnSpc>
                <a:spcPct val="112000"/>
              </a:lnSpc>
              <a:spcBef>
                <a:spcPts val="800"/>
              </a:spcBef>
              <a:spcAft>
                <a:spcPts val="800"/>
              </a:spcAft>
              <a:buNone/>
            </a:pPr>
            <a:r>
              <a:t/>
            </a:r>
            <a:endParaRPr b="1" sz="3800">
              <a:solidFill>
                <a:srgbClr val="FFFFFF"/>
              </a:solidFill>
            </a:endParaRPr>
          </a:p>
        </p:txBody>
      </p:sp>
      <p:sp>
        <p:nvSpPr>
          <p:cNvPr id="55" name="Google Shape;55;p13"/>
          <p:cNvSpPr txBox="1"/>
          <p:nvPr>
            <p:ph idx="1" type="subTitle"/>
          </p:nvPr>
        </p:nvSpPr>
        <p:spPr>
          <a:xfrm>
            <a:off x="457200" y="4356100"/>
            <a:ext cx="8229600" cy="342900"/>
          </a:xfrm>
          <a:prstGeom prst="rect">
            <a:avLst/>
          </a:prstGeom>
        </p:spPr>
        <p:txBody>
          <a:bodyPr anchorCtr="0" anchor="t" bIns="91425" lIns="91425" spcFirstLastPara="1" rIns="91425" wrap="square" tIns="91425">
            <a:noAutofit/>
          </a:bodyPr>
          <a:lstStyle/>
          <a:p>
            <a:pPr indent="0" lvl="0" marL="0" rtl="0" algn="ctr">
              <a:lnSpc>
                <a:spcPct val="112000"/>
              </a:lnSpc>
              <a:spcBef>
                <a:spcPts val="0"/>
              </a:spcBef>
              <a:spcAft>
                <a:spcPts val="800"/>
              </a:spcAft>
              <a:buNone/>
            </a:pPr>
            <a:r>
              <a:rPr lang="zh-CN" sz="1700">
                <a:solidFill>
                  <a:srgbClr val="CCE0E8"/>
                </a:solidFill>
              </a:rPr>
              <a:t>Our lab follows Kev's LoRA + pointer-head recipe.</a:t>
            </a:r>
            <a:endParaRPr sz="1700">
              <a:solidFill>
                <a:srgbClr val="CCE0E8"/>
              </a:solidFill>
            </a:endParaRPr>
          </a:p>
        </p:txBody>
      </p:sp>
      <p:sp>
        <p:nvSpPr>
          <p:cNvPr id="56" name="Google Shape;56;p13"/>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A3BAC7"/>
                </a:solidFill>
              </a:rPr>
              <a:t>Pac-Man lab | 90 minutes | 30-minute fine-tuning block</a:t>
            </a:r>
            <a:endParaRPr sz="900">
              <a:solidFill>
                <a:srgbClr val="A3BAC7"/>
              </a:solidFill>
            </a:endParaRPr>
          </a:p>
        </p:txBody>
      </p:sp>
      <p:sp>
        <p:nvSpPr>
          <p:cNvPr id="57" name="Google Shape;57;p13"/>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A3BAC7"/>
                </a:solidFill>
              </a:rPr>
              <a:t>1</a:t>
            </a:r>
            <a:endParaRPr sz="900">
              <a:solidFill>
                <a:srgbClr val="A3BAC7"/>
              </a:solidFill>
            </a:endParaRPr>
          </a:p>
        </p:txBody>
      </p:sp>
      <p:graphicFrame>
        <p:nvGraphicFramePr>
          <p:cNvPr id="58" name="Google Shape;58;p13"/>
          <p:cNvGraphicFramePr/>
          <p:nvPr/>
        </p:nvGraphicFramePr>
        <p:xfrm>
          <a:off x="457200" y="1295400"/>
          <a:ext cx="3000000" cy="3000000"/>
        </p:xfrm>
        <a:graphic>
          <a:graphicData uri="http://schemas.openxmlformats.org/drawingml/2006/table">
            <a:tbl>
              <a:tblPr>
                <a:noFill/>
                <a:tableStyleId>{BC076D2E-E36A-444F-9FC6-3F09F7B38128}</a:tableStyleId>
              </a:tblPr>
              <a:tblGrid>
                <a:gridCol w="1549400"/>
                <a:gridCol w="3314700"/>
                <a:gridCol w="3365500"/>
              </a:tblGrid>
              <a:tr h="431800">
                <a:tc>
                  <a:txBody>
                    <a:bodyPr/>
                    <a:lstStyle/>
                    <a:p>
                      <a:pPr indent="0" lvl="0" marL="0" rtl="0" algn="l">
                        <a:lnSpc>
                          <a:spcPct val="105000"/>
                        </a:lnSpc>
                        <a:spcBef>
                          <a:spcPts val="0"/>
                        </a:spcBef>
                        <a:spcAft>
                          <a:spcPts val="0"/>
                        </a:spcAft>
                        <a:buNone/>
                      </a:pPr>
                      <a:r>
                        <a:rPr b="1" lang="zh-CN" sz="1800">
                          <a:solidFill>
                            <a:srgbClr val="FFFFFF"/>
                          </a:solidFill>
                        </a:rPr>
                        <a:t>Difference</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b="1" lang="zh-CN" sz="1800">
                          <a:solidFill>
                            <a:srgbClr val="FFFFFF"/>
                          </a:solidFill>
                        </a:rPr>
                        <a:t>Kev (small models)</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b="1" lang="zh-CN" sz="1800">
                          <a:solidFill>
                            <a:srgbClr val="FFFFFF"/>
                          </a:solidFill>
                        </a:rPr>
                        <a:t>CLM</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r>
              <a:tr h="749300">
                <a:tc>
                  <a:txBody>
                    <a:bodyPr/>
                    <a:lstStyle/>
                    <a:p>
                      <a:pPr indent="0" lvl="0" marL="0" rtl="0" algn="l">
                        <a:lnSpc>
                          <a:spcPct val="105000"/>
                        </a:lnSpc>
                        <a:spcBef>
                          <a:spcPts val="0"/>
                        </a:spcBef>
                        <a:spcAft>
                          <a:spcPts val="0"/>
                        </a:spcAft>
                        <a:buNone/>
                      </a:pPr>
                      <a:r>
                        <a:rPr b="1" lang="zh-CN" sz="1800">
                          <a:solidFill>
                            <a:srgbClr val="FFFFFF"/>
                          </a:solidFill>
                        </a:rPr>
                        <a:t>Inputs</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State, question and</a:t>
                      </a:r>
                      <a:endParaRPr sz="1800">
                        <a:solidFill>
                          <a:srgbClr val="FFFFFF"/>
                        </a:solidFill>
                      </a:endParaRPr>
                    </a:p>
                    <a:p>
                      <a:pPr indent="0" lvl="0" marL="0" rtl="0" algn="l">
                        <a:lnSpc>
                          <a:spcPct val="105000"/>
                        </a:lnSpc>
                        <a:spcBef>
                          <a:spcPts val="0"/>
                        </a:spcBef>
                        <a:spcAft>
                          <a:spcPts val="0"/>
                        </a:spcAft>
                        <a:buNone/>
                      </a:pPr>
                      <a:r>
                        <a:rPr lang="zh-CN" sz="1800">
                          <a:solidFill>
                            <a:srgbClr val="FFFFFF"/>
                          </a:solidFill>
                        </a:rPr>
                        <a:t>options together</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State and actions</a:t>
                      </a:r>
                      <a:endParaRPr sz="1800">
                        <a:solidFill>
                          <a:srgbClr val="FFFFFF"/>
                        </a:solidFill>
                      </a:endParaRPr>
                    </a:p>
                    <a:p>
                      <a:pPr indent="0" lvl="0" marL="0" rtl="0" algn="l">
                        <a:lnSpc>
                          <a:spcPct val="105000"/>
                        </a:lnSpc>
                        <a:spcBef>
                          <a:spcPts val="0"/>
                        </a:spcBef>
                        <a:spcAft>
                          <a:spcPts val="0"/>
                        </a:spcAft>
                        <a:buNone/>
                      </a:pPr>
                      <a:r>
                        <a:rPr lang="zh-CN" sz="1800">
                          <a:solidFill>
                            <a:srgbClr val="FFFFFF"/>
                          </a:solidFill>
                        </a:rPr>
                        <a:t>encoded separately</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r>
              <a:tr h="749300">
                <a:tc>
                  <a:txBody>
                    <a:bodyPr/>
                    <a:lstStyle/>
                    <a:p>
                      <a:pPr indent="0" lvl="0" marL="0" rtl="0" algn="l">
                        <a:lnSpc>
                          <a:spcPct val="105000"/>
                        </a:lnSpc>
                        <a:spcBef>
                          <a:spcPts val="0"/>
                        </a:spcBef>
                        <a:spcAft>
                          <a:spcPts val="0"/>
                        </a:spcAft>
                        <a:buNone/>
                      </a:pPr>
                      <a:r>
                        <a:rPr b="1" lang="zh-CN" sz="1800">
                          <a:solidFill>
                            <a:srgbClr val="FFFFFF"/>
                          </a:solidFill>
                        </a:rPr>
                        <a:t>Trainable</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LoRA + pointer head</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Projection heads only</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r>
              <a:tr h="749300">
                <a:tc>
                  <a:txBody>
                    <a:bodyPr/>
                    <a:lstStyle/>
                    <a:p>
                      <a:pPr indent="0" lvl="0" marL="0" rtl="0" algn="l">
                        <a:lnSpc>
                          <a:spcPct val="105000"/>
                        </a:lnSpc>
                        <a:spcBef>
                          <a:spcPts val="0"/>
                        </a:spcBef>
                        <a:spcAft>
                          <a:spcPts val="0"/>
                        </a:spcAft>
                        <a:buNone/>
                      </a:pPr>
                      <a:r>
                        <a:rPr b="1" lang="zh-CN" sz="1800">
                          <a:solidFill>
                            <a:srgbClr val="FFFFFF"/>
                          </a:solidFill>
                        </a:rPr>
                        <a:t>Features</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Encoder behavior</a:t>
                      </a:r>
                      <a:endParaRPr sz="1800">
                        <a:solidFill>
                          <a:srgbClr val="FFFFFF"/>
                        </a:solidFill>
                      </a:endParaRPr>
                    </a:p>
                    <a:p>
                      <a:pPr indent="0" lvl="0" marL="0" rtl="0" algn="l">
                        <a:lnSpc>
                          <a:spcPct val="105000"/>
                        </a:lnSpc>
                        <a:spcBef>
                          <a:spcPts val="0"/>
                        </a:spcBef>
                        <a:spcAft>
                          <a:spcPts val="0"/>
                        </a:spcAft>
                        <a:buNone/>
                      </a:pPr>
                      <a:r>
                        <a:rPr lang="zh-CN" sz="1800">
                          <a:solidFill>
                            <a:srgbClr val="FFFFFF"/>
                          </a:solidFill>
                        </a:rPr>
                        <a:t>changes</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LLM features</a:t>
                      </a:r>
                      <a:endParaRPr sz="1800">
                        <a:solidFill>
                          <a:srgbClr val="FFFFFF"/>
                        </a:solidFill>
                      </a:endParaRPr>
                    </a:p>
                    <a:p>
                      <a:pPr indent="0" lvl="0" marL="0" rtl="0" algn="l">
                        <a:lnSpc>
                          <a:spcPct val="105000"/>
                        </a:lnSpc>
                        <a:spcBef>
                          <a:spcPts val="0"/>
                        </a:spcBef>
                        <a:spcAft>
                          <a:spcPts val="0"/>
                        </a:spcAft>
                        <a:buNone/>
                      </a:pPr>
                      <a:r>
                        <a:rPr lang="zh-CN" sz="1800">
                          <a:solidFill>
                            <a:srgbClr val="FFFFFF"/>
                          </a:solidFill>
                        </a:rPr>
                        <a:t>stay fixed</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 name="Shape 62"/>
        <p:cNvGrpSpPr/>
        <p:nvPr/>
      </p:nvGrpSpPr>
      <p:grpSpPr>
        <a:xfrm>
          <a:off x="0" y="0"/>
          <a:ext cx="0" cy="0"/>
          <a:chOff x="0" y="0"/>
          <a:chExt cx="0" cy="0"/>
        </a:xfrm>
      </p:grpSpPr>
      <p:sp>
        <p:nvSpPr>
          <p:cNvPr id="63" name="Google Shape;63;p14"/>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A CLM decision, step by step</a:t>
            </a:r>
            <a:endParaRPr b="1" sz="3000">
              <a:solidFill>
                <a:srgbClr val="111829"/>
              </a:solidFill>
            </a:endParaRPr>
          </a:p>
        </p:txBody>
      </p:sp>
      <p:sp>
        <p:nvSpPr>
          <p:cNvPr id="64" name="Google Shape;64;p14"/>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u="sng">
                <a:solidFill>
                  <a:schemeClr val="hlink"/>
                </a:solidFill>
                <a:hlinkClick r:id="rId3"/>
              </a:rPr>
              <a:t>Interactive CLM controls</a:t>
            </a:r>
            <a:r>
              <a:rPr lang="zh-CN" sz="900">
                <a:solidFill>
                  <a:srgbClr val="5E6E80"/>
                </a:solidFill>
              </a:rPr>
              <a:t> | Original lecture animation; illustrative values, not model measurements.</a:t>
            </a:r>
            <a:endParaRPr sz="900">
              <a:solidFill>
                <a:srgbClr val="5E6E80"/>
              </a:solidFill>
            </a:endParaRPr>
          </a:p>
        </p:txBody>
      </p:sp>
      <p:sp>
        <p:nvSpPr>
          <p:cNvPr id="65" name="Google Shape;65;p14"/>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2</a:t>
            </a:r>
            <a:endParaRPr sz="900">
              <a:solidFill>
                <a:srgbClr val="5E6E80"/>
              </a:solidFill>
            </a:endParaRPr>
          </a:p>
        </p:txBody>
      </p:sp>
      <p:pic>
        <p:nvPicPr>
          <p:cNvPr descr="Animated CLM independent-encoder pipeline: input, fixed Qwen backbone, learned heads, normalization, scoring, softmax, training and unseen inference." id="66" name="Google Shape;66;p14" title="A CLM decision, step by step"/>
          <p:cNvPicPr preferRelativeResize="0"/>
          <p:nvPr/>
        </p:nvPicPr>
        <p:blipFill>
          <a:blip r:embed="rId4">
            <a:alphaModFix/>
          </a:blip>
          <a:stretch>
            <a:fillRect/>
          </a:stretch>
        </p:blipFill>
        <p:spPr>
          <a:xfrm>
            <a:off x="457200" y="1219200"/>
            <a:ext cx="8229600" cy="3478292"/>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15"/>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Training and serving cost</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72" name="Google Shape;72;p15"/>
          <p:cNvSpPr txBox="1"/>
          <p:nvPr/>
        </p:nvSpPr>
        <p:spPr>
          <a:xfrm>
            <a:off x="457200" y="4356100"/>
            <a:ext cx="8229600" cy="3429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1700">
                <a:solidFill>
                  <a:srgbClr val="1A2433"/>
                </a:solidFill>
              </a:rPr>
              <a:t>Total cost = feature extraction + training + serving.</a:t>
            </a:r>
            <a:endParaRPr sz="1700">
              <a:solidFill>
                <a:srgbClr val="1A2433"/>
              </a:solidFill>
            </a:endParaRPr>
          </a:p>
          <a:p>
            <a:pPr indent="0" lvl="0" marL="0" rtl="0" algn="l">
              <a:lnSpc>
                <a:spcPct val="112000"/>
              </a:lnSpc>
              <a:spcBef>
                <a:spcPts val="800"/>
              </a:spcBef>
              <a:spcAft>
                <a:spcPts val="800"/>
              </a:spcAft>
              <a:buNone/>
            </a:pPr>
            <a:r>
              <a:t/>
            </a:r>
            <a:endParaRPr sz="1700">
              <a:solidFill>
                <a:srgbClr val="1A2433"/>
              </a:solidFill>
            </a:endParaRPr>
          </a:p>
        </p:txBody>
      </p:sp>
      <p:sp>
        <p:nvSpPr>
          <p:cNvPr id="73" name="Google Shape;73;p15"/>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Record measured GPU time and compute units; include feature extraction.</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74" name="Google Shape;74;p15"/>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3</a:t>
            </a:r>
            <a:endParaRPr sz="900">
              <a:solidFill>
                <a:srgbClr val="5E6E80"/>
              </a:solidFill>
            </a:endParaRPr>
          </a:p>
        </p:txBody>
      </p:sp>
      <p:graphicFrame>
        <p:nvGraphicFramePr>
          <p:cNvPr id="75" name="Google Shape;75;p15"/>
          <p:cNvGraphicFramePr/>
          <p:nvPr/>
        </p:nvGraphicFramePr>
        <p:xfrm>
          <a:off x="457200" y="1295400"/>
          <a:ext cx="3000000" cy="3000000"/>
        </p:xfrm>
        <a:graphic>
          <a:graphicData uri="http://schemas.openxmlformats.org/drawingml/2006/table">
            <a:tbl>
              <a:tblPr>
                <a:noFill/>
                <a:tableStyleId>{BC076D2E-E36A-444F-9FC6-3F09F7B38128}</a:tableStyleId>
              </a:tblPr>
              <a:tblGrid>
                <a:gridCol w="1346200"/>
                <a:gridCol w="3441700"/>
                <a:gridCol w="3441700"/>
              </a:tblGrid>
              <a:tr h="431800">
                <a:tc>
                  <a:txBody>
                    <a:bodyPr/>
                    <a:lstStyle/>
                    <a:p>
                      <a:pPr indent="0" lvl="0" marL="0" rtl="0" algn="l">
                        <a:lnSpc>
                          <a:spcPct val="105000"/>
                        </a:lnSpc>
                        <a:spcBef>
                          <a:spcPts val="0"/>
                        </a:spcBef>
                        <a:spcAft>
                          <a:spcPts val="0"/>
                        </a:spcAft>
                        <a:buNone/>
                      </a:pPr>
                      <a:r>
                        <a:rPr b="1" lang="zh-CN" sz="1800">
                          <a:solidFill>
                            <a:srgbClr val="1A2433"/>
                          </a:solidFill>
                        </a:rPr>
                        <a:t>Work</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Kev LoRA</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CLM heads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Training</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Encoder forward + backward</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for adapters and head</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Extract fixed features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then train two heads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Repeat runs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Repeat encoder compute</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for every experiment</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Reuse feature cache</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Train heads only</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Serving</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Encode state and options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Reuse a shared prefix</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Encode changing state</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Reuse action vectors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 name="Shape 79"/>
        <p:cNvGrpSpPr/>
        <p:nvPr/>
      </p:nvGrpSpPr>
      <p:grpSpPr>
        <a:xfrm>
          <a:off x="0" y="0"/>
          <a:ext cx="0" cy="0"/>
          <a:chOff x="0" y="0"/>
          <a:chExt cx="0" cy="0"/>
        </a:xfrm>
      </p:grpSpPr>
      <p:sp>
        <p:nvSpPr>
          <p:cNvPr id="80" name="Google Shape;80;p16"/>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Performance: compare like with like</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81" name="Google Shape;81;p16"/>
          <p:cNvSpPr txBox="1"/>
          <p:nvPr/>
        </p:nvSpPr>
        <p:spPr>
          <a:xfrm>
            <a:off x="457200" y="4356100"/>
            <a:ext cx="8229600" cy="3429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1700">
                <a:solidFill>
                  <a:srgbClr val="1A2433"/>
                </a:solidFill>
              </a:rPr>
              <a:t>Different hardware and tasks: these are not a head-to-head result.</a:t>
            </a:r>
            <a:endParaRPr sz="1700">
              <a:solidFill>
                <a:srgbClr val="1A2433"/>
              </a:solidFill>
            </a:endParaRPr>
          </a:p>
          <a:p>
            <a:pPr indent="0" lvl="0" marL="0" rtl="0" algn="l">
              <a:lnSpc>
                <a:spcPct val="112000"/>
              </a:lnSpc>
              <a:spcBef>
                <a:spcPts val="800"/>
              </a:spcBef>
              <a:spcAft>
                <a:spcPts val="800"/>
              </a:spcAft>
              <a:buNone/>
            </a:pPr>
            <a:r>
              <a:t/>
            </a:r>
            <a:endParaRPr sz="1700">
              <a:solidFill>
                <a:srgbClr val="1A2433"/>
              </a:solidFill>
            </a:endParaRPr>
          </a:p>
        </p:txBody>
      </p:sp>
      <p:sp>
        <p:nvSpPr>
          <p:cNvPr id="82" name="Google Shape;82;p16"/>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Hold states, actions, precision and hardware fixed; measure skill and latency together.</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83" name="Google Shape;83;p16"/>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4</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graphicFrame>
        <p:nvGraphicFramePr>
          <p:cNvPr id="84" name="Google Shape;84;p16"/>
          <p:cNvGraphicFramePr/>
          <p:nvPr/>
        </p:nvGraphicFramePr>
        <p:xfrm>
          <a:off x="457200" y="1295400"/>
          <a:ext cx="3000000" cy="3000000"/>
        </p:xfrm>
        <a:graphic>
          <a:graphicData uri="http://schemas.openxmlformats.org/drawingml/2006/table">
            <a:tbl>
              <a:tblPr>
                <a:noFill/>
                <a:tableStyleId>{BC076D2E-E36A-444F-9FC6-3F09F7B38128}</a:tableStyleId>
              </a:tblPr>
              <a:tblGrid>
                <a:gridCol w="2146300"/>
                <a:gridCol w="3048000"/>
                <a:gridCol w="3035300"/>
              </a:tblGrid>
              <a:tr h="431800">
                <a:tc>
                  <a:txBody>
                    <a:bodyPr/>
                    <a:lstStyle/>
                    <a:p>
                      <a:pPr indent="0" lvl="0" marL="0" rtl="0" algn="l">
                        <a:lnSpc>
                          <a:spcPct val="105000"/>
                        </a:lnSpc>
                        <a:spcBef>
                          <a:spcPts val="0"/>
                        </a:spcBef>
                        <a:spcAft>
                          <a:spcPts val="0"/>
                        </a:spcAft>
                        <a:buNone/>
                      </a:pPr>
                      <a:r>
                        <a:rPr b="1" lang="zh-CN" sz="1800">
                          <a:solidFill>
                            <a:srgbClr val="1A2433"/>
                          </a:solidFill>
                        </a:rPr>
                        <a:t>Published result</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Setup</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What it supports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CLM: 36-44 ms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RTX 4090; cached actions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1-1,024 candidates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Low added cost as the</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action set grows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Kev-4B: 12 ms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RTX PRO 6000</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One question; median</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Fast serving in that</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llama.cpp setup</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Kev vs CLM</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No matched Pac-Man</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comparison established</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Measure skill, latency</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and memory together</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7"/>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Serving: models and readouts</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90" name="Google Shape;90;p17"/>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llama.cpp: native heads | SGLang: label logits; native Kev/CLM heads not established (2 Oct).</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91" name="Google Shape;91;p17"/>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5</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graphicFrame>
        <p:nvGraphicFramePr>
          <p:cNvPr id="92" name="Google Shape;92;p17"/>
          <p:cNvGraphicFramePr/>
          <p:nvPr/>
        </p:nvGraphicFramePr>
        <p:xfrm>
          <a:off x="457200" y="1193800"/>
          <a:ext cx="3000000" cy="3000000"/>
        </p:xfrm>
        <a:graphic>
          <a:graphicData uri="http://schemas.openxmlformats.org/drawingml/2006/table">
            <a:tbl>
              <a:tblPr>
                <a:noFill/>
                <a:tableStyleId>{BC076D2E-E36A-444F-9FC6-3F09F7B38128}</a:tableStyleId>
              </a:tblPr>
              <a:tblGrid>
                <a:gridCol w="1041400"/>
                <a:gridCol w="1435100"/>
                <a:gridCol w="2451100"/>
                <a:gridCol w="3302000"/>
              </a:tblGrid>
              <a:tr h="381000">
                <a:tc>
                  <a:txBody>
                    <a:bodyPr/>
                    <a:lstStyle/>
                    <a:p>
                      <a:pPr indent="0" lvl="0" marL="0" rtl="0" algn="l">
                        <a:lnSpc>
                          <a:spcPct val="105000"/>
                        </a:lnSpc>
                        <a:spcBef>
                          <a:spcPts val="0"/>
                        </a:spcBef>
                        <a:spcAft>
                          <a:spcPts val="0"/>
                        </a:spcAft>
                        <a:buNone/>
                      </a:pPr>
                      <a:r>
                        <a:rPr b="1" lang="zh-CN" sz="1500">
                          <a:solidFill>
                            <a:srgbClr val="1A2433"/>
                          </a:solidFill>
                        </a:rPr>
                        <a:t>Model</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500">
                          <a:solidFill>
                            <a:srgbClr val="1A2433"/>
                          </a:solidFill>
                        </a:rPr>
                        <a:t>Readout</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500">
                          <a:solidFill>
                            <a:srgbClr val="1A2433"/>
                          </a:solidFill>
                        </a:rPr>
                        <a:t>Useful strength</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500">
                          <a:solidFill>
                            <a:srgbClr val="1A2433"/>
                          </a:solidFill>
                        </a:rPr>
                        <a:t>Main tradeoff</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Julia-1</a:t>
                      </a:r>
                      <a:endParaRPr b="1" sz="1500">
                        <a:solidFill>
                          <a:srgbClr val="1A2433"/>
                        </a:solidFill>
                      </a:endParaRPr>
                    </a:p>
                    <a:p>
                      <a:pPr indent="0" lvl="0" marL="0" rtl="0" algn="l">
                        <a:lnSpc>
                          <a:spcPct val="105000"/>
                        </a:lnSpc>
                        <a:spcBef>
                          <a:spcPts val="0"/>
                        </a:spcBef>
                        <a:spcAft>
                          <a:spcPts val="0"/>
                        </a:spcAft>
                        <a:buNone/>
                      </a:pPr>
                      <a:r>
                        <a:rPr b="1" lang="zh-CN" sz="1500">
                          <a:solidFill>
                            <a:srgbClr val="1A2433"/>
                          </a:solidFill>
                        </a:rPr>
                        <a:t>144M</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Option-marker</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head</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Small; multilingual</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50+ languages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Limited knowledge/reasoning</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Private training pipeline</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Laya</a:t>
                      </a:r>
                      <a:endParaRPr b="1" sz="1500">
                        <a:solidFill>
                          <a:srgbClr val="1A2433"/>
                        </a:solidFill>
                      </a:endParaRPr>
                    </a:p>
                    <a:p>
                      <a:pPr indent="0" lvl="0" marL="0" rtl="0" algn="l">
                        <a:lnSpc>
                          <a:spcPct val="105000"/>
                        </a:lnSpc>
                        <a:spcBef>
                          <a:spcPts val="0"/>
                        </a:spcBef>
                        <a:spcAft>
                          <a:spcPts val="0"/>
                        </a:spcAft>
                        <a:buNone/>
                      </a:pPr>
                      <a:r>
                        <a:rPr b="1" lang="zh-CN" sz="1500">
                          <a:solidFill>
                            <a:srgbClr val="1A2433"/>
                          </a:solidFill>
                        </a:rPr>
                        <a:t>421M</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Option-marker</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head</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Small; designed</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for specialization</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Fully fine-tuned encoder</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English root: 512 tokens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Kev-4B</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Pointer</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head</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Adaptable features</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Open training code</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LoRA changes features</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Options encoded each step</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lev</a:t>
                      </a:r>
                      <a:endParaRPr b="1" sz="1500">
                        <a:solidFill>
                          <a:srgbClr val="1A2433"/>
                        </a:solidFill>
                      </a:endParaRPr>
                    </a:p>
                    <a:p>
                      <a:pPr indent="0" lvl="0" marL="0" rtl="0" algn="l">
                        <a:lnSpc>
                          <a:spcPct val="105000"/>
                        </a:lnSpc>
                        <a:spcBef>
                          <a:spcPts val="0"/>
                        </a:spcBef>
                        <a:spcAft>
                          <a:spcPts val="0"/>
                        </a:spcAft>
                        <a:buNone/>
                      </a:pPr>
                      <a:r>
                        <a:rPr b="1" lang="zh-CN" sz="1500">
                          <a:solidFill>
                            <a:srgbClr val="1A2433"/>
                          </a:solidFill>
                        </a:rPr>
                        <a:t>4B</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Vocabulary</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label logits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Existing LM readout</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Many label codes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LoRA; two choice orders</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Extra head not converted</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OpenJev</a:t>
                      </a:r>
                      <a:endParaRPr b="1" sz="1500">
                        <a:solidFill>
                          <a:srgbClr val="1A2433"/>
                        </a:solidFill>
                      </a:endParaRPr>
                    </a:p>
                    <a:p>
                      <a:pPr indent="0" lvl="0" marL="0" rtl="0" algn="l">
                        <a:lnSpc>
                          <a:spcPct val="105000"/>
                        </a:lnSpc>
                        <a:spcBef>
                          <a:spcPts val="0"/>
                        </a:spcBef>
                        <a:spcAft>
                          <a:spcPts val="0"/>
                        </a:spcAft>
                        <a:buNone/>
                      </a:pPr>
                      <a:r>
                        <a:rPr b="1" lang="zh-CN" sz="1500">
                          <a:solidFill>
                            <a:srgbClr val="1A2433"/>
                          </a:solidFill>
                        </a:rPr>
                        <a:t>27B</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Vocabulary</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label logits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Text and images</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Agent decisions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Larger model</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Non-commercial weights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18"/>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Kev scores the legal moves</a:t>
            </a:r>
            <a:endParaRPr b="1" sz="3000">
              <a:solidFill>
                <a:srgbClr val="111829"/>
              </a:solidFill>
            </a:endParaRPr>
          </a:p>
        </p:txBody>
      </p:sp>
      <p:sp>
        <p:nvSpPr>
          <p:cNvPr id="98" name="Google Shape;98;p18"/>
          <p:cNvSpPr txBox="1"/>
          <p:nvPr/>
        </p:nvSpPr>
        <p:spPr>
          <a:xfrm>
            <a:off x="457200" y="4356100"/>
            <a:ext cx="8229600" cy="406500"/>
          </a:xfrm>
          <a:prstGeom prst="rect">
            <a:avLst/>
          </a:prstGeom>
          <a:noFill/>
          <a:ln>
            <a:noFill/>
          </a:ln>
        </p:spPr>
        <p:txBody>
          <a:bodyPr anchorCtr="0" anchor="t" bIns="91425" lIns="91425" spcFirstLastPara="1" rIns="91425" wrap="square" tIns="91425">
            <a:noAutofit/>
          </a:bodyPr>
          <a:lstStyle/>
          <a:p>
            <a:pPr indent="0" lvl="0" marL="0" marR="0" rtl="0" algn="l">
              <a:lnSpc>
                <a:spcPct val="110000"/>
              </a:lnSpc>
              <a:spcBef>
                <a:spcPts val="0"/>
              </a:spcBef>
              <a:spcAft>
                <a:spcPts val="0"/>
              </a:spcAft>
              <a:buNone/>
            </a:pPr>
            <a:r>
              <a:rPr lang="zh-CN" sz="1350">
                <a:solidFill>
                  <a:srgbClr val="1A2433"/>
                </a:solidFill>
              </a:rPr>
              <a:t>q: decision vector; k_j: option vector; d_p = 256; z_j: logit</a:t>
            </a:r>
            <a:endParaRPr sz="1350">
              <a:solidFill>
                <a:srgbClr val="1A2433"/>
              </a:solidFill>
            </a:endParaRPr>
          </a:p>
          <a:p>
            <a:pPr indent="0" lvl="0" marL="0" marR="0" rtl="0" algn="l">
              <a:lnSpc>
                <a:spcPct val="110000"/>
              </a:lnSpc>
              <a:spcBef>
                <a:spcPts val="0"/>
              </a:spcBef>
              <a:spcAft>
                <a:spcPts val="0"/>
              </a:spcAft>
              <a:buNone/>
            </a:pPr>
            <a:r>
              <a:rPr lang="zh-CN" sz="1350">
                <a:solidFill>
                  <a:srgbClr val="1A2433"/>
                </a:solidFill>
              </a:rPr>
              <a:t>p_j: probability; A(s): supplied legal moves; raw temperature = 1</a:t>
            </a:r>
            <a:endParaRPr sz="1350">
              <a:solidFill>
                <a:srgbClr val="1A2433"/>
              </a:solidFill>
            </a:endParaRPr>
          </a:p>
        </p:txBody>
      </p:sp>
      <p:sp>
        <p:nvSpPr>
          <p:cNvPr id="99" name="Google Shape;99;p18"/>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800"/>
              </a:spcAft>
              <a:buNone/>
            </a:pPr>
            <a:r>
              <a:rPr lang="zh-CN" sz="900" u="sng">
                <a:solidFill>
                  <a:schemeClr val="hlink"/>
                </a:solidFill>
                <a:hlinkClick r:id="rId3"/>
              </a:rPr>
              <a:t>Interactive scoring controls</a:t>
            </a:r>
            <a:r>
              <a:rPr lang="zh-CN" sz="900">
                <a:solidFill>
                  <a:srgbClr val="5E6E80"/>
                </a:solidFill>
              </a:rPr>
              <a:t> | Illustrative probabilities; fresh checkpoints remain uncalibrated.</a:t>
            </a:r>
            <a:endParaRPr sz="900">
              <a:solidFill>
                <a:srgbClr val="5E6E80"/>
              </a:solidFill>
            </a:endParaRPr>
          </a:p>
        </p:txBody>
      </p:sp>
      <p:sp>
        <p:nvSpPr>
          <p:cNvPr id="100" name="Google Shape;100;p18"/>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6</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pic>
        <p:nvPicPr>
          <p:cNvPr descr="Animated calculation for illustrative legal-move logits [2,1,0]. Normalized probabilities: Up 0.66524, Right 0.24473, Down 0.09003." id="101" name="Google Shape;101;p18" title="Kev scores the legal moves"/>
          <p:cNvPicPr preferRelativeResize="0"/>
          <p:nvPr/>
        </p:nvPicPr>
        <p:blipFill>
          <a:blip r:embed="rId4">
            <a:alphaModFix/>
          </a:blip>
          <a:stretch>
            <a:fillRect/>
          </a:stretch>
        </p:blipFill>
        <p:spPr>
          <a:xfrm>
            <a:off x="457200" y="1193800"/>
            <a:ext cx="8229599" cy="2057400"/>
          </a:xfrm>
          <a:prstGeom prst="rect">
            <a:avLst/>
          </a:prstGeom>
          <a:noFill/>
          <a:ln>
            <a:noFill/>
          </a:ln>
        </p:spPr>
      </p:pic>
      <p:pic>
        <p:nvPicPr>
          <p:cNvPr descr="z_j = q transpose k_j / sqrt(d_p); p_j = exp(z_j) / sum_{k in legal actions} exp(z_k)." id="102" name="Google Shape;102;p18" title="Kev scores the legal moves"/>
          <p:cNvPicPr preferRelativeResize="0"/>
          <p:nvPr/>
        </p:nvPicPr>
        <p:blipFill>
          <a:blip r:embed="rId5">
            <a:alphaModFix/>
          </a:blip>
          <a:stretch>
            <a:fillRect/>
          </a:stretch>
        </p:blipFill>
        <p:spPr>
          <a:xfrm>
            <a:off x="457200" y="3302000"/>
            <a:ext cx="8229600" cy="1028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 name="Shape 106"/>
        <p:cNvGrpSpPr/>
        <p:nvPr/>
      </p:nvGrpSpPr>
      <p:grpSpPr>
        <a:xfrm>
          <a:off x="0" y="0"/>
          <a:ext cx="0" cy="0"/>
          <a:chOff x="0" y="0"/>
          <a:chExt cx="0" cy="0"/>
        </a:xfrm>
      </p:grpSpPr>
      <p:sp>
        <p:nvSpPr>
          <p:cNvPr id="107" name="Google Shape;107;p19"/>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Our 90-minute route</a:t>
            </a:r>
            <a:endParaRPr b="1" sz="3000">
              <a:solidFill>
                <a:srgbClr val="111829"/>
              </a:solidFill>
            </a:endParaRPr>
          </a:p>
        </p:txBody>
      </p:sp>
      <p:sp>
        <p:nvSpPr>
          <p:cNvPr id="108" name="Google Shape;108;p19"/>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0–20    Compare models, animation and play</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20–30  Review Pac-Man planning labels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30–60  Fine-tune LoRA and the pointer head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60–80  Evaluate the same boards and seed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80–90  Explain and submit CP1</a:t>
            </a:r>
            <a:endParaRPr sz="2300">
              <a:solidFill>
                <a:srgbClr val="1A2433"/>
              </a:solidFill>
            </a:endParaRPr>
          </a:p>
          <a:p>
            <a:pPr indent="0" lvl="0" marL="0" marR="0" rtl="0" algn="l">
              <a:lnSpc>
                <a:spcPct val="112000"/>
              </a:lnSpc>
              <a:spcBef>
                <a:spcPts val="800"/>
              </a:spcBef>
              <a:spcAft>
                <a:spcPts val="0"/>
              </a:spcAft>
              <a:buNone/>
            </a:pPr>
            <a:r>
              <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109" name="Google Shape;109;p19"/>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One assessed CP1; interactive play is ungraded. Stages 1–4 and label generation are prework.</a:t>
            </a:r>
            <a:endParaRPr sz="900">
              <a:solidFill>
                <a:srgbClr val="5E6E80"/>
              </a:solidFill>
            </a:endParaRPr>
          </a:p>
          <a:p>
            <a:pPr indent="0" lvl="0" marL="0" marR="0" rtl="0" algn="l">
              <a:lnSpc>
                <a:spcPct val="112000"/>
              </a:lnSpc>
              <a:spcBef>
                <a:spcPts val="800"/>
              </a:spcBef>
              <a:spcAft>
                <a:spcPts val="0"/>
              </a:spcAft>
              <a:buNone/>
            </a:pPr>
            <a:r>
              <a:t/>
            </a:r>
            <a:endParaRPr sz="900">
              <a:solidFill>
                <a:srgbClr val="5E6E80"/>
              </a:solidFill>
            </a:endParaRPr>
          </a:p>
          <a:p>
            <a:pPr indent="0" lvl="0" marL="0" marR="0" rtl="0" algn="l">
              <a:lnSpc>
                <a:spcPct val="112000"/>
              </a:lnSpc>
              <a:spcBef>
                <a:spcPts val="800"/>
              </a:spcBef>
              <a:spcAft>
                <a:spcPts val="0"/>
              </a:spcAft>
              <a:buNone/>
            </a:pPr>
            <a:r>
              <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110" name="Google Shape;110;p19"/>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7</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 name="Shape 114"/>
        <p:cNvGrpSpPr/>
        <p:nvPr/>
      </p:nvGrpSpPr>
      <p:grpSpPr>
        <a:xfrm>
          <a:off x="0" y="0"/>
          <a:ext cx="0" cy="0"/>
          <a:chOff x="0" y="0"/>
          <a:chExt cx="0" cy="0"/>
        </a:xfrm>
      </p:grpSpPr>
      <p:sp>
        <p:nvSpPr>
          <p:cNvPr id="115" name="Google Shape;115;p20"/>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Prepare Colab before class</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116" name="Google Shape;116;p20"/>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RTX PRO 6000 Blackwell: 96 GB target</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Pinned PyTorch/CUDA; BF16 autocast</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Optimized FLA, convolution and fused AdamW</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Pac-Man: batch 4 × accumulation 2</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Checkpointing on; row budget 0</a:t>
            </a:r>
            <a:endParaRPr sz="2300">
              <a:solidFill>
                <a:srgbClr val="1A2433"/>
              </a:solidFill>
            </a:endParaRPr>
          </a:p>
          <a:p>
            <a:pPr indent="0" lvl="0" marL="0" marR="0" rtl="0" algn="l">
              <a:lnSpc>
                <a:spcPct val="112000"/>
              </a:lnSpc>
              <a:spcBef>
                <a:spcPts val="800"/>
              </a:spcBef>
              <a:spcAft>
                <a:spcPts val="0"/>
              </a:spcAft>
              <a:buNone/>
            </a:pPr>
            <a:r>
              <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117" name="Google Shape;117;p20"/>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762 updates: ~19 min at 1.5 s/update; ~38 min at 3 s/update, plus setup/saves.</a:t>
            </a:r>
            <a:endParaRPr sz="900">
              <a:solidFill>
                <a:srgbClr val="5E6E80"/>
              </a:solidFill>
            </a:endParaRPr>
          </a:p>
          <a:p>
            <a:pPr indent="0" lvl="0" marL="0" marR="0" rtl="0" algn="l">
              <a:lnSpc>
                <a:spcPct val="112000"/>
              </a:lnSpc>
              <a:spcBef>
                <a:spcPts val="800"/>
              </a:spcBef>
              <a:spcAft>
                <a:spcPts val="0"/>
              </a:spcAft>
              <a:buNone/>
            </a:pPr>
            <a:r>
              <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118" name="Google Shape;118;p20"/>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8</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 name="Shape 122"/>
        <p:cNvGrpSpPr/>
        <p:nvPr/>
      </p:nvGrpSpPr>
      <p:grpSpPr>
        <a:xfrm>
          <a:off x="0" y="0"/>
          <a:ext cx="0" cy="0"/>
          <a:chOff x="0" y="0"/>
          <a:chExt cx="0" cy="0"/>
        </a:xfrm>
      </p:grpSpPr>
      <p:sp>
        <p:nvSpPr>
          <p:cNvPr id="123" name="Google Shape;123;p21"/>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Five stages, five separate adapters</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124" name="Google Shape;124;p21"/>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1  Decisions: 12,576 records × 2 epochs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2  Dates/evidence: 1,425 + 2,000 replay</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3  Documents: 5,219 + 2,000 replay</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4  Skills/devtools: 11,320 + 4,000 replay</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5  Pac-Man: 4,096 + 2,000 replay; 1 epoch</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125" name="Google Shape;125;p21"/>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Pac-Man: 762 updates, lr 2e-5; prior stages and label generation are prework.</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126" name="Google Shape;126;p21"/>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9</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22"/>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Interactive play: meet the four ghosts</a:t>
            </a:r>
            <a:endParaRPr b="1" sz="3000">
              <a:solidFill>
                <a:srgbClr val="111829"/>
              </a:solidFill>
            </a:endParaRPr>
          </a:p>
          <a:p>
            <a:pPr indent="0" lvl="0" marL="0" rtl="0" algn="l">
              <a:lnSpc>
                <a:spcPct val="112000"/>
              </a:lnSpc>
              <a:spcBef>
                <a:spcPts val="800"/>
              </a:spcBef>
              <a:spcAft>
                <a:spcPts val="0"/>
              </a:spcAft>
              <a:buNone/>
            </a:pPr>
            <a:r>
              <a:t/>
            </a:r>
            <a:endParaRPr b="1" sz="3000">
              <a:solidFill>
                <a:srgbClr val="111829"/>
              </a:solidFill>
            </a:endParaRPr>
          </a:p>
          <a:p>
            <a:pPr indent="0" lvl="0" marL="0" rtl="0" algn="l">
              <a:lnSpc>
                <a:spcPct val="112000"/>
              </a:lnSpc>
              <a:spcBef>
                <a:spcPts val="800"/>
              </a:spcBef>
              <a:spcAft>
                <a:spcPts val="0"/>
              </a:spcAft>
              <a:buNone/>
            </a:pPr>
            <a:r>
              <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132" name="Google Shape;132;p22"/>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Four native ghost personalities and release rules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Remaining power pellets: o in the maze</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After consumption: global + per-ghost frightened flags</a:t>
            </a:r>
            <a:endParaRPr sz="2300">
              <a:solidFill>
                <a:srgbClr val="1A2433"/>
              </a:solidFill>
            </a:endParaRPr>
          </a:p>
          <a:p>
            <a:pPr indent="0" lvl="0" marL="0" rtl="0" algn="l">
              <a:lnSpc>
                <a:spcPct val="112000"/>
              </a:lnSpc>
              <a:spcBef>
                <a:spcPts val="800"/>
              </a:spcBef>
              <a:spcAft>
                <a:spcPts val="800"/>
              </a:spcAft>
              <a:buNone/>
            </a:pPr>
            <a:r>
              <a:rPr lang="zh-CN" sz="2300">
                <a:solidFill>
                  <a:srgbClr val="1A2433"/>
                </a:solidFill>
              </a:rPr>
              <a:t>Badge: Skills LoRA before; Pac-Man LoRA after</a:t>
            </a:r>
            <a:endParaRPr sz="2300">
              <a:solidFill>
                <a:srgbClr val="1A2433"/>
              </a:solidFill>
            </a:endParaRPr>
          </a:p>
        </p:txBody>
      </p:sp>
      <p:sp>
        <p:nvSpPr>
          <p:cNvPr id="133" name="Google Shape;133;p22"/>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Ungraded play. No explicit just-consumed flag or remaining power-mode timer in the current input.</a:t>
            </a:r>
            <a:endParaRPr sz="900">
              <a:solidFill>
                <a:srgbClr val="5E6E80"/>
              </a:solidFill>
            </a:endParaRPr>
          </a:p>
        </p:txBody>
      </p:sp>
      <p:sp>
        <p:nvSpPr>
          <p:cNvPr id="134" name="Google Shape;134;p22"/>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10</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Planning labels from native game states</a:t>
            </a:r>
            <a:endParaRPr b="1" sz="3000">
              <a:solidFill>
                <a:srgbClr val="111829"/>
              </a:solidFill>
            </a:endParaRPr>
          </a:p>
        </p:txBody>
      </p:sp>
      <p:sp>
        <p:nvSpPr>
          <p:cNvPr id="140" name="Google Shape;140;p23"/>
          <p:cNvSpPr txBox="1"/>
          <p:nvPr/>
        </p:nvSpPr>
        <p:spPr>
          <a:xfrm>
            <a:off x="457200" y="1422400"/>
            <a:ext cx="8229600" cy="14352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2300">
                <a:solidFill>
                  <a:srgbClr val="1A2433"/>
                </a:solidFill>
              </a:rPr>
              <a:t>4,096 train; 256 dev; 256 evaluation</a:t>
            </a:r>
            <a:endParaRPr sz="2300">
              <a:solidFill>
                <a:srgbClr val="1A2433"/>
              </a:solidFill>
            </a:endParaRPr>
          </a:p>
          <a:p>
            <a:pPr indent="0" lvl="0" marL="0" rtl="0" algn="l">
              <a:lnSpc>
                <a:spcPct val="110000"/>
              </a:lnSpc>
              <a:spcBef>
                <a:spcPts val="800"/>
              </a:spcBef>
              <a:spcAft>
                <a:spcPts val="0"/>
              </a:spcAft>
              <a:buNone/>
            </a:pPr>
            <a:r>
              <a:rPr lang="zh-CN" sz="2300">
                <a:solidFill>
                  <a:srgbClr val="1A2433"/>
                </a:solidFill>
              </a:rPr>
              <a:t>Search 20 moves, beam 8; rank survival first</a:t>
            </a:r>
            <a:endParaRPr sz="2300">
              <a:solidFill>
                <a:srgbClr val="1A2433"/>
              </a:solidFill>
            </a:endParaRPr>
          </a:p>
          <a:p>
            <a:pPr indent="0" lvl="0" marL="0" rtl="0" algn="l">
              <a:lnSpc>
                <a:spcPct val="110000"/>
              </a:lnSpc>
              <a:spcBef>
                <a:spcPts val="800"/>
              </a:spcBef>
              <a:spcAft>
                <a:spcPts val="800"/>
              </a:spcAft>
              <a:buNone/>
            </a:pPr>
            <a:r>
              <a:rPr lang="zh-CN" sz="2300">
                <a:solidFill>
                  <a:srgbClr val="1A2433"/>
                </a:solidFill>
              </a:rPr>
              <a:t>1,450 training boards have power mode active</a:t>
            </a:r>
            <a:endParaRPr sz="2300">
              <a:solidFill>
                <a:srgbClr val="1A2433"/>
              </a:solidFill>
            </a:endParaRPr>
          </a:p>
        </p:txBody>
      </p:sp>
      <p:sp>
        <p:nvSpPr>
          <p:cNvPr id="141" name="Google Shape;141;p23"/>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Approximate teacher; current timers are privileged. Two independent frightened-RNG scenarios.</a:t>
            </a:r>
            <a:endParaRPr sz="900">
              <a:solidFill>
                <a:srgbClr val="5E6E80"/>
              </a:solidFill>
            </a:endParaRPr>
          </a:p>
          <a:p>
            <a:pPr indent="0" lvl="0" marL="0" rtl="0" algn="l">
              <a:lnSpc>
                <a:spcPct val="112000"/>
              </a:lnSpc>
              <a:spcBef>
                <a:spcPts val="800"/>
              </a:spcBef>
              <a:spcAft>
                <a:spcPts val="0"/>
              </a:spcAft>
              <a:buNone/>
            </a:pPr>
            <a:r>
              <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142" name="Google Shape;142;p23"/>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11</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143" name="Google Shape;143;p23"/>
          <p:cNvSpPr txBox="1"/>
          <p:nvPr/>
        </p:nvSpPr>
        <p:spPr>
          <a:xfrm>
            <a:off x="457200" y="4038600"/>
            <a:ext cx="8229600" cy="5841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350">
                <a:solidFill>
                  <a:srgbClr val="1A2433"/>
                </a:solidFill>
              </a:rPr>
              <a:t>J: path value; ΔS: score gain; P: pellets; R: revisits</a:t>
            </a:r>
            <a:endParaRPr sz="1350">
              <a:solidFill>
                <a:srgbClr val="1A2433"/>
              </a:solidFill>
            </a:endParaRPr>
          </a:p>
          <a:p>
            <a:pPr indent="0" lvl="0" marL="0" rtl="0" algn="l">
              <a:lnSpc>
                <a:spcPct val="110000"/>
              </a:lnSpc>
              <a:spcBef>
                <a:spcPts val="0"/>
              </a:spcBef>
              <a:spcAft>
                <a:spcPts val="0"/>
              </a:spcAft>
              <a:buNone/>
            </a:pPr>
            <a:r>
              <a:rPr lang="zh-CN" sz="1350">
                <a:solidFill>
                  <a:srgbClr val="1A2433"/>
                </a:solidFill>
              </a:rPr>
              <a:t>D_p: nearest-pellet distance; D_g: distance to a dangerous ghost</a:t>
            </a:r>
            <a:endParaRPr sz="1350">
              <a:solidFill>
                <a:srgbClr val="1A2433"/>
              </a:solidFill>
            </a:endParaRPr>
          </a:p>
        </p:txBody>
      </p:sp>
      <p:pic>
        <p:nvPicPr>
          <p:cNvPr descr="J = score gain + 5 pellets - 4 revisits - 6 nearest-pellet distance + 2 min(dangerous-ghost distance,8)." id="144" name="Google Shape;144;p23" title="Planning labels from native game states"/>
          <p:cNvPicPr preferRelativeResize="0"/>
          <p:nvPr/>
        </p:nvPicPr>
        <p:blipFill>
          <a:blip r:embed="rId3">
            <a:alphaModFix/>
          </a:blip>
          <a:stretch>
            <a:fillRect/>
          </a:stretch>
        </p:blipFill>
        <p:spPr>
          <a:xfrm>
            <a:off x="457200" y="2908300"/>
            <a:ext cx="8229600" cy="89154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p24"/>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CP1: fine-tune and evaluate Pac-Man</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150" name="Google Shape;150;p24"/>
          <p:cNvSpPr txBox="1"/>
          <p:nvPr/>
        </p:nvSpPr>
        <p:spPr>
          <a:xfrm>
            <a:off x="457200" y="1422400"/>
            <a:ext cx="8229600" cy="1562100"/>
          </a:xfrm>
          <a:prstGeom prst="rect">
            <a:avLst/>
          </a:prstGeom>
          <a:noFill/>
          <a:ln>
            <a:noFill/>
          </a:ln>
        </p:spPr>
        <p:txBody>
          <a:bodyPr anchorCtr="0" anchor="t" bIns="91425" lIns="91425" spcFirstLastPara="1" rIns="91425" wrap="square" tIns="91425">
            <a:noAutofit/>
          </a:bodyPr>
          <a:lstStyle/>
          <a:p>
            <a:pPr indent="0" lvl="0" marL="0" marR="0" rtl="0" algn="l">
              <a:lnSpc>
                <a:spcPct val="110000"/>
              </a:lnSpc>
              <a:spcBef>
                <a:spcPts val="0"/>
              </a:spcBef>
              <a:spcAft>
                <a:spcPts val="0"/>
              </a:spcAft>
              <a:buNone/>
            </a:pPr>
            <a:r>
              <a:rPr lang="zh-CN" sz="2300">
                <a:solidFill>
                  <a:srgbClr val="1A2433"/>
                </a:solidFill>
              </a:rPr>
              <a:t>Skills → Pac-Man: rank-16 LoRA + pointer head</a:t>
            </a:r>
            <a:endParaRPr sz="2300">
              <a:solidFill>
                <a:srgbClr val="1A2433"/>
              </a:solidFill>
            </a:endParaRPr>
          </a:p>
          <a:p>
            <a:pPr indent="0" lvl="0" marL="0" marR="0" rtl="0" algn="l">
              <a:lnSpc>
                <a:spcPct val="110000"/>
              </a:lnSpc>
              <a:spcBef>
                <a:spcPts val="800"/>
              </a:spcBef>
              <a:spcAft>
                <a:spcPts val="0"/>
              </a:spcAft>
              <a:buNone/>
            </a:pPr>
            <a:r>
              <a:rPr lang="zh-CN" sz="2300">
                <a:solidFill>
                  <a:srgbClr val="1A2433"/>
                </a:solidFill>
              </a:rPr>
              <a:t>4,096 boards + 2,000 replay; one epoch</a:t>
            </a:r>
            <a:endParaRPr sz="2300">
              <a:solidFill>
                <a:srgbClr val="1A2433"/>
              </a:solidFill>
            </a:endParaRPr>
          </a:p>
          <a:p>
            <a:pPr indent="0" lvl="0" marL="0" marR="0" rtl="0" algn="l">
              <a:lnSpc>
                <a:spcPct val="110000"/>
              </a:lnSpc>
              <a:spcBef>
                <a:spcPts val="800"/>
              </a:spcBef>
              <a:spcAft>
                <a:spcPts val="800"/>
              </a:spcAft>
              <a:buNone/>
            </a:pPr>
            <a:r>
              <a:rPr lang="zh-CN" sz="2300">
                <a:solidFill>
                  <a:srgbClr val="1A2433"/>
                </a:solidFill>
              </a:rPr>
              <a:t>762 updates at learning rate 2e-5</a:t>
            </a:r>
            <a:endParaRPr sz="2300">
              <a:solidFill>
                <a:srgbClr val="1A2433"/>
              </a:solidFill>
            </a:endParaRPr>
          </a:p>
        </p:txBody>
      </p:sp>
      <p:sp>
        <p:nvSpPr>
          <p:cNvPr id="151" name="Google Shape;151;p24"/>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800"/>
              </a:spcAft>
              <a:buNone/>
            </a:pPr>
            <a:r>
              <a:rPr lang="zh-CN" sz="900">
                <a:solidFill>
                  <a:srgbClr val="5E6E80"/>
                </a:solidFill>
              </a:rPr>
              <a:t>One CP1: review → train → evaluate → explain. Run the complete recipe.</a:t>
            </a:r>
            <a:endParaRPr sz="900">
              <a:solidFill>
                <a:srgbClr val="5E6E80"/>
              </a:solidFill>
            </a:endParaRPr>
          </a:p>
        </p:txBody>
      </p:sp>
      <p:sp>
        <p:nvSpPr>
          <p:cNvPr id="152" name="Google Shape;152;p24"/>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12</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153" name="Google Shape;153;p24"/>
          <p:cNvSpPr txBox="1"/>
          <p:nvPr/>
        </p:nvSpPr>
        <p:spPr>
          <a:xfrm>
            <a:off x="457200" y="4318000"/>
            <a:ext cx="8229600" cy="3174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350">
                <a:solidFill>
                  <a:srgbClr val="1A2433"/>
                </a:solidFill>
              </a:rPr>
              <a:t>B: batch size; s_i: board; y_i: teacher move; p(y_i | s_i): predicted share</a:t>
            </a:r>
            <a:endParaRPr sz="1350">
              <a:solidFill>
                <a:srgbClr val="1A2433"/>
              </a:solidFill>
            </a:endParaRPr>
          </a:p>
        </p:txBody>
      </p:sp>
      <p:pic>
        <p:nvPicPr>
          <p:cNvPr descr="Cross entropy = -1/B sum_i log p(teacher action y_i | board s_i)." id="154" name="Google Shape;154;p24" title="CP1: fine-tune and evaluate Pac-Man"/>
          <p:cNvPicPr preferRelativeResize="0"/>
          <p:nvPr/>
        </p:nvPicPr>
        <p:blipFill>
          <a:blip r:embed="rId3">
            <a:alphaModFix/>
          </a:blip>
          <a:stretch>
            <a:fillRect/>
          </a:stretch>
        </p:blipFill>
        <p:spPr>
          <a:xfrm>
            <a:off x="457200" y="3073400"/>
            <a:ext cx="8229600" cy="10287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 name="Shape 158"/>
        <p:cNvGrpSpPr/>
        <p:nvPr/>
      </p:nvGrpSpPr>
      <p:grpSpPr>
        <a:xfrm>
          <a:off x="0" y="0"/>
          <a:ext cx="0" cy="0"/>
          <a:chOff x="0" y="0"/>
          <a:chExt cx="0" cy="0"/>
        </a:xfrm>
      </p:grpSpPr>
      <p:sp>
        <p:nvSpPr>
          <p:cNvPr id="159" name="Google Shape;159;p25"/>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LoRA updates and training evidence</a:t>
            </a:r>
            <a:endParaRPr b="1" sz="3000">
              <a:solidFill>
                <a:srgbClr val="111829"/>
              </a:solidFill>
            </a:endParaRPr>
          </a:p>
        </p:txBody>
      </p:sp>
      <p:sp>
        <p:nvSpPr>
          <p:cNvPr id="160" name="Google Shape;160;p25"/>
          <p:cNvSpPr txBox="1"/>
          <p:nvPr/>
        </p:nvSpPr>
        <p:spPr>
          <a:xfrm>
            <a:off x="457200" y="4305300"/>
            <a:ext cx="8229600" cy="444600"/>
          </a:xfrm>
          <a:prstGeom prst="rect">
            <a:avLst/>
          </a:prstGeom>
          <a:noFill/>
          <a:ln>
            <a:noFill/>
          </a:ln>
        </p:spPr>
        <p:txBody>
          <a:bodyPr anchorCtr="0" anchor="t" bIns="91425" lIns="91425" spcFirstLastPara="1" rIns="91425" wrap="square" tIns="91425">
            <a:noAutofit/>
          </a:bodyPr>
          <a:lstStyle/>
          <a:p>
            <a:pPr indent="0" lvl="0" marL="0" marR="0" rtl="0" algn="l">
              <a:lnSpc>
                <a:spcPct val="110000"/>
              </a:lnSpc>
              <a:spcBef>
                <a:spcPts val="0"/>
              </a:spcBef>
              <a:spcAft>
                <a:spcPts val="0"/>
              </a:spcAft>
              <a:buNone/>
            </a:pPr>
            <a:r>
              <a:rPr lang="zh-CN" sz="1350">
                <a:solidFill>
                  <a:srgbClr val="1A2433"/>
                </a:solidFill>
              </a:rPr>
              <a:t>W0: fixed base; A: r × d_in; B: d_out × r</a:t>
            </a:r>
            <a:endParaRPr sz="1350">
              <a:solidFill>
                <a:srgbClr val="1A2433"/>
              </a:solidFill>
            </a:endParaRPr>
          </a:p>
          <a:p>
            <a:pPr indent="0" lvl="0" marL="0" marR="0" rtl="0" algn="l">
              <a:lnSpc>
                <a:spcPct val="110000"/>
              </a:lnSpc>
              <a:spcBef>
                <a:spcPts val="0"/>
              </a:spcBef>
              <a:spcAft>
                <a:spcPts val="0"/>
              </a:spcAft>
              <a:buNone/>
            </a:pPr>
            <a:r>
              <a:rPr lang="zh-CN" sz="1350">
                <a:solidFill>
                  <a:srgbClr val="1A2433"/>
                </a:solidFill>
              </a:rPr>
              <a:t>r = 16; α = 32; 33.8M trainable LoRA/head parameters</a:t>
            </a:r>
            <a:endParaRPr sz="1350">
              <a:solidFill>
                <a:srgbClr val="1A2433"/>
              </a:solidFill>
            </a:endParaRPr>
          </a:p>
        </p:txBody>
      </p:sp>
      <p:sp>
        <p:nvSpPr>
          <p:cNvPr id="161" name="Google Shape;161;p25"/>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800"/>
              </a:spcAft>
              <a:buNone/>
            </a:pPr>
            <a:r>
              <a:rPr lang="zh-CN" sz="900" u="sng">
                <a:solidFill>
                  <a:schemeClr val="hlink"/>
                </a:solidFill>
                <a:hlinkClick r:id="rId3"/>
              </a:rPr>
              <a:t>Interactive LoRA controls</a:t>
            </a:r>
            <a:r>
              <a:rPr lang="zh-CN" sz="900">
                <a:solidFill>
                  <a:srgbClr val="5E6E80"/>
                </a:solidFill>
              </a:rPr>
              <a:t> | TensorBoard + recovery; verified Drive backup after each saved snapshot.</a:t>
            </a:r>
            <a:endParaRPr sz="900">
              <a:solidFill>
                <a:srgbClr val="5E6E80"/>
              </a:solidFill>
            </a:endParaRPr>
          </a:p>
        </p:txBody>
      </p:sp>
      <p:sp>
        <p:nvSpPr>
          <p:cNvPr id="162" name="Google Shape;162;p25"/>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13</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pic>
        <p:nvPicPr>
          <p:cNvPr descr="Animated illustrative rank-two update to 4-by-4 matrices: fixed base W0, growing BA update, effective W0 + BA. Actual Kev uses rank16 and alpha32." id="163" name="Google Shape;163;p25" title="LoRA updates and training evidence"/>
          <p:cNvPicPr preferRelativeResize="0"/>
          <p:nvPr/>
        </p:nvPicPr>
        <p:blipFill>
          <a:blip r:embed="rId4">
            <a:alphaModFix/>
          </a:blip>
          <a:stretch>
            <a:fillRect/>
          </a:stretch>
        </p:blipFill>
        <p:spPr>
          <a:xfrm>
            <a:off x="457200" y="1193800"/>
            <a:ext cx="8229599" cy="2057400"/>
          </a:xfrm>
          <a:prstGeom prst="rect">
            <a:avLst/>
          </a:prstGeom>
          <a:noFill/>
          <a:ln>
            <a:noFill/>
          </a:ln>
        </p:spPr>
      </p:pic>
      <p:pic>
        <p:nvPicPr>
          <p:cNvPr descr="W_effective = W0 + (alpha/r) BA." id="164" name="Google Shape;164;p25" title="LoRA updates and training evidence"/>
          <p:cNvPicPr preferRelativeResize="0"/>
          <p:nvPr/>
        </p:nvPicPr>
        <p:blipFill>
          <a:blip r:embed="rId5">
            <a:alphaModFix/>
          </a:blip>
          <a:stretch>
            <a:fillRect/>
          </a:stretch>
        </p:blipFill>
        <p:spPr>
          <a:xfrm>
            <a:off x="457200" y="3390900"/>
            <a:ext cx="8229600" cy="89154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 name="Shape 168"/>
        <p:cNvGrpSpPr/>
        <p:nvPr/>
      </p:nvGrpSpPr>
      <p:grpSpPr>
        <a:xfrm>
          <a:off x="0" y="0"/>
          <a:ext cx="0" cy="0"/>
          <a:chOff x="0" y="0"/>
          <a:chExt cx="0" cy="0"/>
        </a:xfrm>
      </p:grpSpPr>
      <p:sp>
        <p:nvSpPr>
          <p:cNvPr id="169" name="Google Shape;169;p26"/>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Evaluate decisions and gameplay</a:t>
            </a:r>
            <a:endParaRPr b="1" sz="3000">
              <a:solidFill>
                <a:srgbClr val="111829"/>
              </a:solidFill>
            </a:endParaRPr>
          </a:p>
          <a:p>
            <a:pPr indent="0" lvl="0" marL="0" rtl="0" algn="l">
              <a:lnSpc>
                <a:spcPct val="112000"/>
              </a:lnSpc>
              <a:spcBef>
                <a:spcPts val="800"/>
              </a:spcBef>
              <a:spcAft>
                <a:spcPts val="0"/>
              </a:spcAft>
              <a:buNone/>
            </a:pPr>
            <a:r>
              <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170" name="Google Shape;170;p26"/>
          <p:cNvSpPr txBox="1"/>
          <p:nvPr/>
        </p:nvSpPr>
        <p:spPr>
          <a:xfrm>
            <a:off x="457200" y="1397000"/>
            <a:ext cx="8229600" cy="1562100"/>
          </a:xfrm>
          <a:prstGeom prst="rect">
            <a:avLst/>
          </a:prstGeom>
          <a:noFill/>
          <a:ln>
            <a:noFill/>
          </a:ln>
        </p:spPr>
        <p:txBody>
          <a:bodyPr anchorCtr="0" anchor="t" bIns="91425" lIns="91425" spcFirstLastPara="1" rIns="91425" wrap="square" tIns="91425">
            <a:noAutofit/>
          </a:bodyPr>
          <a:lstStyle/>
          <a:p>
            <a:pPr indent="0" lvl="0" marL="0" marR="0" rtl="0" algn="l">
              <a:lnSpc>
                <a:spcPct val="110000"/>
              </a:lnSpc>
              <a:spcBef>
                <a:spcPts val="0"/>
              </a:spcBef>
              <a:spcAft>
                <a:spcPts val="0"/>
              </a:spcAft>
              <a:buNone/>
            </a:pPr>
            <a:r>
              <a:rPr lang="zh-CN" sz="2300">
                <a:solidFill>
                  <a:srgbClr val="1A2433"/>
                </a:solidFill>
              </a:rPr>
              <a:t>Same 256 boards: strict and tie-aware agreement</a:t>
            </a:r>
            <a:endParaRPr sz="2300">
              <a:solidFill>
                <a:srgbClr val="1A2433"/>
              </a:solidFill>
            </a:endParaRPr>
          </a:p>
          <a:p>
            <a:pPr indent="0" lvl="0" marL="0" marR="0" rtl="0" algn="l">
              <a:lnSpc>
                <a:spcPct val="110000"/>
              </a:lnSpc>
              <a:spcBef>
                <a:spcPts val="800"/>
              </a:spcBef>
              <a:spcAft>
                <a:spcPts val="0"/>
              </a:spcAft>
              <a:buNone/>
            </a:pPr>
            <a:r>
              <a:rPr lang="zh-CN" sz="2300">
                <a:solidFill>
                  <a:srgbClr val="1A2433"/>
                </a:solidFill>
              </a:rPr>
              <a:t>Search regret, survival choices and immediate captures</a:t>
            </a:r>
            <a:endParaRPr sz="2300">
              <a:solidFill>
                <a:srgbClr val="1A2433"/>
              </a:solidFill>
            </a:endParaRPr>
          </a:p>
          <a:p>
            <a:pPr indent="0" lvl="0" marL="0" marR="0" rtl="0" algn="l">
              <a:lnSpc>
                <a:spcPct val="110000"/>
              </a:lnSpc>
              <a:spcBef>
                <a:spcPts val="800"/>
              </a:spcBef>
              <a:spcAft>
                <a:spcPts val="800"/>
              </a:spcAft>
              <a:buNone/>
            </a:pPr>
            <a:r>
              <a:rPr lang="zh-CN" sz="2300">
                <a:solidFill>
                  <a:srgbClr val="1A2433"/>
                </a:solidFill>
              </a:rPr>
              <a:t>Same-seed gameplay: pellets, score and revisits</a:t>
            </a:r>
            <a:endParaRPr sz="2300">
              <a:solidFill>
                <a:srgbClr val="1A2433"/>
              </a:solidFill>
            </a:endParaRPr>
          </a:p>
        </p:txBody>
      </p:sp>
      <p:sp>
        <p:nvSpPr>
          <p:cNvPr id="171" name="Google Shape;171;p26"/>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u="sng">
                <a:solidFill>
                  <a:schemeClr val="hlink"/>
                </a:solidFill>
                <a:hlinkClick r:id="rId3"/>
              </a:rPr>
              <a:t>Evaluation maths</a:t>
            </a:r>
            <a:r>
              <a:rPr lang="zh-CN" sz="900">
                <a:solidFill>
                  <a:srgbClr val="5E6E80"/>
                </a:solidFill>
              </a:rPr>
              <a:t> | Teacher agreement is not a full-game win rate or new-maze generalization.</a:t>
            </a:r>
            <a:endParaRPr sz="900">
              <a:solidFill>
                <a:srgbClr val="5E6E80"/>
              </a:solidFill>
            </a:endParaRPr>
          </a:p>
          <a:p>
            <a:pPr indent="0" lvl="0" marL="0" rtl="0" algn="l">
              <a:lnSpc>
                <a:spcPct val="112000"/>
              </a:lnSpc>
              <a:spcBef>
                <a:spcPts val="800"/>
              </a:spcBef>
              <a:spcAft>
                <a:spcPts val="0"/>
              </a:spcAft>
              <a:buNone/>
            </a:pPr>
            <a:r>
              <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172" name="Google Shape;172;p26"/>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14</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173" name="Google Shape;173;p26"/>
          <p:cNvSpPr txBox="1"/>
          <p:nvPr/>
        </p:nvSpPr>
        <p:spPr>
          <a:xfrm>
            <a:off x="457200" y="4140200"/>
            <a:ext cx="8229600" cy="469800"/>
          </a:xfrm>
          <a:prstGeom prst="rect">
            <a:avLst/>
          </a:prstGeom>
          <a:noFill/>
          <a:ln>
            <a:noFill/>
          </a:ln>
        </p:spPr>
        <p:txBody>
          <a:bodyPr anchorCtr="0" anchor="t" bIns="91425" lIns="91425" spcFirstLastPara="1" rIns="91425" wrap="square" tIns="91425">
            <a:noAutofit/>
          </a:bodyPr>
          <a:lstStyle/>
          <a:p>
            <a:pPr indent="0" lvl="0" marL="0" rtl="0" algn="l">
              <a:lnSpc>
                <a:spcPct val="110000"/>
              </a:lnSpc>
              <a:spcBef>
                <a:spcPts val="0"/>
              </a:spcBef>
              <a:spcAft>
                <a:spcPts val="0"/>
              </a:spcAft>
              <a:buNone/>
            </a:pPr>
            <a:r>
              <a:rPr lang="zh-CN" sz="1350">
                <a:solidFill>
                  <a:srgbClr val="1A2433"/>
                </a:solidFill>
              </a:rPr>
              <a:t>N = 256; y_i: teacher move; a_hat: model move; 1[·]: agreement indicator</a:t>
            </a:r>
            <a:endParaRPr sz="1350">
              <a:solidFill>
                <a:srgbClr val="1A2433"/>
              </a:solidFill>
            </a:endParaRPr>
          </a:p>
        </p:txBody>
      </p:sp>
      <p:pic>
        <p:nvPicPr>
          <p:cNvPr descr="Strict teacher agreement A = 1/N sum_i indicator(model action a_hat_i = teacher y_i); a_hat_i = argmax_j p(j | s_i)." id="174" name="Google Shape;174;p26" title="Evaluate decisions and gameplay"/>
          <p:cNvPicPr preferRelativeResize="0"/>
          <p:nvPr/>
        </p:nvPicPr>
        <p:blipFill>
          <a:blip r:embed="rId4">
            <a:alphaModFix/>
          </a:blip>
          <a:stretch>
            <a:fillRect/>
          </a:stretch>
        </p:blipFill>
        <p:spPr>
          <a:xfrm>
            <a:off x="457200" y="3073400"/>
            <a:ext cx="8229600" cy="10287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27"/>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Submit CP1: show what changed</a:t>
            </a:r>
            <a:endParaRPr b="1" sz="3000">
              <a:solidFill>
                <a:srgbClr val="111829"/>
              </a:solidFill>
            </a:endParaRPr>
          </a:p>
          <a:p>
            <a:pPr indent="0" lvl="0" marL="0" rtl="0" algn="l">
              <a:lnSpc>
                <a:spcPct val="112000"/>
              </a:lnSpc>
              <a:spcBef>
                <a:spcPts val="800"/>
              </a:spcBef>
              <a:spcAft>
                <a:spcPts val="0"/>
              </a:spcAft>
              <a:buNone/>
            </a:pPr>
            <a:r>
              <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180" name="Google Shape;180;p27"/>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Explain a changed move or remaining mistake</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Connect the move to the ghost behaviour</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Show trainable parameters and training curves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Save task adapter and paired evaluation results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Submit the notebook, runtime and compute use</a:t>
            </a:r>
            <a:endParaRPr sz="2300">
              <a:solidFill>
                <a:srgbClr val="1A2433"/>
              </a:solidFill>
            </a:endParaRPr>
          </a:p>
          <a:p>
            <a:pPr indent="0" lvl="0" marL="0" marR="0" rtl="0" algn="l">
              <a:lnSpc>
                <a:spcPct val="112000"/>
              </a:lnSpc>
              <a:spcBef>
                <a:spcPts val="800"/>
              </a:spcBef>
              <a:spcAft>
                <a:spcPts val="0"/>
              </a:spcAft>
              <a:buNone/>
            </a:pPr>
            <a:r>
              <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181" name="Google Shape;181;p27"/>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CP1 evidence: reviewed labels + Pac-Man adapter + measured before/after comparison.</a:t>
            </a:r>
            <a:endParaRPr sz="900">
              <a:solidFill>
                <a:srgbClr val="5E6E80"/>
              </a:solidFill>
            </a:endParaRPr>
          </a:p>
          <a:p>
            <a:pPr indent="0" lvl="0" marL="0" marR="0" rtl="0" algn="l">
              <a:lnSpc>
                <a:spcPct val="112000"/>
              </a:lnSpc>
              <a:spcBef>
                <a:spcPts val="800"/>
              </a:spcBef>
              <a:spcAft>
                <a:spcPts val="0"/>
              </a:spcAft>
              <a:buNone/>
            </a:pPr>
            <a:r>
              <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182" name="Google Shape;182;p27"/>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15</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