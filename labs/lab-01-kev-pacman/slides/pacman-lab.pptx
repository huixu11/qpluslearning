
<file path=[Content_Types].xml><?xml version="1.0" encoding="utf-8"?>
<Types xmlns="http://schemas.openxmlformats.org/package/2006/content-types">
  <Default ContentType="application/xml" Extension="xml"/>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22.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21.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3.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22.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3.xml"/>
  <Override ContentType="application/vnd.openxmlformats-officedocument.presentationml.slide+xml" PartName="/ppt/slides/slide20.xml"/>
  <Override ContentType="application/vnd.openxmlformats-officedocument.presentationml.slide+xml" PartName="/ppt/slides/slide21.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5"/>
  </p:sldMasterIdLst>
  <p:notesMasterIdLst>
    <p:notesMasterId r:id="rId6"/>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D3873B56-893F-467F-BDC1-E29B79847113}">
  <a:tblStyle styleId="{D3873B56-893F-467F-BDC1-E29B79847113}"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22" Type="http://schemas.openxmlformats.org/officeDocument/2006/relationships/slide" Target="slides/slide16.xml"/><Relationship Id="rId21" Type="http://schemas.openxmlformats.org/officeDocument/2006/relationships/slide" Target="slides/slide15.xml"/><Relationship Id="rId24" Type="http://schemas.openxmlformats.org/officeDocument/2006/relationships/slide" Target="slides/slide18.xml"/><Relationship Id="rId23" Type="http://schemas.openxmlformats.org/officeDocument/2006/relationships/slide" Target="slides/slide17.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26" Type="http://schemas.openxmlformats.org/officeDocument/2006/relationships/slide" Target="slides/slide20.xml"/><Relationship Id="rId25" Type="http://schemas.openxmlformats.org/officeDocument/2006/relationships/slide" Target="slides/slide19.xml"/><Relationship Id="rId28" Type="http://schemas.openxmlformats.org/officeDocument/2006/relationships/slide" Target="slides/slide22.xml"/><Relationship Id="rId27" Type="http://schemas.openxmlformats.org/officeDocument/2006/relationships/slide" Target="slides/slide21.xml"/><Relationship Id="rId5" Type="http://schemas.openxmlformats.org/officeDocument/2006/relationships/slideMaster" Target="slideMasters/slideMaster1.xml"/><Relationship Id="rId6" Type="http://schemas.openxmlformats.org/officeDocument/2006/relationships/notesMaster" Target="notesMasters/notesMaster1.xml"/><Relationship Id="rId29" Type="http://schemas.openxmlformats.org/officeDocument/2006/relationships/slide" Target="slides/slide23.xml"/><Relationship Id="rId7" Type="http://schemas.openxmlformats.org/officeDocument/2006/relationships/slide" Target="slides/slide1.xml"/><Relationship Id="rId8" Type="http://schemas.openxmlformats.org/officeDocument/2006/relationships/slide" Target="slides/slide2.xml"/><Relationship Id="rId11" Type="http://schemas.openxmlformats.org/officeDocument/2006/relationships/slide" Target="slides/slide5.xml"/><Relationship Id="rId10" Type="http://schemas.openxmlformats.org/officeDocument/2006/relationships/slide" Target="slides/slide4.xml"/><Relationship Id="rId13" Type="http://schemas.openxmlformats.org/officeDocument/2006/relationships/slide" Target="slides/slide7.xml"/><Relationship Id="rId12" Type="http://schemas.openxmlformats.org/officeDocument/2006/relationships/slide" Target="slides/slide6.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19" Type="http://schemas.openxmlformats.org/officeDocument/2006/relationships/slide" Target="slides/slide13.xml"/><Relationship Id="rId18"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0" name="Shape 50"/>
        <p:cNvGrpSpPr/>
        <p:nvPr/>
      </p:nvGrpSpPr>
      <p:grpSpPr>
        <a:xfrm>
          <a:off x="0" y="0"/>
          <a:ext cx="0" cy="0"/>
          <a:chOff x="0" y="0"/>
          <a:chExt cx="0" cy="0"/>
        </a:xfrm>
      </p:grpSpPr>
      <p:sp>
        <p:nvSpPr>
          <p:cNvPr id="51" name="Google Shape;51;kev_lab_0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52" name="Google Shape;52;kev_lab_0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Small-model Kev trains low-rank encoder adapters and a pointer head. Original base matrices stay fixed, but effective features change. CLM trains state/action projection heads and a similarity scale over completely fixed LLM features. Kev-27B is a separate full-fine-tuning recipe. The Pac-Man lab uses Kev-0.8B with the published decision-v7 base stage, then supervised player-domain adaptation. The comparison remains useful for understanding independent action caching and repeated training cost.</a:t>
            </a:r>
            <a:endParaRPr/>
          </a:p>
          <a:p>
            <a:pPr indent="0" lvl="0" marL="0" rtl="0" algn="l">
              <a:spcBef>
                <a:spcPts val="0"/>
              </a:spcBef>
              <a:spcAft>
                <a:spcPts val="0"/>
              </a:spcAft>
              <a:buNone/>
            </a:pPr>
            <a:r>
              <a:rPr lang="zh-CN"/>
              <a:t>Sources: https://github.com/jaredpalmer/kev/blob/84847f0a883d900f7de5b7a57eaa341ca7f9a6b4/kev/model.py ; https://github.com/Contrastive-LM/CLM/blob/bb42c6c5bf914fd449bed2f6ca65be80602cb1f7/src/clm/heads.py ; supplied Contrastive Language Models PDF pages 6-8.</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9" name="Shape 59"/>
        <p:cNvGrpSpPr/>
        <p:nvPr/>
      </p:nvGrpSpPr>
      <p:grpSpPr>
        <a:xfrm>
          <a:off x="0" y="0"/>
          <a:ext cx="0" cy="0"/>
          <a:chOff x="0" y="0"/>
          <a:chExt cx="0" cy="0"/>
        </a:xfrm>
      </p:grpSpPr>
      <p:sp>
        <p:nvSpPr>
          <p:cNvPr id="60" name="Google Shape;60;decision_lab_pros: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61" name="Google Shape;61;decision_lab_pros: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Kev's joint causal representation can model state/option interactions before its readout. LoRA can adapt those representations but its benefit over a head-only variant requires a controlled ablation. CLM's independent encodings support reusable actions and cached backbone features; its learned heads can remap existing features but cannot guarantee recovery of information absent from the frozen representation. A larger CLM backbone can offset some representation limitations; this is an architectural inference, not a measured accuracy ordering.</a:t>
            </a:r>
            <a:endParaRPr/>
          </a:p>
          <a:p>
            <a:pPr indent="0" lvl="0" marL="0" rtl="0" algn="l">
              <a:spcBef>
                <a:spcPts val="0"/>
              </a:spcBef>
              <a:spcAft>
                <a:spcPts val="0"/>
              </a:spcAft>
              <a:buNone/>
            </a:pPr>
            <a:r>
              <a:rPr lang="zh-CN"/>
              <a:t>Sources: pinned Kev model.py; pinned CLM heads.py and train/finetune.py; supplied CLM PDF pages 6-8.</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8" name="Shape 68"/>
        <p:cNvGrpSpPr/>
        <p:nvPr/>
      </p:nvGrpSpPr>
      <p:grpSpPr>
        <a:xfrm>
          <a:off x="0" y="0"/>
          <a:ext cx="0" cy="0"/>
          <a:chOff x="0" y="0"/>
          <a:chExt cx="0" cy="0"/>
        </a:xfrm>
      </p:grpSpPr>
      <p:sp>
        <p:nvSpPr>
          <p:cNvPr id="69" name="Google Shape;69;decision_lab_training_cost: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0" name="Google Shape;70;decision_lab_training_cost: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Conceptual accounting, not dollar estimates: CLM total work = feature extraction + the sum of head-training runs; Kev LoRA = the sum of encoder forward/backward plus head/adapter training runs. A feature cache can be reused across random seeds and head settings while backbone, tokenizer, pooling and input recipe stay fixed. The CLM PDF reports about one hour on an RTX 4090 for the Nemotron head pretraining run after describing precomputed LLM embeddings. It does not establish the end-to-end time including extraction, download, dataset preparation or synthetic-negative generation. A LoRA model has fewer trainable parameters than full fine-tuning but still needs encoder activations and backpropagation. Free quotas change payments, not the amount of compute. Record actual hardware-hours rather than inventing prices.</a:t>
            </a:r>
            <a:endParaRPr/>
          </a:p>
          <a:p>
            <a:pPr indent="0" lvl="0" marL="0" rtl="0" algn="l">
              <a:spcBef>
                <a:spcPts val="0"/>
              </a:spcBef>
              <a:spcAft>
                <a:spcPts val="0"/>
              </a:spcAft>
              <a:buNone/>
            </a:pPr>
            <a:r>
              <a:rPr lang="zh-CN"/>
              <a:t>Sources: supplied CLM PDF page 6; https://github.com/Contrastive-LM/CLM/blob/bb42c6c5bf914fd449bed2f6ca65be80602cb1f7/train/finetune.py ; pinned Kev model.py and train.py.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7" name="Shape 77"/>
        <p:cNvGrpSpPr/>
        <p:nvPr/>
      </p:nvGrpSpPr>
      <p:grpSpPr>
        <a:xfrm>
          <a:off x="0" y="0"/>
          <a:ext cx="0" cy="0"/>
          <a:chOff x="0" y="0"/>
          <a:chExt cx="0" cy="0"/>
        </a:xfrm>
      </p:grpSpPr>
      <p:sp>
        <p:nvSpPr>
          <p:cNvPr id="78" name="Google Shape;78;decision_lab_serving_cost: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79" name="Google Shape;79;decision_lab_serving_cost: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Decimal GB estimates use rounded parameter counts and BF16's two bytes per parameter. They exclude tokenizer/embedding peculiarities, heads, KV or recurrent state, activations, quantization metadata and runtime overhead. Do not present these as peak memory measurements. CLM's state and action paths can use one shared frozen backbone instance. CLM action reuse saves repeated action token encoding; it is especially useful with repeated or many/long actions. It does not guarantee that released CLM-8B beats released Kev-0.8B or Kev-4B on four short directions. Quantization and backend implementations also affect serving cost and accuracy.</a:t>
            </a:r>
            <a:endParaRPr/>
          </a:p>
          <a:p>
            <a:pPr indent="0" lvl="0" marL="0" rtl="0" algn="l">
              <a:spcBef>
                <a:spcPts val="0"/>
              </a:spcBef>
              <a:spcAft>
                <a:spcPts val="0"/>
              </a:spcAft>
              <a:buNone/>
            </a:pPr>
            <a:r>
              <a:rPr lang="zh-CN"/>
              <a:t>Sources: https://github.com/jaredpalmer/kev ; https://github.com/Contrastive-LM/CLM ; supplied CLM PDF pages 6-8.</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6" name="Shape 86"/>
        <p:cNvGrpSpPr/>
        <p:nvPr/>
      </p:nvGrpSpPr>
      <p:grpSpPr>
        <a:xfrm>
          <a:off x="0" y="0"/>
          <a:ext cx="0" cy="0"/>
          <a:chOff x="0" y="0"/>
          <a:chExt cx="0" cy="0"/>
        </a:xfrm>
      </p:grpSpPr>
      <p:sp>
        <p:nvSpPr>
          <p:cNvPr id="87" name="Google Shape;87;decision_lab_performance: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88" name="Google Shape;88;decision_lab_performance: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CLM PDF page 7: a 200-token state, 15 tokens per candidate, one RTX 4090 and five trials; latency rises from 36 ms for one cached candidate to 44 ms for 1,024. Its ~13x at 1,024 candidates is versus hosted Jev, not Kev. The llama.cpp announcement reports a 12 ms median for Kev-4B on RTX PRO 6000 for one question; it is not a matched run against CLM. Never divide 36 by 12 to infer a comparative speedup. No matched Kev-vs-CLM Pac-Man benchmark was identified in the reviewed sources. Their published accuracy suites and training data differ. Our 16-board sample is only a demonstration, not evidence of general superiority.</a:t>
            </a:r>
            <a:endParaRPr/>
          </a:p>
          <a:p>
            <a:pPr indent="0" lvl="0" marL="0" rtl="0" algn="l">
              <a:spcBef>
                <a:spcPts val="0"/>
              </a:spcBef>
              <a:spcAft>
                <a:spcPts val="0"/>
              </a:spcAft>
              <a:buNone/>
            </a:pPr>
            <a:r>
              <a:rPr lang="zh-CN"/>
              <a:t>Sources: supplied CLM PDF page 7; https://huggingface.co/blog/ggml-org/decision-models-in-llamacpp ; https://github.com/jaredpalmer/kev ; https://github.com/Contrastive-LM/CLM .</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decision_lab_models: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97" name="Google Shape;97;decision_lab_models: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Supported list is the October 2, 2026 release, not an exhaustive list of decision models. Julia and Laya use the same laya-style backend in llama.cpp: ModernBERT-family encoder, two decision transformer layers, type embedding and per-option MASK-marker scorer. Julia's training pipeline and exact freezing policy are not disclosed. Laya's published root architecture fully fine-tunes ModernBERT-large. Kev's small-model recipe trains LoRA and a pointer head. lev conversion supports mode A vocabulary-label readout only, not its mode B candidate-path head. Choice is evaluated in two orders and averaged. OpenJev is an independent project, not TypeSafe's hosted Jev; its card specifies decision tuning but not exactly which components received gradients. OpenJev's llama.cpp build supports a multimodal projector, even though some earlier quantized builds in its author's card are text-only. Do not generalize multilingual Laya subfolder capabilities to the English root checkpoint.</a:t>
            </a:r>
            <a:endParaRPr/>
          </a:p>
          <a:p>
            <a:pPr indent="0" lvl="0" marL="0" rtl="0" algn="l">
              <a:spcBef>
                <a:spcPts val="0"/>
              </a:spcBef>
              <a:spcAft>
                <a:spcPts val="0"/>
              </a:spcAft>
              <a:buNone/>
            </a:pPr>
            <a:r>
              <a:rPr lang="zh-CN"/>
              <a:t>Sources: https://huggingface.co/blog/ggml-org/decision-models-in-llamacpp ; https://github.com/ggml-org/llama.cpp/pull/29818 ; https://huggingface.co/SupersonicLabs/Julia-1 ; https://huggingface.co/convaiinnovations/laya ; https://huggingface.co/interfaze-ai/lev ; https://huggingface.co/openjev/openjev .</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4" name="Shape 104"/>
        <p:cNvGrpSpPr/>
        <p:nvPr/>
      </p:nvGrpSpPr>
      <p:grpSpPr>
        <a:xfrm>
          <a:off x="0" y="0"/>
          <a:ext cx="0" cy="0"/>
          <a:chOff x="0" y="0"/>
          <a:chExt cx="0" cy="0"/>
        </a:xfrm>
      </p:grpSpPr>
      <p:sp>
        <p:nvSpPr>
          <p:cNvPr id="105" name="Google Shape;105;decision_lab_cpp: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06" name="Google Shape;106;decision_lab_cpp: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merged llama.cpp PR adds decision type metadata, System One prompt templates, native score readouts and calibrated output formatting. Kev conversion merges alpha/r * B@A into floating-point base weights before later quantization, and embeds the pointer head in the GGUF. Inference weights are therefore adapted even though original matrices were fixed during LoRA training. Laya/Julia output option-marker scores; Kev outputs query/key vectors and dot products; lev/OpenJev read selected vocabulary logits. Causal tasks can share prompt prefixes. Multiple questions and lev's two choice variants can require multiple evaluations: zero output tokens is not one physical forward operation per HTTP request. This endpoint is for inference and does not supply a CLM training pipeline.</a:t>
            </a:r>
            <a:endParaRPr/>
          </a:p>
          <a:p>
            <a:pPr indent="0" lvl="0" marL="0" rtl="0" algn="l">
              <a:spcBef>
                <a:spcPts val="0"/>
              </a:spcBef>
              <a:spcAft>
                <a:spcPts val="0"/>
              </a:spcAft>
              <a:buNone/>
            </a:pPr>
            <a:r>
              <a:rPr lang="zh-CN"/>
              <a:t>Sources: https://github.com/ggml-org/llama.cpp/pull/29818 ; https://github.com/ggml-org/llama.cpp/blob/master/conversion/lev.py ; https://github.com/ggml-org/llama.cpp/blob/master/tools/server/server-decision.cpp .</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2" name="Shape 112"/>
        <p:cNvGrpSpPr/>
        <p:nvPr/>
      </p:nvGrpSpPr>
      <p:grpSpPr>
        <a:xfrm>
          <a:off x="0" y="0"/>
          <a:ext cx="0" cy="0"/>
          <a:chOff x="0" y="0"/>
          <a:chExt cx="0" cy="0"/>
        </a:xfrm>
      </p:grpSpPr>
      <p:sp>
        <p:nvSpPr>
          <p:cNvPr id="113" name="Google Shape;113;decision_lab_sglang: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14" name="Google Shape;114;decision_lab_sglang: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Status checked October 2, 2026. The shipped generic API requires no new decision head: chat-template prompts with thinking disabled score single-token answer labels via the shared /v1/score path. PR #41208 merged September 25; the earlier #40992 was closed into that stack. One prompt is built per question and items are batched. The generation/scoring request uses max_new_tokens=0. Ordinary Radix caching reuses token prefixes rather than separately encoded actions. Benefit: reuse a served chat model with no head training. Costs: each new state/question still needs prompt encoding and prefill, and the documentation's validated models are large. Models named on slide were validated on one H200 in BF16; this is not proof of free-GPU fit or a head-to-head latency benchmark. Label softmax is conditional on offered labels; label_mass/x_label_mass exposes full-vocabulary mass, and confidence needs task calibration. Hybrid-attention probabilities may shift across cold/warm cache and batch composition. LoRA adapter selection through the request is refused. Native Intern-Decision 0.8B/2B/4B option-marker support in #41712 (2B unverified; prerequisite #41724), and generic image input in #41922, are open proposals, not merged capabilities. Native Kev pointer-head and CLM projection-head support is not established by these docs.</a:t>
            </a:r>
            <a:endParaRPr/>
          </a:p>
          <a:p>
            <a:pPr indent="0" lvl="0" marL="0" rtl="0" algn="l">
              <a:spcBef>
                <a:spcPts val="0"/>
              </a:spcBef>
              <a:spcAft>
                <a:spcPts val="0"/>
              </a:spcAft>
              <a:buNone/>
            </a:pPr>
            <a:r>
              <a:rPr lang="zh-CN"/>
              <a:t>Sources: https://lmsysorg.mintlify.app/docs/supported-models/decision_models ; https://github.com/sgl-project/sglang/pull/41208 ; https://github.com/sgl-project/sglang/pull/41712 ; https://github.com/sgl-project/sglang/pull/41724 ; https://github.com/sgl-project/sglang/pull/41922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0" name="Shape 120"/>
        <p:cNvGrpSpPr/>
        <p:nvPr/>
      </p:nvGrpSpPr>
      <p:grpSpPr>
        <a:xfrm>
          <a:off x="0" y="0"/>
          <a:ext cx="0" cy="0"/>
          <a:chOff x="0" y="0"/>
          <a:chExt cx="0" cy="0"/>
        </a:xfrm>
      </p:grpSpPr>
      <p:sp>
        <p:nvSpPr>
          <p:cNvPr id="121" name="Google Shape;121;decision_lab_benchmark: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22" name="Google Shape;122;decision_lab_benchmark: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A product comparison can compare actual released checkpoints, but its result combines backbone size, pretraining, decision data, objective, head and runtime. An architecture experiment should match the pretrained backbone, input budget, examples, splits, training budget and hardware, and vary joint pointer/LoRA versus frozen dual-encoder heads deliberately. Include a rule-based teacher baseline. Record encoder time separately from projection/scoring and end-to-end latency; use p50/p95 over enough repeats, cache-cold and action-cache-warm runs, identical quantization where meaningful, peak allocated memory, hardware model and checkpoint IDs. A smaller Kev may cost less at inference despite CLM's reusable actions. This is a proposed protocol, not measured results.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kev_lab_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0" name="Google Shape;130;kev_lab_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main lab follows Kev's published small-model recipe. Start with the pinned, already pretrained Qwen3.5-0.8B base, fresh rank-16 LoRA (alpha 32) and a fresh pointer head. Initial decision-v7 training belongs in prework. Class domain adaptation uses --init_from the learner's own initial checkpoint and Pac-Man labels. This is supervised imitation of player moves. Ghosts follow deterministic game code. Original base matrices remain frozen but LoRA changes the effective representation. The released model also has dates, documents/skills and calibration stages, which this exercise does not reproduce. Training and live browser timing still require a GPU preflight.</a:t>
            </a:r>
            <a:endParaRPr/>
          </a:p>
          <a:p>
            <a:pPr indent="0" lvl="0" marL="0" rtl="0" algn="l">
              <a:spcBef>
                <a:spcPts val="0"/>
              </a:spcBef>
              <a:spcAft>
                <a:spcPts val="0"/>
              </a:spcAft>
              <a:buNone/>
            </a:pPr>
            <a:r>
              <a:rPr lang="zh-CN"/>
              <a:t>Sources: https://github.com/jaredpalmer/kev/blob/84847f0a883d900f7de5b7a57eaa341ca7f9a6b4/docs/model-cards/kev-0.8b.md ; lab/notebooks/pacman_kev_lab.ipynb.</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6" name="Shape 136"/>
        <p:cNvGrpSpPr/>
        <p:nvPr/>
      </p:nvGrpSpPr>
      <p:grpSpPr>
        <a:xfrm>
          <a:off x="0" y="0"/>
          <a:ext cx="0" cy="0"/>
          <a:chOff x="0" y="0"/>
          <a:chExt cx="0" cy="0"/>
        </a:xfrm>
      </p:grpSpPr>
      <p:sp>
        <p:nvSpPr>
          <p:cNvPr id="137" name="Google Shape;137;kev_lab_0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38" name="Google Shape;138;kev_lab_0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Installation, verified training-data/base downloads and the full initial decision-v7 run are prework. This preserves the published two-epoch recipe while retaining a 90-minute class and mandatory 30-minute domain fine-tuning block. Class CP1 inspects the fresh-training checkpoint, configuration and parameter audit. CP3 allocates 5 minutes to inspect data/loss, up to 20 minutes to run adaptation, and 5 minutes to inspect/save. Classroom budgets are scheduling assumptions pending measured GPU preflight, not benchmark predictions.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4" name="Shape 144"/>
        <p:cNvGrpSpPr/>
        <p:nvPr/>
      </p:nvGrpSpPr>
      <p:grpSpPr>
        <a:xfrm>
          <a:off x="0" y="0"/>
          <a:ext cx="0" cy="0"/>
          <a:chOff x="0" y="0"/>
          <a:chExt cx="0" cy="0"/>
        </a:xfrm>
      </p:grpSpPr>
      <p:sp>
        <p:nvSpPr>
          <p:cNvPr id="145" name="Google Shape;145;kev_lab_0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46" name="Google Shape;146;kev_lab_0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teaching assumption is one RTX PRO 6000 Blackwell GPU in Colab. NVIDIA specifies 96 GB for the full Server Edition. Record actual device name and allocated memory instead of assuming the full physical card. Colab premium GPU availability varies, including on paid plans. Learners arrange access before class and record compute units consumed and elapsed time. cloud_runtime.py installs pinned Kev with uv --frozen into a separate Python 3.13 environment, tests CUDA forward/backward and BF16, and writes runtime-preflight.json. Initial training uses BF16 autocast over FP32 stored weights, with FP32 LoRA/head. Inference uses BF16. This is the verified reference implementation path without optional fused kernels/CUDA graphs; measure its timing rather than inheriting release serving benchmarks. The pinned CUDA 12.8 build does not support P100/Pascal. A separately timed T4 fallback needs a prepared initial checkpoint and FP32 domain adaptation. Live browser uses the Colab callback to loopback, without a public endpoint.</a:t>
            </a:r>
            <a:endParaRPr/>
          </a:p>
          <a:p>
            <a:pPr indent="0" lvl="0" marL="0" rtl="0" algn="l">
              <a:spcBef>
                <a:spcPts val="0"/>
              </a:spcBef>
              <a:spcAft>
                <a:spcPts val="0"/>
              </a:spcAft>
              <a:buNone/>
            </a:pPr>
            <a:r>
              <a:rPr lang="zh-CN"/>
              <a:t>Sources: https://research.google.com/colaboratory/faq.html ; https://www.nvidia.com/en-us/data-center/rtx-pro-6000-blackwell-server-edition/ ; https://pytorch.org/blog/pytorch-2-7/ ; https://dev-discuss.pytorch.org/t/cuda-toolkit-version-and-architecture-support-update-maxwell-and-pascal-architecture-support-removed-in-cuda-12-8-and-12-9-builds/3128 ; lab/cloud_runtime.py.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2" name="Shape 152"/>
        <p:cNvGrpSpPr/>
        <p:nvPr/>
      </p:nvGrpSpPr>
      <p:grpSpPr>
        <a:xfrm>
          <a:off x="0" y="0"/>
          <a:ext cx="0" cy="0"/>
          <a:chOff x="0" y="0"/>
          <a:chExt cx="0" cy="0"/>
        </a:xfrm>
      </p:grpSpPr>
      <p:sp>
        <p:nvSpPr>
          <p:cNvPr id="153" name="Google Shape;153;kev_lab_0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54" name="Google Shape;154;kev_lab_0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Keep the established player/ghost role. Existing community adaptation has one 13-by-15 maze, two deterministic ghosts and no power pellets. Ghosts move after every second player move. The simulation waits for inference, so wall-clock survival confounds latency with skill. No screenshot encoder or ROM is used in this lab.</a:t>
            </a:r>
            <a:endParaRPr/>
          </a:p>
          <a:p>
            <a:pPr indent="0" lvl="0" marL="0" rtl="0" algn="l">
              <a:spcBef>
                <a:spcPts val="0"/>
              </a:spcBef>
              <a:spcAft>
                <a:spcPts val="0"/>
              </a:spcAft>
              <a:buNone/>
            </a:pPr>
            <a:r>
              <a:rPr lang="zh-CN"/>
              <a:t>Source: https://github.com/codaaiteam/jev-pacman/tree/8446fe74690cd61909bda91acfadbccb0f02b422 ; lab/pacman_lab.py.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0" name="Shape 160"/>
        <p:cNvGrpSpPr/>
        <p:nvPr/>
      </p:nvGrpSpPr>
      <p:grpSpPr>
        <a:xfrm>
          <a:off x="0" y="0"/>
          <a:ext cx="0" cy="0"/>
          <a:chOff x="0" y="0"/>
          <a:chExt cx="0" cy="0"/>
        </a:xfrm>
      </p:grpSpPr>
      <p:sp>
        <p:nvSpPr>
          <p:cNvPr id="161" name="Google Shape;161;kev_lab_0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62" name="Google Shape;162;kev_lab_0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game constructs caller-supplied criteria containing legal directions and their destination tiles. Kev jointly encodes state, question and options. Its head has query/key Linear projections from hidden_size to 256 and computes scaled dot products, then softmax over options. Hybrid Qwen3.5 handles each question as a causal row continuing from the shared state. This is contextual option scoring, unlike CLM's independent action encodings. Legal directions come from the maze rules. Probability reflects the offered options and is not a maze-clearing probability. The notebook serves the learner's initial checkpoint through /v1/systemone and connects the game via a Colab callback.</a:t>
            </a:r>
            <a:endParaRPr/>
          </a:p>
          <a:p>
            <a:pPr indent="0" lvl="0" marL="0" rtl="0" algn="l">
              <a:spcBef>
                <a:spcPts val="0"/>
              </a:spcBef>
              <a:spcAft>
                <a:spcPts val="0"/>
              </a:spcAft>
              <a:buNone/>
            </a:pPr>
            <a:r>
              <a:rPr lang="zh-CN"/>
              <a:t>Sources: pinned Kev model.py PointerHead, rows_of and encode; lab/pacman_lab.py.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8" name="Shape 168"/>
        <p:cNvGrpSpPr/>
        <p:nvPr/>
      </p:nvGrpSpPr>
      <p:grpSpPr>
        <a:xfrm>
          <a:off x="0" y="0"/>
          <a:ext cx="0" cy="0"/>
          <a:chOff x="0" y="0"/>
          <a:chExt cx="0" cy="0"/>
        </a:xfrm>
      </p:grpSpPr>
      <p:sp>
        <p:nvSpPr>
          <p:cNvPr id="169" name="Google Shape;169;kev_lab_0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0" name="Google Shape;170;kev_lab_0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Temperature and confidence formulas differ across wrappers, even behind System One-compatible APIs. Fit or evaluate calibration on development data, preserve it for evaluation, and compare Brier or log loss rather than assuming one shared confidence cutoff is meaningful. A one-step teacher label is not a full-game reward target. Keep learner uncertainty discussion tied to observed paired decisions, not a guarantee of safety or optimal play.</a:t>
            </a:r>
            <a:endParaRPr/>
          </a:p>
          <a:p>
            <a:pPr indent="0" lvl="0" marL="0" rtl="0" algn="l">
              <a:spcBef>
                <a:spcPts val="0"/>
              </a:spcBef>
              <a:spcAft>
                <a:spcPts val="0"/>
              </a:spcAft>
              <a:buNone/>
            </a:pPr>
            <a:r>
              <a:rPr lang="zh-CN"/>
              <a:t>Sources: pinned Kev api.py; pinned CLM schema.py; llama.cpp tools/server/server-decision.cpp.</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6" name="Shape 176"/>
        <p:cNvGrpSpPr/>
        <p:nvPr/>
      </p:nvGrpSpPr>
      <p:grpSpPr>
        <a:xfrm>
          <a:off x="0" y="0"/>
          <a:ext cx="0" cy="0"/>
          <a:chOff x="0" y="0"/>
          <a:chExt cx="0" cy="0"/>
        </a:xfrm>
      </p:grpSpPr>
      <p:sp>
        <p:nvSpPr>
          <p:cNvPr id="177" name="Google Shape;177;kev_lab_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78" name="Google Shape;178;kev_lab_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existing reproducible dataset is retained: immediate safety, shortest paths to dots, ghost separation and a fixed direction tie order. It is heuristic imitation on one maze, not optimal actions or human recordings. Position groups are disjoint across splits. Kev adaptation uses labelled System One JSONL with each structured state, movement question, legal criteria and correct direction. Learners can replace teacher labels only in the training partition. Do not leak labels or metadata into observations, and do not tune on the 16 evaluation boards.</a:t>
            </a:r>
            <a:endParaRPr/>
          </a:p>
          <a:p>
            <a:pPr indent="0" lvl="0" marL="0" rtl="0" algn="l">
              <a:spcBef>
                <a:spcPts val="0"/>
              </a:spcBef>
              <a:spcAft>
                <a:spcPts val="0"/>
              </a:spcAft>
              <a:buNone/>
            </a:pPr>
            <a:r>
              <a:rPr lang="zh-CN"/>
              <a:t>Source: lab/pacman_lab.py and lab/data/pacman-manifest.json.</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4" name="Shape 184"/>
        <p:cNvGrpSpPr/>
        <p:nvPr/>
      </p:nvGrpSpPr>
      <p:grpSpPr>
        <a:xfrm>
          <a:off x="0" y="0"/>
          <a:ext cx="0" cy="0"/>
          <a:chOff x="0" y="0"/>
          <a:chExt cx="0" cy="0"/>
        </a:xfrm>
      </p:grpSpPr>
      <p:sp>
        <p:nvSpPr>
          <p:cNvPr id="185" name="Google Shape;185;kev_lab_09: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86" name="Google Shape;186;kev_lab_09: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The notebook calls unchanged upstream kev.train and reads the selected seed-2 configuration from experiments/q35-08b.json at the pinned code commit. Base Qwen/Qwen3.5-0.8B-Base revision dc7cdfe2ee4154fa7e30f5b51ca41bfa40174e68. LoRA rank 16 alpha 32 on attention, MLP and DeltaNet projections, pointer dimension 256, batch 8, accumulation 1, two epochs, learning rate 1e-4, AdamW/OneCycleLR, BF16 autocast over FP32 weights. Default option-order/none/distractor augmentation and p_none_pair=0.25 are retained. Upstream suite loader fetches train data from its pinned Hub mirror and verifies manifest checksum/count. No decision adapter/head warm start. The full initial run is prework, with a configurable 90-minute attempt cap. The model card's ~20-minute base run used an H100. No RTX PRO 6000 training time has been measured here. This reproduces the base stage rather than the later full released curriculum.</a:t>
            </a:r>
            <a:endParaRPr/>
          </a:p>
          <a:p>
            <a:pPr indent="0" lvl="0" marL="0" rtl="0" algn="l">
              <a:spcBef>
                <a:spcPts val="0"/>
              </a:spcBef>
              <a:spcAft>
                <a:spcPts val="0"/>
              </a:spcAft>
              <a:buNone/>
            </a:pPr>
            <a:r>
              <a:rPr lang="zh-CN"/>
              <a:t>Sources: https://github.com/jaredpalmer/kev/blob/84847f0a883d900f7de5b7a57eaa341ca7f9a6b4/experiments/q35-08b.json ; pinned Kev train.py, suite.py and model card.</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92" name="Shape 192"/>
        <p:cNvGrpSpPr/>
        <p:nvPr/>
      </p:nvGrpSpPr>
      <p:grpSpPr>
        <a:xfrm>
          <a:off x="0" y="0"/>
          <a:ext cx="0" cy="0"/>
          <a:chOff x="0" y="0"/>
          <a:chExt cx="0" cy="0"/>
        </a:xfrm>
      </p:grpSpPr>
      <p:sp>
        <p:nvSpPr>
          <p:cNvPr id="193" name="Google Shape;193;kev_lab_1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194" name="Google Shape;194;kev_lab_1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Use the learner's full initial decision-v7 checkpoint as --init_from, then the reviewed Pac-Man training JSONL through the upstream custom-data path. Follow the documented fine-tuning settings: two epochs, learning rate 2e-5, batch 1, accumulation 8, BF16 autocast, gradient checkpointing. With 64 admitted rows this gives 16 optimizer steps. Context max_state=2048; record any rejected rows and actual positive step count. The game only offers legal directions, so domain adaptation disables p_none, p_none_distract and p_distract, with no none minimal pairs. Option shuffling remains active. This deliberate task-specific deviation preserves the action set. Stop inference before training and reload after. The 20-minute attempt cap is a class budget, not a measured runtime. If the attempt fails, clearly label a compatible instructor checkpoint instead of claiming learner training succeeded.</a:t>
            </a:r>
            <a:endParaRPr/>
          </a:p>
          <a:p>
            <a:pPr indent="0" lvl="0" marL="0" rtl="0" algn="l">
              <a:spcBef>
                <a:spcPts val="0"/>
              </a:spcBef>
              <a:spcAft>
                <a:spcPts val="0"/>
              </a:spcAft>
              <a:buNone/>
            </a:pPr>
            <a:r>
              <a:rPr lang="zh-CN"/>
              <a:t>Sources: pinned Kev README custom-data fine-tuning section and train.py; lab/cloud_runtime.py.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0" name="Shape 200"/>
        <p:cNvGrpSpPr/>
        <p:nvPr/>
      </p:nvGrpSpPr>
      <p:grpSpPr>
        <a:xfrm>
          <a:off x="0" y="0"/>
          <a:ext cx="0" cy="0"/>
          <a:chOff x="0" y="0"/>
          <a:chExt cx="0" cy="0"/>
        </a:xfrm>
      </p:grpSpPr>
      <p:sp>
        <p:nvSpPr>
          <p:cNvPr id="201" name="Google Shape;201;kev_lab_1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02" name="Google Shape;202;kev_lab_1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prepare_training creates trainable-parameters.json using the pinned DecisionModel and checks that all trainable names belong to LoRA A/B or head parameters, that both groups exist, and that original matrices are fixed. LoRA A is freshly initialized and B starts at zero through PEFT. No trainable token embeddings or full-weight training. Upstream training still backpropagates through the encoder to update adapters. Save adapter_config.json, adapter weights, head.pt, tokenizer files, training_config.json, training_metrics.json and run-evidence.json. The checkpoint loader checks base/revision/rank/head compatibility. run-evidence records the complete command and elapsed time including loading/saving; upstream metrics include optimizer steps and peak device bytes. Parameter audit and CPU checks do not replace a real GPU run.</a:t>
            </a:r>
            <a:endParaRPr/>
          </a:p>
          <a:p>
            <a:pPr indent="0" lvl="0" marL="0" rtl="0" algn="l">
              <a:spcBef>
                <a:spcPts val="0"/>
              </a:spcBef>
              <a:spcAft>
                <a:spcPts val="0"/>
              </a:spcAft>
              <a:buNone/>
            </a:pPr>
            <a:r>
              <a:rPr lang="zh-CN"/>
              <a:t>Sources: pinned Kev model.py, train.py and checkpoint.py; lab/cloud_runtime.py.</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8" name="Shape 208"/>
        <p:cNvGrpSpPr/>
        <p:nvPr/>
      </p:nvGrpSpPr>
      <p:grpSpPr>
        <a:xfrm>
          <a:off x="0" y="0"/>
          <a:ext cx="0" cy="0"/>
          <a:chOff x="0" y="0"/>
          <a:chExt cx="0" cy="0"/>
        </a:xfrm>
      </p:grpSpPr>
      <p:sp>
        <p:nvSpPr>
          <p:cNvPr id="209" name="Google Shape;209;kev_lab_1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0" name="Google Shape;210;kev_lab_1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Compare the learner's initially trained decision-v7 model against the same model after Pac-Man adaptation. Keep base, input recipe, legal actions, ghost rules and runtime precision identical. Decide the candidate using development data before opening evaluation. Report accuracy against heuristic labels and immediate captures after applying each chosen move and the fixed ghost rule. Do not substitute a released Kev checkpoint silently or inherit release benchmark/calibration scores. The teacher is a heuristic, not optimal human gameplay. Report unchanged decisions and regressions.</a:t>
            </a:r>
            <a:endParaRPr/>
          </a:p>
          <a:p>
            <a:pPr indent="0" lvl="0" marL="0" rtl="0" algn="l">
              <a:spcBef>
                <a:spcPts val="0"/>
              </a:spcBef>
              <a:spcAft>
                <a:spcPts val="0"/>
              </a:spcAft>
              <a:buNone/>
            </a:pPr>
            <a:r>
              <a:rPr lang="zh-CN"/>
              <a:t>Source: lab/pacman_lab.py and lab/notebooks/pacman_kev_lab.ipynb.</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kev_lab_1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kev_lab_1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Keep the existing capped 24-turn initial/fine-tuned rollout pair and rules teacher. Two trajectories illustrate behavior, not average win rate. Save HTTP latency for paired evaluations and report enough repeats for a meaningful later p50/p95 benchmark. CUDA kernel/graph options and serving precision affect latency. Keep them identical and state this notebook disables optional fused kernels/graphs for its reference path. Record upstream peak_device_bytes and training wall_seconds, helper elapsed time including load/save, and actual Colab compute-unit use rather than inventing a fixed dollar rate. No GPU or live browser results have been collected for this revision. Broader evaluation needs multiple starts and held-out mazes.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4" name="Shape 224"/>
        <p:cNvGrpSpPr/>
        <p:nvPr/>
      </p:nvGrpSpPr>
      <p:grpSpPr>
        <a:xfrm>
          <a:off x="0" y="0"/>
          <a:ext cx="0" cy="0"/>
          <a:chOff x="0" y="0"/>
          <a:chExt cx="0" cy="0"/>
        </a:xfrm>
      </p:grpSpPr>
      <p:sp>
        <p:nvSpPr>
          <p:cNvPr id="225" name="Google Shape;225;kev_lab_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6" name="Google Shape;226;kev_lab_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Submit executed notebook, reviewed training JSONL, initial and Pac-Man adapter/head checkpoints, base/code/suite provenance, both training configurations/metrics, trainable-parameters.json, runtime-preflight.json and comparison.json. Package small adapter/head files and tokenizer/configuration, without full foundation-model weights or installed dependencies. Record actual Colab compute-unit use. Save outputs before temporary runtime disconnects. Explain why LoRA changes representations while original matrices remain fixed, and contrast with CLM's independently reusable action features.</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2" name="Shape 232"/>
        <p:cNvGrpSpPr/>
        <p:nvPr/>
      </p:nvGrpSpPr>
      <p:grpSpPr>
        <a:xfrm>
          <a:off x="0" y="0"/>
          <a:ext cx="0" cy="0"/>
          <a:chOff x="0" y="0"/>
          <a:chExt cx="0" cy="0"/>
        </a:xfrm>
      </p:grpSpPr>
      <p:sp>
        <p:nvSpPr>
          <p:cNvPr id="233" name="Google Shape;233;kev_lab_1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4" name="Google Shape;234;kev_lab_1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zh-CN"/>
              <a:t>This is an adaptation of the independently authored MIT Jev Pac-Man game, not an official Kev/CLM game release. Preserve the maze, renderer and license. Replace controllers so the learned model controls Pac-Man and fixed code controls ghosts. The notebook integrates the player's /v1/systemone request with a Colab callback and provides Python evaluation/rollouts. GPU training and live callback need instructor preflight. The comparison/lab slides are native editable objects. The original 30-slide lecture stays unchanged.</a:t>
            </a:r>
            <a:endParaRPr/>
          </a:p>
          <a:p>
            <a:pPr indent="0" lvl="0" marL="0" rtl="0" algn="l">
              <a:spcBef>
                <a:spcPts val="0"/>
              </a:spcBef>
              <a:spcAft>
                <a:spcPts val="0"/>
              </a:spcAft>
              <a:buNone/>
            </a:pPr>
            <a:r>
              <a:rPr lang="zh-CN"/>
              <a:t>Source: https://github.com/codaaiteam/jev-pacman/tree/8446fe74690cd61909bda91acfadbccb0f02b422 .</a:t>
            </a:r>
            <a:endParaRPr/>
          </a:p>
          <a:p>
            <a:pPr indent="0" lvl="0" marL="0" rtl="0" algn="l">
              <a:spcBef>
                <a:spcPts val="0"/>
              </a:spcBef>
              <a:spcAft>
                <a:spcPts val="0"/>
              </a:spcAft>
              <a:buNone/>
            </a:pPr>
            <a:r>
              <a:t/>
            </a:r>
            <a:endParaRPr/>
          </a:p>
          <a:p>
            <a:pPr indent="0" lvl="0" marL="0" rtl="0" algn="l">
              <a:spcBef>
                <a:spcPts val="0"/>
              </a:spcBef>
              <a:spcAft>
                <a:spcPts val="0"/>
              </a:spcAft>
              <a:buNone/>
            </a:pPr>
            <a:r>
              <a:rPr lang="zh-CN"/>
              <a:t>Reference URLs checked October 2, 2026:</a:t>
            </a:r>
            <a:endParaRPr/>
          </a:p>
          <a:p>
            <a:pPr indent="0" lvl="0" marL="0" rtl="0" algn="l">
              <a:spcBef>
                <a:spcPts val="0"/>
              </a:spcBef>
              <a:spcAft>
                <a:spcPts val="0"/>
              </a:spcAft>
              <a:buNone/>
            </a:pPr>
            <a:r>
              <a:rPr lang="zh-CN"/>
              <a:t>https://github.com/jaredpalmer/kev/tree/84847f0a883d900f7de5b7a57eaa341ca7f9a6b4</a:t>
            </a:r>
            <a:endParaRPr/>
          </a:p>
          <a:p>
            <a:pPr indent="0" lvl="0" marL="0" rtl="0" algn="l">
              <a:spcBef>
                <a:spcPts val="0"/>
              </a:spcBef>
              <a:spcAft>
                <a:spcPts val="0"/>
              </a:spcAft>
              <a:buNone/>
            </a:pPr>
            <a:r>
              <a:rPr lang="zh-CN"/>
              <a:t>https://github.com/Contrastive-LM/CLM/tree/bb42c6c5bf914fd449bed2f6ca65be80602cb1f7</a:t>
            </a:r>
            <a:endParaRPr/>
          </a:p>
          <a:p>
            <a:pPr indent="0" lvl="0" marL="0" rtl="0" algn="l">
              <a:spcBef>
                <a:spcPts val="0"/>
              </a:spcBef>
              <a:spcAft>
                <a:spcPts val="0"/>
              </a:spcAft>
              <a:buNone/>
            </a:pPr>
            <a:r>
              <a:rPr lang="zh-CN"/>
              <a:t>https://github.com/Contrastive-LM/CLM/blob/bb42c6c5bf914fd449bed2f6ca65be80602cb1f7/src/clm/heads.py</a:t>
            </a:r>
            <a:endParaRPr/>
          </a:p>
          <a:p>
            <a:pPr indent="0" lvl="0" marL="0" rtl="0" algn="l">
              <a:spcBef>
                <a:spcPts val="0"/>
              </a:spcBef>
              <a:spcAft>
                <a:spcPts val="0"/>
              </a:spcAft>
              <a:buNone/>
            </a:pPr>
            <a:r>
              <a:rPr lang="zh-CN"/>
              <a:t>https://github.com/Contrastive-LM/CLM/blob/bb42c6c5bf914fd449bed2f6ca65be80602cb1f7/train/finetune.py</a:t>
            </a:r>
            <a:endParaRPr/>
          </a:p>
          <a:p>
            <a:pPr indent="0" lvl="0" marL="0" rtl="0" algn="l">
              <a:spcBef>
                <a:spcPts val="0"/>
              </a:spcBef>
              <a:spcAft>
                <a:spcPts val="0"/>
              </a:spcAft>
              <a:buNone/>
            </a:pPr>
            <a:r>
              <a:rPr lang="zh-CN"/>
              <a:t>https://github.com/jaredpalmer/kev/blob/84847f0a883d900f7de5b7a57eaa341ca7f9a6b4/kev/model.py</a:t>
            </a:r>
            <a:endParaRPr/>
          </a:p>
          <a:p>
            <a:pPr indent="0" lvl="0" marL="0" rtl="0" algn="l">
              <a:spcBef>
                <a:spcPts val="0"/>
              </a:spcBef>
              <a:spcAft>
                <a:spcPts val="0"/>
              </a:spcAft>
              <a:buNone/>
            </a:pPr>
            <a:r>
              <a:rPr lang="zh-CN"/>
              <a:t>https://huggingface.co/blog/ggml-org/decision-models-in-llamacpp</a:t>
            </a:r>
            <a:endParaRPr/>
          </a:p>
          <a:p>
            <a:pPr indent="0" lvl="0" marL="0" rtl="0" algn="l">
              <a:spcBef>
                <a:spcPts val="0"/>
              </a:spcBef>
              <a:spcAft>
                <a:spcPts val="0"/>
              </a:spcAft>
              <a:buNone/>
            </a:pPr>
            <a:r>
              <a:rPr lang="zh-CN"/>
              <a:t>https://github.com/ggml-org/llama.cpp/pull/29818</a:t>
            </a:r>
            <a:endParaRPr/>
          </a:p>
          <a:p>
            <a:pPr indent="0" lvl="0" marL="0" rtl="0" algn="l">
              <a:spcBef>
                <a:spcPts val="0"/>
              </a:spcBef>
              <a:spcAft>
                <a:spcPts val="0"/>
              </a:spcAft>
              <a:buNone/>
            </a:pPr>
            <a:r>
              <a:rPr lang="zh-CN"/>
              <a:t>CLM article: supplied Contrastive Language Models PDF, pages 6-8; https://contrastive-lm.notion.site/</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zh-C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zh-C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5.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111829"/>
        </a:solidFill>
      </p:bgPr>
    </p:bg>
    <p:spTree>
      <p:nvGrpSpPr>
        <p:cNvPr id="53" name="Shape 53"/>
        <p:cNvGrpSpPr/>
        <p:nvPr/>
      </p:nvGrpSpPr>
      <p:grpSpPr>
        <a:xfrm>
          <a:off x="0" y="0"/>
          <a:ext cx="0" cy="0"/>
          <a:chOff x="0" y="0"/>
          <a:chExt cx="0" cy="0"/>
        </a:xfrm>
      </p:grpSpPr>
      <p:sp>
        <p:nvSpPr>
          <p:cNvPr id="54" name="Google Shape;54;p13"/>
          <p:cNvSpPr txBox="1"/>
          <p:nvPr>
            <p:ph type="ctrTitle"/>
          </p:nvPr>
        </p:nvSpPr>
        <p:spPr>
          <a:xfrm>
            <a:off x="457200" y="317500"/>
            <a:ext cx="8229600" cy="774600"/>
          </a:xfrm>
          <a:prstGeom prst="rect">
            <a:avLst/>
          </a:prstGeom>
        </p:spPr>
        <p:txBody>
          <a:bodyPr anchorCtr="0" anchor="t" bIns="91425" lIns="91425" spcFirstLastPara="1" rIns="91425" wrap="square" tIns="91425">
            <a:noAutofit/>
          </a:bodyPr>
          <a:lstStyle/>
          <a:p>
            <a:pPr indent="0" lvl="0" marL="0" rtl="0" algn="ctr">
              <a:lnSpc>
                <a:spcPct val="112000"/>
              </a:lnSpc>
              <a:spcBef>
                <a:spcPts val="0"/>
              </a:spcBef>
              <a:spcAft>
                <a:spcPts val="800"/>
              </a:spcAft>
              <a:buNone/>
            </a:pPr>
            <a:r>
              <a:rPr b="1" lang="zh-CN" sz="3800">
                <a:solidFill>
                  <a:srgbClr val="FFFFFF"/>
                </a:solidFill>
              </a:rPr>
              <a:t>Kev and CLM</a:t>
            </a:r>
            <a:endParaRPr b="1" sz="3800">
              <a:solidFill>
                <a:srgbClr val="FFFFFF"/>
              </a:solidFill>
            </a:endParaRPr>
          </a:p>
        </p:txBody>
      </p:sp>
      <p:sp>
        <p:nvSpPr>
          <p:cNvPr id="55" name="Google Shape;55;p13"/>
          <p:cNvSpPr txBox="1"/>
          <p:nvPr>
            <p:ph idx="1" type="subTitle"/>
          </p:nvPr>
        </p:nvSpPr>
        <p:spPr>
          <a:xfrm>
            <a:off x="457200" y="4356100"/>
            <a:ext cx="8229600" cy="342900"/>
          </a:xfrm>
          <a:prstGeom prst="rect">
            <a:avLst/>
          </a:prstGeom>
        </p:spPr>
        <p:txBody>
          <a:bodyPr anchorCtr="0" anchor="t" bIns="91425" lIns="91425" spcFirstLastPara="1" rIns="91425" wrap="square" tIns="91425">
            <a:noAutofit/>
          </a:bodyPr>
          <a:lstStyle/>
          <a:p>
            <a:pPr indent="0" lvl="0" marL="0" rtl="0" algn="ctr">
              <a:lnSpc>
                <a:spcPct val="112000"/>
              </a:lnSpc>
              <a:spcBef>
                <a:spcPts val="0"/>
              </a:spcBef>
              <a:spcAft>
                <a:spcPts val="800"/>
              </a:spcAft>
              <a:buNone/>
            </a:pPr>
            <a:r>
              <a:rPr lang="zh-CN" sz="1700">
                <a:solidFill>
                  <a:srgbClr val="CCE0E8"/>
                </a:solidFill>
              </a:rPr>
              <a:t>Our lab follows Kev's LoRA + pointer-head recipe.</a:t>
            </a:r>
            <a:endParaRPr sz="1700">
              <a:solidFill>
                <a:srgbClr val="CCE0E8"/>
              </a:solidFill>
            </a:endParaRPr>
          </a:p>
        </p:txBody>
      </p:sp>
      <p:sp>
        <p:nvSpPr>
          <p:cNvPr id="56" name="Google Shape;56;p13"/>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A3BAC7"/>
                </a:solidFill>
              </a:rPr>
              <a:t>Pac-Man lab | 90 minutes | 30-minute fine-tuning block</a:t>
            </a:r>
            <a:endParaRPr sz="900">
              <a:solidFill>
                <a:srgbClr val="A3BAC7"/>
              </a:solidFill>
            </a:endParaRPr>
          </a:p>
        </p:txBody>
      </p:sp>
      <p:sp>
        <p:nvSpPr>
          <p:cNvPr id="57" name="Google Shape;57;p13"/>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A3BAC7"/>
                </a:solidFill>
              </a:rPr>
              <a:t>1</a:t>
            </a:r>
            <a:endParaRPr sz="900">
              <a:solidFill>
                <a:srgbClr val="A3BAC7"/>
              </a:solidFill>
            </a:endParaRPr>
          </a:p>
        </p:txBody>
      </p:sp>
      <p:graphicFrame>
        <p:nvGraphicFramePr>
          <p:cNvPr id="58" name="Google Shape;58;p13"/>
          <p:cNvGraphicFramePr/>
          <p:nvPr/>
        </p:nvGraphicFramePr>
        <p:xfrm>
          <a:off x="457200" y="1295400"/>
          <a:ext cx="3000000" cy="3000000"/>
        </p:xfrm>
        <a:graphic>
          <a:graphicData uri="http://schemas.openxmlformats.org/drawingml/2006/table">
            <a:tbl>
              <a:tblPr>
                <a:noFill/>
                <a:tableStyleId>{D3873B56-893F-467F-BDC1-E29B79847113}</a:tableStyleId>
              </a:tblPr>
              <a:tblGrid>
                <a:gridCol w="1549400"/>
                <a:gridCol w="3314700"/>
                <a:gridCol w="3365500"/>
              </a:tblGrid>
              <a:tr h="431800">
                <a:tc>
                  <a:txBody>
                    <a:bodyPr/>
                    <a:lstStyle/>
                    <a:p>
                      <a:pPr indent="0" lvl="0" marL="0" rtl="0" algn="l">
                        <a:lnSpc>
                          <a:spcPct val="105000"/>
                        </a:lnSpc>
                        <a:spcBef>
                          <a:spcPts val="0"/>
                        </a:spcBef>
                        <a:spcAft>
                          <a:spcPts val="0"/>
                        </a:spcAft>
                        <a:buNone/>
                      </a:pPr>
                      <a:r>
                        <a:rPr b="1" lang="zh-CN" sz="1800">
                          <a:solidFill>
                            <a:srgbClr val="FFFFFF"/>
                          </a:solidFill>
                        </a:rPr>
                        <a:t>Difference</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b="1" lang="zh-CN" sz="1800">
                          <a:solidFill>
                            <a:srgbClr val="FFFFFF"/>
                          </a:solidFill>
                        </a:rPr>
                        <a:t>Kev (small models)</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b="1" lang="zh-CN" sz="1800">
                          <a:solidFill>
                            <a:srgbClr val="FFFFFF"/>
                          </a:solidFill>
                        </a:rPr>
                        <a:t>CLM</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r h="749300">
                <a:tc>
                  <a:txBody>
                    <a:bodyPr/>
                    <a:lstStyle/>
                    <a:p>
                      <a:pPr indent="0" lvl="0" marL="0" rtl="0" algn="l">
                        <a:lnSpc>
                          <a:spcPct val="105000"/>
                        </a:lnSpc>
                        <a:spcBef>
                          <a:spcPts val="0"/>
                        </a:spcBef>
                        <a:spcAft>
                          <a:spcPts val="0"/>
                        </a:spcAft>
                        <a:buNone/>
                      </a:pPr>
                      <a:r>
                        <a:rPr b="1" lang="zh-CN" sz="1800">
                          <a:solidFill>
                            <a:srgbClr val="FFFFFF"/>
                          </a:solidFill>
                        </a:rPr>
                        <a:t>Inputs</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State, question and</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options together</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State and actions</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encoded separately</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r h="749300">
                <a:tc>
                  <a:txBody>
                    <a:bodyPr/>
                    <a:lstStyle/>
                    <a:p>
                      <a:pPr indent="0" lvl="0" marL="0" rtl="0" algn="l">
                        <a:lnSpc>
                          <a:spcPct val="105000"/>
                        </a:lnSpc>
                        <a:spcBef>
                          <a:spcPts val="0"/>
                        </a:spcBef>
                        <a:spcAft>
                          <a:spcPts val="0"/>
                        </a:spcAft>
                        <a:buNone/>
                      </a:pPr>
                      <a:r>
                        <a:rPr b="1" lang="zh-CN" sz="1800">
                          <a:solidFill>
                            <a:srgbClr val="FFFFFF"/>
                          </a:solidFill>
                        </a:rPr>
                        <a:t>Trainable</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LoRA + pointer head</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Projection heads only</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r h="749300">
                <a:tc>
                  <a:txBody>
                    <a:bodyPr/>
                    <a:lstStyle/>
                    <a:p>
                      <a:pPr indent="0" lvl="0" marL="0" rtl="0" algn="l">
                        <a:lnSpc>
                          <a:spcPct val="105000"/>
                        </a:lnSpc>
                        <a:spcBef>
                          <a:spcPts val="0"/>
                        </a:spcBef>
                        <a:spcAft>
                          <a:spcPts val="0"/>
                        </a:spcAft>
                        <a:buNone/>
                      </a:pPr>
                      <a:r>
                        <a:rPr b="1" lang="zh-CN" sz="1800">
                          <a:solidFill>
                            <a:srgbClr val="FFFFFF"/>
                          </a:solidFill>
                        </a:rPr>
                        <a:t>Features</a:t>
                      </a:r>
                      <a:endParaRPr b="1"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Encoder behavior</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changes</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c>
                  <a:txBody>
                    <a:bodyPr/>
                    <a:lstStyle/>
                    <a:p>
                      <a:pPr indent="0" lvl="0" marL="0" rtl="0" algn="l">
                        <a:lnSpc>
                          <a:spcPct val="105000"/>
                        </a:lnSpc>
                        <a:spcBef>
                          <a:spcPts val="0"/>
                        </a:spcBef>
                        <a:spcAft>
                          <a:spcPts val="0"/>
                        </a:spcAft>
                        <a:buNone/>
                      </a:pPr>
                      <a:r>
                        <a:rPr lang="zh-CN" sz="1800">
                          <a:solidFill>
                            <a:srgbClr val="FFFFFF"/>
                          </a:solidFill>
                        </a:rPr>
                        <a:t>LLM features</a:t>
                      </a:r>
                      <a:endParaRPr sz="1800">
                        <a:solidFill>
                          <a:srgbClr val="FFFFFF"/>
                        </a:solidFill>
                      </a:endParaRPr>
                    </a:p>
                    <a:p>
                      <a:pPr indent="0" lvl="0" marL="0" rtl="0" algn="l">
                        <a:lnSpc>
                          <a:spcPct val="105000"/>
                        </a:lnSpc>
                        <a:spcBef>
                          <a:spcPts val="0"/>
                        </a:spcBef>
                        <a:spcAft>
                          <a:spcPts val="0"/>
                        </a:spcAft>
                        <a:buNone/>
                      </a:pPr>
                      <a:r>
                        <a:rPr lang="zh-CN" sz="1800">
                          <a:solidFill>
                            <a:srgbClr val="FFFFFF"/>
                          </a:solidFill>
                        </a:rPr>
                        <a:t>stay fixed</a:t>
                      </a:r>
                      <a:endParaRPr sz="1800">
                        <a:solidFill>
                          <a:srgbClr val="FFFFFF"/>
                        </a:solidFill>
                      </a:endParaRPr>
                    </a:p>
                  </a:txBody>
                  <a:tcPr marT="91425" marB="91425" marR="91425" marL="91425" anchor="ctr">
                    <a:lnL cap="flat" cmpd="sng" w="7625">
                      <a:solidFill>
                        <a:srgbClr val="425063"/>
                      </a:solidFill>
                      <a:prstDash val="solid"/>
                      <a:round/>
                      <a:headEnd len="sm" w="sm" type="none"/>
                      <a:tailEnd len="sm" w="sm" type="none"/>
                    </a:lnL>
                    <a:lnR cap="flat" cmpd="sng" w="7625">
                      <a:solidFill>
                        <a:srgbClr val="425063"/>
                      </a:solidFill>
                      <a:prstDash val="solid"/>
                      <a:round/>
                      <a:headEnd len="sm" w="sm" type="none"/>
                      <a:tailEnd len="sm" w="sm" type="none"/>
                    </a:lnR>
                    <a:lnT cap="flat" cmpd="sng" w="7625">
                      <a:solidFill>
                        <a:srgbClr val="425063"/>
                      </a:solidFill>
                      <a:prstDash val="solid"/>
                      <a:round/>
                      <a:headEnd len="sm" w="sm" type="none"/>
                      <a:tailEnd len="sm" w="sm" type="none"/>
                    </a:lnT>
                    <a:lnB cap="flat" cmpd="sng" w="7625">
                      <a:solidFill>
                        <a:srgbClr val="425063"/>
                      </a:solidFill>
                      <a:prstDash val="solid"/>
                      <a:round/>
                      <a:headEnd len="sm" w="sm" type="none"/>
                      <a:tailEnd len="sm" w="sm" type="none"/>
                    </a:lnB>
                    <a:solidFill>
                      <a:srgbClr val="111827"/>
                    </a:solidFill>
                  </a:tcPr>
                </a:tc>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2" name="Shape 62"/>
        <p:cNvGrpSpPr/>
        <p:nvPr/>
      </p:nvGrpSpPr>
      <p:grpSpPr>
        <a:xfrm>
          <a:off x="0" y="0"/>
          <a:ext cx="0" cy="0"/>
          <a:chOff x="0" y="0"/>
          <a:chExt cx="0" cy="0"/>
        </a:xfrm>
      </p:grpSpPr>
      <p:sp>
        <p:nvSpPr>
          <p:cNvPr id="63" name="Google Shape;63;p14"/>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Kev and CLM: pros and cons</a:t>
            </a:r>
            <a:endParaRPr b="1" sz="3000">
              <a:solidFill>
                <a:srgbClr val="111829"/>
              </a:solidFill>
            </a:endParaRPr>
          </a:p>
        </p:txBody>
      </p:sp>
      <p:sp>
        <p:nvSpPr>
          <p:cNvPr id="64" name="Google Shape;64;p14"/>
          <p:cNvSpPr txBox="1"/>
          <p:nvPr/>
        </p:nvSpPr>
        <p:spPr>
          <a:xfrm>
            <a:off x="457200" y="4356100"/>
            <a:ext cx="8229600" cy="3429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1700">
                <a:solidFill>
                  <a:srgbClr val="1A2433"/>
                </a:solidFill>
              </a:rPr>
              <a:t>Accuracy depends on the backbone, data and task.</a:t>
            </a:r>
            <a:endParaRPr sz="1700">
              <a:solidFill>
                <a:srgbClr val="1A2433"/>
              </a:solidFill>
            </a:endParaRPr>
          </a:p>
        </p:txBody>
      </p:sp>
      <p:sp>
        <p:nvSpPr>
          <p:cNvPr id="65" name="Google Shape;65;p14"/>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Architectural tradeoffs; neither approach is always better</a:t>
            </a:r>
            <a:endParaRPr sz="900">
              <a:solidFill>
                <a:srgbClr val="5E6E80"/>
              </a:solidFill>
            </a:endParaRPr>
          </a:p>
        </p:txBody>
      </p:sp>
      <p:sp>
        <p:nvSpPr>
          <p:cNvPr id="66" name="Google Shape;66;p14"/>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2</a:t>
            </a:r>
            <a:endParaRPr sz="900">
              <a:solidFill>
                <a:srgbClr val="5E6E80"/>
              </a:solidFill>
            </a:endParaRPr>
          </a:p>
        </p:txBody>
      </p:sp>
      <p:graphicFrame>
        <p:nvGraphicFramePr>
          <p:cNvPr id="67" name="Google Shape;67;p14"/>
          <p:cNvGraphicFramePr/>
          <p:nvPr/>
        </p:nvGraphicFramePr>
        <p:xfrm>
          <a:off x="457200" y="1295400"/>
          <a:ext cx="3000000" cy="3000000"/>
        </p:xfrm>
        <a:graphic>
          <a:graphicData uri="http://schemas.openxmlformats.org/drawingml/2006/table">
            <a:tbl>
              <a:tblPr>
                <a:noFill/>
                <a:tableStyleId>{D3873B56-893F-467F-BDC1-E29B79847113}</a:tableStyleId>
              </a:tblPr>
              <a:tblGrid>
                <a:gridCol w="1346200"/>
                <a:gridCol w="3441700"/>
                <a:gridCol w="3441700"/>
              </a:tblGrid>
              <a:tr h="431800">
                <a:tc>
                  <a:txBody>
                    <a:bodyPr/>
                    <a:lstStyle/>
                    <a:p>
                      <a:pPr indent="0" lvl="0" marL="0" rtl="0" algn="l">
                        <a:lnSpc>
                          <a:spcPct val="105000"/>
                        </a:lnSpc>
                        <a:spcBef>
                          <a:spcPts val="0"/>
                        </a:spcBef>
                        <a:spcAft>
                          <a:spcPts val="0"/>
                        </a:spcAft>
                        <a:buNone/>
                      </a:pPr>
                      <a:r>
                        <a:rPr b="1" lang="zh-CN" sz="1800">
                          <a:solidFill>
                            <a:srgbClr val="1A2433"/>
                          </a:solidFill>
                        </a:rPr>
                        <a:t>Criterion</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Kev</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CLM</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Strength</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Adapts encoder features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Small released models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Reuses action embeddings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Cheap repeated head training</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Tradeoff</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Backpropagates through</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the encoder for LoRA</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Depends on fixed features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No joint token interaction</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Lab fit</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marR="0" rtl="0" algn="l">
                        <a:lnSpc>
                          <a:spcPct val="105000"/>
                        </a:lnSpc>
                        <a:spcBef>
                          <a:spcPts val="0"/>
                        </a:spcBef>
                        <a:spcAft>
                          <a:spcPts val="0"/>
                        </a:spcAft>
                        <a:buNone/>
                      </a:pPr>
                      <a:r>
                        <a:rPr lang="zh-CN" sz="1800">
                          <a:solidFill>
                            <a:srgbClr val="1A2433"/>
                          </a:solidFill>
                        </a:rPr>
                        <a:t>Main lab recipe</a:t>
                      </a:r>
                      <a:endParaRPr sz="1800">
                        <a:solidFill>
                          <a:srgbClr val="1A2433"/>
                        </a:solidFill>
                      </a:endParaRPr>
                    </a:p>
                    <a:p>
                      <a:pPr indent="0" lvl="0" marL="0" marR="0" rtl="0" algn="l">
                        <a:lnSpc>
                          <a:spcPct val="105000"/>
                        </a:lnSpc>
                        <a:spcBef>
                          <a:spcPts val="0"/>
                        </a:spcBef>
                        <a:spcAft>
                          <a:spcPts val="0"/>
                        </a:spcAft>
                        <a:buNone/>
                      </a:pPr>
                      <a:r>
                        <a:rPr lang="zh-CN" sz="1800">
                          <a:solidFill>
                            <a:srgbClr val="1A2433"/>
                          </a:solidFill>
                        </a:rPr>
                        <a:t>Full base stage is public</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marR="0" rtl="0" algn="l">
                        <a:lnSpc>
                          <a:spcPct val="105000"/>
                        </a:lnSpc>
                        <a:spcBef>
                          <a:spcPts val="0"/>
                        </a:spcBef>
                        <a:spcAft>
                          <a:spcPts val="0"/>
                        </a:spcAft>
                        <a:buNone/>
                      </a:pPr>
                      <a:r>
                        <a:rPr lang="zh-CN" sz="1800">
                          <a:solidFill>
                            <a:srgbClr val="1A2433"/>
                          </a:solidFill>
                        </a:rPr>
                        <a:t>Useful comparison</a:t>
                      </a:r>
                      <a:endParaRPr sz="1800">
                        <a:solidFill>
                          <a:srgbClr val="1A2433"/>
                        </a:solidFill>
                      </a:endParaRPr>
                    </a:p>
                    <a:p>
                      <a:pPr indent="0" lvl="0" marL="0" marR="0" rtl="0" algn="l">
                        <a:lnSpc>
                          <a:spcPct val="105000"/>
                        </a:lnSpc>
                        <a:spcBef>
                          <a:spcPts val="0"/>
                        </a:spcBef>
                        <a:spcAft>
                          <a:spcPts val="0"/>
                        </a:spcAft>
                        <a:buNone/>
                      </a:pPr>
                      <a:r>
                        <a:rPr lang="zh-CN" sz="1800">
                          <a:solidFill>
                            <a:srgbClr val="1A2433"/>
                          </a:solidFill>
                        </a:rPr>
                        <a:t>Fixed-feature head training</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71" name="Shape 71"/>
        <p:cNvGrpSpPr/>
        <p:nvPr/>
      </p:nvGrpSpPr>
      <p:grpSpPr>
        <a:xfrm>
          <a:off x="0" y="0"/>
          <a:ext cx="0" cy="0"/>
          <a:chOff x="0" y="0"/>
          <a:chExt cx="0" cy="0"/>
        </a:xfrm>
      </p:grpSpPr>
      <p:sp>
        <p:nvSpPr>
          <p:cNvPr id="72" name="Google Shape;72;p15"/>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Training cost</a:t>
            </a:r>
            <a:endParaRPr b="1" sz="3000">
              <a:solidFill>
                <a:srgbClr val="111829"/>
              </a:solidFill>
            </a:endParaRPr>
          </a:p>
        </p:txBody>
      </p:sp>
      <p:sp>
        <p:nvSpPr>
          <p:cNvPr id="73" name="Google Shape;73;p15"/>
          <p:cNvSpPr txBox="1"/>
          <p:nvPr/>
        </p:nvSpPr>
        <p:spPr>
          <a:xfrm>
            <a:off x="457200" y="4356100"/>
            <a:ext cx="8229600" cy="3429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1700">
                <a:solidFill>
                  <a:srgbClr val="1A2433"/>
                </a:solidFill>
              </a:rPr>
              <a:t>Compare total cost: feature extraction + all training runs.</a:t>
            </a:r>
            <a:endParaRPr sz="1700">
              <a:solidFill>
                <a:srgbClr val="1A2433"/>
              </a:solidFill>
            </a:endParaRPr>
          </a:p>
        </p:txBody>
      </p:sp>
      <p:sp>
        <p:nvSpPr>
          <p:cNvPr id="74" name="Google Shape;74;p15"/>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CLM's reported ~1-hour run assumes precomputed embeddings</a:t>
            </a:r>
            <a:endParaRPr sz="900">
              <a:solidFill>
                <a:srgbClr val="5E6E80"/>
              </a:solidFill>
            </a:endParaRPr>
          </a:p>
        </p:txBody>
      </p:sp>
      <p:sp>
        <p:nvSpPr>
          <p:cNvPr id="75" name="Google Shape;75;p15"/>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3</a:t>
            </a:r>
            <a:endParaRPr sz="900">
              <a:solidFill>
                <a:srgbClr val="5E6E80"/>
              </a:solidFill>
            </a:endParaRPr>
          </a:p>
        </p:txBody>
      </p:sp>
      <p:graphicFrame>
        <p:nvGraphicFramePr>
          <p:cNvPr id="76" name="Google Shape;76;p15"/>
          <p:cNvGraphicFramePr/>
          <p:nvPr/>
        </p:nvGraphicFramePr>
        <p:xfrm>
          <a:off x="457200" y="1295400"/>
          <a:ext cx="3000000" cy="3000000"/>
        </p:xfrm>
        <a:graphic>
          <a:graphicData uri="http://schemas.openxmlformats.org/drawingml/2006/table">
            <a:tbl>
              <a:tblPr>
                <a:noFill/>
                <a:tableStyleId>{D3873B56-893F-467F-BDC1-E29B79847113}</a:tableStyleId>
              </a:tblPr>
              <a:tblGrid>
                <a:gridCol w="1346200"/>
                <a:gridCol w="3441700"/>
                <a:gridCol w="3441700"/>
              </a:tblGrid>
              <a:tr h="431800">
                <a:tc>
                  <a:txBody>
                    <a:bodyPr/>
                    <a:lstStyle/>
                    <a:p>
                      <a:pPr indent="0" lvl="0" marL="0" rtl="0" algn="l">
                        <a:lnSpc>
                          <a:spcPct val="105000"/>
                        </a:lnSpc>
                        <a:spcBef>
                          <a:spcPts val="0"/>
                        </a:spcBef>
                        <a:spcAft>
                          <a:spcPts val="0"/>
                        </a:spcAft>
                        <a:buNone/>
                      </a:pPr>
                      <a:r>
                        <a:rPr b="1" lang="zh-CN" sz="1800">
                          <a:solidFill>
                            <a:srgbClr val="1A2433"/>
                          </a:solidFill>
                        </a:rPr>
                        <a:t>Work</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Kev LoRA</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CLM heads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Encoder</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Forward + backward</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during each training run</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Extract fixed features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once for each text</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Repeat runs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Repeat encoder compute</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for every experiment</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Reuse feature cache</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Train heads only</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Budget</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Encoder activations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plus adapter optimizer</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Feature extraction cost</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plus head optimizer</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0" name="Shape 80"/>
        <p:cNvGrpSpPr/>
        <p:nvPr/>
      </p:nvGrpSpPr>
      <p:grpSpPr>
        <a:xfrm>
          <a:off x="0" y="0"/>
          <a:ext cx="0" cy="0"/>
          <a:chOff x="0" y="0"/>
          <a:chExt cx="0" cy="0"/>
        </a:xfrm>
      </p:grpSpPr>
      <p:sp>
        <p:nvSpPr>
          <p:cNvPr id="81" name="Google Shape;81;p16"/>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Serving cost and model size</a:t>
            </a:r>
            <a:endParaRPr b="1" sz="3000">
              <a:solidFill>
                <a:srgbClr val="111829"/>
              </a:solidFill>
            </a:endParaRPr>
          </a:p>
        </p:txBody>
      </p:sp>
      <p:sp>
        <p:nvSpPr>
          <p:cNvPr id="82" name="Google Shape;82;p16"/>
          <p:cNvSpPr txBox="1"/>
          <p:nvPr/>
        </p:nvSpPr>
        <p:spPr>
          <a:xfrm>
            <a:off x="457200" y="4356100"/>
            <a:ext cx="8229600" cy="3429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1700">
                <a:solidFill>
                  <a:srgbClr val="1A2433"/>
                </a:solidFill>
              </a:rPr>
              <a:t>*Parameter count × 2 bytes; excludes heads, cache and runtime.</a:t>
            </a:r>
            <a:endParaRPr sz="1700">
              <a:solidFill>
                <a:srgbClr val="1A2433"/>
              </a:solidFill>
            </a:endParaRPr>
          </a:p>
        </p:txBody>
      </p:sp>
      <p:sp>
        <p:nvSpPr>
          <p:cNvPr id="83" name="Google Shape;83;p16"/>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Raw weight arithmetic is not a measured VRAM requirement</a:t>
            </a:r>
            <a:endParaRPr sz="900">
              <a:solidFill>
                <a:srgbClr val="5E6E80"/>
              </a:solidFill>
            </a:endParaRPr>
          </a:p>
        </p:txBody>
      </p:sp>
      <p:sp>
        <p:nvSpPr>
          <p:cNvPr id="84" name="Google Shape;84;p16"/>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4</a:t>
            </a:r>
            <a:endParaRPr sz="900">
              <a:solidFill>
                <a:srgbClr val="5E6E80"/>
              </a:solidFill>
            </a:endParaRPr>
          </a:p>
        </p:txBody>
      </p:sp>
      <p:graphicFrame>
        <p:nvGraphicFramePr>
          <p:cNvPr id="85" name="Google Shape;85;p16"/>
          <p:cNvGraphicFramePr/>
          <p:nvPr/>
        </p:nvGraphicFramePr>
        <p:xfrm>
          <a:off x="457200" y="1295400"/>
          <a:ext cx="3000000" cy="3000000"/>
        </p:xfrm>
        <a:graphic>
          <a:graphicData uri="http://schemas.openxmlformats.org/drawingml/2006/table">
            <a:tbl>
              <a:tblPr>
                <a:noFill/>
                <a:tableStyleId>{D3873B56-893F-467F-BDC1-E29B79847113}</a:tableStyleId>
              </a:tblPr>
              <a:tblGrid>
                <a:gridCol w="1346200"/>
                <a:gridCol w="3441700"/>
                <a:gridCol w="3441700"/>
              </a:tblGrid>
              <a:tr h="431800">
                <a:tc>
                  <a:txBody>
                    <a:bodyPr/>
                    <a:lstStyle/>
                    <a:p>
                      <a:pPr indent="0" lvl="0" marL="0" rtl="0" algn="l">
                        <a:lnSpc>
                          <a:spcPct val="105000"/>
                        </a:lnSpc>
                        <a:spcBef>
                          <a:spcPts val="0"/>
                        </a:spcBef>
                        <a:spcAft>
                          <a:spcPts val="0"/>
                        </a:spcAft>
                        <a:buNone/>
                      </a:pPr>
                      <a:r>
                        <a:rPr b="1" lang="zh-CN" sz="1800">
                          <a:solidFill>
                            <a:srgbClr val="1A2433"/>
                          </a:solidFill>
                        </a:rPr>
                        <a:t>Factor</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Kev</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CLM</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Each new state</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Encode state and options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Score pointer outputs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Encode state + question</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Score cached actions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Useful cache</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Shared state prefix</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across questions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Independent action vectors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across changing states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BF16 weights*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0.8B: ~1.6 GB</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4B: ~8 GB</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8B reference: ~16 GB</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Two paths can share weights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9" name="Shape 89"/>
        <p:cNvGrpSpPr/>
        <p:nvPr/>
      </p:nvGrpSpPr>
      <p:grpSpPr>
        <a:xfrm>
          <a:off x="0" y="0"/>
          <a:ext cx="0" cy="0"/>
          <a:chOff x="0" y="0"/>
          <a:chExt cx="0" cy="0"/>
        </a:xfrm>
      </p:grpSpPr>
      <p:sp>
        <p:nvSpPr>
          <p:cNvPr id="90" name="Google Shape;90;p17"/>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Performance evidence</a:t>
            </a:r>
            <a:endParaRPr b="1" sz="3000">
              <a:solidFill>
                <a:srgbClr val="111829"/>
              </a:solidFill>
            </a:endParaRPr>
          </a:p>
        </p:txBody>
      </p:sp>
      <p:sp>
        <p:nvSpPr>
          <p:cNvPr id="91" name="Google Shape;91;p17"/>
          <p:cNvSpPr txBox="1"/>
          <p:nvPr/>
        </p:nvSpPr>
        <p:spPr>
          <a:xfrm>
            <a:off x="457200" y="4356100"/>
            <a:ext cx="8229600" cy="3429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1700">
                <a:solidFill>
                  <a:srgbClr val="1A2433"/>
                </a:solidFill>
              </a:rPr>
              <a:t>These reports do not establish a Kev-versus-CLM speed ranking.</a:t>
            </a:r>
            <a:endParaRPr sz="1700">
              <a:solidFill>
                <a:srgbClr val="1A2433"/>
              </a:solidFill>
            </a:endParaRPr>
          </a:p>
        </p:txBody>
      </p:sp>
      <p:sp>
        <p:nvSpPr>
          <p:cNvPr id="92" name="Google Shape;92;p17"/>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Different hardware and workloads; use a paired lab benchmark</a:t>
            </a:r>
            <a:endParaRPr sz="900">
              <a:solidFill>
                <a:srgbClr val="5E6E80"/>
              </a:solidFill>
            </a:endParaRPr>
          </a:p>
        </p:txBody>
      </p:sp>
      <p:sp>
        <p:nvSpPr>
          <p:cNvPr id="93" name="Google Shape;93;p17"/>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5</a:t>
            </a:r>
            <a:endParaRPr sz="900">
              <a:solidFill>
                <a:srgbClr val="5E6E80"/>
              </a:solidFill>
            </a:endParaRPr>
          </a:p>
        </p:txBody>
      </p:sp>
      <p:graphicFrame>
        <p:nvGraphicFramePr>
          <p:cNvPr id="94" name="Google Shape;94;p17"/>
          <p:cNvGraphicFramePr/>
          <p:nvPr/>
        </p:nvGraphicFramePr>
        <p:xfrm>
          <a:off x="457200" y="1295400"/>
          <a:ext cx="3000000" cy="3000000"/>
        </p:xfrm>
        <a:graphic>
          <a:graphicData uri="http://schemas.openxmlformats.org/drawingml/2006/table">
            <a:tbl>
              <a:tblPr>
                <a:noFill/>
                <a:tableStyleId>{D3873B56-893F-467F-BDC1-E29B79847113}</a:tableStyleId>
              </a:tblPr>
              <a:tblGrid>
                <a:gridCol w="2146300"/>
                <a:gridCol w="3048000"/>
                <a:gridCol w="3035300"/>
              </a:tblGrid>
              <a:tr h="431800">
                <a:tc>
                  <a:txBody>
                    <a:bodyPr/>
                    <a:lstStyle/>
                    <a:p>
                      <a:pPr indent="0" lvl="0" marL="0" rtl="0" algn="l">
                        <a:lnSpc>
                          <a:spcPct val="105000"/>
                        </a:lnSpc>
                        <a:spcBef>
                          <a:spcPts val="0"/>
                        </a:spcBef>
                        <a:spcAft>
                          <a:spcPts val="0"/>
                        </a:spcAft>
                        <a:buNone/>
                      </a:pPr>
                      <a:r>
                        <a:rPr b="1" lang="zh-CN" sz="1800">
                          <a:solidFill>
                            <a:srgbClr val="1A2433"/>
                          </a:solidFill>
                        </a:rPr>
                        <a:t>Published result</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Setup</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800">
                          <a:solidFill>
                            <a:srgbClr val="1A2433"/>
                          </a:solidFill>
                        </a:rPr>
                        <a:t>What it supports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CLM: 36-44 ms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RTX 4090; cached actions</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1-1,024 candidates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Low added cost as the</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action set grows</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Kev-4B: 12 ms</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RTX PRO 6000</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One question; median</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Fast serving in that</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llama.cpp setup</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749300">
                <a:tc>
                  <a:txBody>
                    <a:bodyPr/>
                    <a:lstStyle/>
                    <a:p>
                      <a:pPr indent="0" lvl="0" marL="0" rtl="0" algn="l">
                        <a:lnSpc>
                          <a:spcPct val="105000"/>
                        </a:lnSpc>
                        <a:spcBef>
                          <a:spcPts val="0"/>
                        </a:spcBef>
                        <a:spcAft>
                          <a:spcPts val="0"/>
                        </a:spcAft>
                        <a:buNone/>
                      </a:pPr>
                      <a:r>
                        <a:rPr b="1" lang="zh-CN" sz="1800">
                          <a:solidFill>
                            <a:srgbClr val="1A2433"/>
                          </a:solidFill>
                        </a:rPr>
                        <a:t>Kev vs CLM</a:t>
                      </a:r>
                      <a:endParaRPr b="1"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No matched Pac-Man</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comparison established</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800">
                          <a:solidFill>
                            <a:srgbClr val="1A2433"/>
                          </a:solidFill>
                        </a:rPr>
                        <a:t>Measure skill, latency</a:t>
                      </a:r>
                      <a:endParaRPr sz="1800">
                        <a:solidFill>
                          <a:srgbClr val="1A2433"/>
                        </a:solidFill>
                      </a:endParaRPr>
                    </a:p>
                    <a:p>
                      <a:pPr indent="0" lvl="0" marL="0" rtl="0" algn="l">
                        <a:lnSpc>
                          <a:spcPct val="105000"/>
                        </a:lnSpc>
                        <a:spcBef>
                          <a:spcPts val="0"/>
                        </a:spcBef>
                        <a:spcAft>
                          <a:spcPts val="0"/>
                        </a:spcAft>
                        <a:buNone/>
                      </a:pPr>
                      <a:r>
                        <a:rPr lang="zh-CN" sz="1800">
                          <a:solidFill>
                            <a:srgbClr val="1A2433"/>
                          </a:solidFill>
                        </a:rPr>
                        <a:t>and memory together</a:t>
                      </a:r>
                      <a:endParaRPr sz="18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8" name="Shape 98"/>
        <p:cNvGrpSpPr/>
        <p:nvPr/>
      </p:nvGrpSpPr>
      <p:grpSpPr>
        <a:xfrm>
          <a:off x="0" y="0"/>
          <a:ext cx="0" cy="0"/>
          <a:chOff x="0" y="0"/>
          <a:chExt cx="0" cy="0"/>
        </a:xfrm>
      </p:grpSpPr>
      <p:sp>
        <p:nvSpPr>
          <p:cNvPr id="99" name="Google Shape;99;p18"/>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Models supported by llama.cpp</a:t>
            </a:r>
            <a:endParaRPr b="1" sz="3000">
              <a:solidFill>
                <a:srgbClr val="111829"/>
              </a:solidFill>
            </a:endParaRPr>
          </a:p>
        </p:txBody>
      </p:sp>
      <p:sp>
        <p:nvSpPr>
          <p:cNvPr id="100" name="Google Shape;100;p18"/>
          <p:cNvSpPr txBox="1"/>
          <p:nvPr/>
        </p:nvSpPr>
        <p:spPr>
          <a:xfrm>
            <a:off x="457200" y="4470400"/>
            <a:ext cx="8229600" cy="2793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1500">
                <a:solidFill>
                  <a:srgbClr val="1A2433"/>
                </a:solidFill>
              </a:rPr>
              <a:t>CLM is outside this release's five supported models.</a:t>
            </a:r>
            <a:endParaRPr sz="1500">
              <a:solidFill>
                <a:srgbClr val="1A2433"/>
              </a:solidFill>
            </a:endParaRPr>
          </a:p>
        </p:txBody>
      </p:sp>
      <p:sp>
        <p:nvSpPr>
          <p:cNvPr id="101" name="Google Shape;101;p18"/>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Julia, Laya, Kev and lev: Apache 2.0 | OpenJev: CC BY-NC 4.0</a:t>
            </a:r>
            <a:endParaRPr sz="900">
              <a:solidFill>
                <a:srgbClr val="5E6E80"/>
              </a:solidFill>
            </a:endParaRPr>
          </a:p>
        </p:txBody>
      </p:sp>
      <p:sp>
        <p:nvSpPr>
          <p:cNvPr id="102" name="Google Shape;102;p18"/>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6</a:t>
            </a:r>
            <a:endParaRPr sz="900">
              <a:solidFill>
                <a:srgbClr val="5E6E80"/>
              </a:solidFill>
            </a:endParaRPr>
          </a:p>
        </p:txBody>
      </p:sp>
      <p:graphicFrame>
        <p:nvGraphicFramePr>
          <p:cNvPr id="103" name="Google Shape;103;p18"/>
          <p:cNvGraphicFramePr/>
          <p:nvPr/>
        </p:nvGraphicFramePr>
        <p:xfrm>
          <a:off x="457200" y="1193800"/>
          <a:ext cx="3000000" cy="3000000"/>
        </p:xfrm>
        <a:graphic>
          <a:graphicData uri="http://schemas.openxmlformats.org/drawingml/2006/table">
            <a:tbl>
              <a:tblPr>
                <a:noFill/>
                <a:tableStyleId>{D3873B56-893F-467F-BDC1-E29B79847113}</a:tableStyleId>
              </a:tblPr>
              <a:tblGrid>
                <a:gridCol w="1041400"/>
                <a:gridCol w="1435100"/>
                <a:gridCol w="2451100"/>
                <a:gridCol w="3302000"/>
              </a:tblGrid>
              <a:tr h="381000">
                <a:tc>
                  <a:txBody>
                    <a:bodyPr/>
                    <a:lstStyle/>
                    <a:p>
                      <a:pPr indent="0" lvl="0" marL="0" rtl="0" algn="l">
                        <a:lnSpc>
                          <a:spcPct val="105000"/>
                        </a:lnSpc>
                        <a:spcBef>
                          <a:spcPts val="0"/>
                        </a:spcBef>
                        <a:spcAft>
                          <a:spcPts val="0"/>
                        </a:spcAft>
                        <a:buNone/>
                      </a:pPr>
                      <a:r>
                        <a:rPr b="1" lang="zh-CN" sz="1500">
                          <a:solidFill>
                            <a:srgbClr val="1A2433"/>
                          </a:solidFill>
                        </a:rPr>
                        <a:t>Model</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500">
                          <a:solidFill>
                            <a:srgbClr val="1A2433"/>
                          </a:solidFill>
                        </a:rPr>
                        <a:t>Readout</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500">
                          <a:solidFill>
                            <a:srgbClr val="1A2433"/>
                          </a:solidFill>
                        </a:rPr>
                        <a:t>Useful strength</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c>
                  <a:txBody>
                    <a:bodyPr/>
                    <a:lstStyle/>
                    <a:p>
                      <a:pPr indent="0" lvl="0" marL="0" rtl="0" algn="l">
                        <a:lnSpc>
                          <a:spcPct val="105000"/>
                        </a:lnSpc>
                        <a:spcBef>
                          <a:spcPts val="0"/>
                        </a:spcBef>
                        <a:spcAft>
                          <a:spcPts val="0"/>
                        </a:spcAft>
                        <a:buNone/>
                      </a:pPr>
                      <a:r>
                        <a:rPr b="1" lang="zh-CN" sz="1500">
                          <a:solidFill>
                            <a:srgbClr val="1A2433"/>
                          </a:solidFill>
                        </a:rPr>
                        <a:t>Main tradeoff</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E8EDF3"/>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Julia-1</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144M</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Option-marker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head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Small; multilingual</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50+ languages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Limited knowledge/reasoning</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Private training pipeline</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Laya</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421M</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Option-marker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head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Small; designed</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for specialization</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Fully fine-tuned encoder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English root: 512 tokens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Kev-4B</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Pointer</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head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Adaptable features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Open training code</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LoRA changes features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Options encoded each step</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lev</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4B</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Vocabulary</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label logits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Existing LM readout</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Many label codes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LoRA; two choice orders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Extra head not converted</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r h="546100">
                <a:tc>
                  <a:txBody>
                    <a:bodyPr/>
                    <a:lstStyle/>
                    <a:p>
                      <a:pPr indent="0" lvl="0" marL="0" rtl="0" algn="l">
                        <a:lnSpc>
                          <a:spcPct val="105000"/>
                        </a:lnSpc>
                        <a:spcBef>
                          <a:spcPts val="0"/>
                        </a:spcBef>
                        <a:spcAft>
                          <a:spcPts val="0"/>
                        </a:spcAft>
                        <a:buNone/>
                      </a:pPr>
                      <a:r>
                        <a:rPr b="1" lang="zh-CN" sz="1500">
                          <a:solidFill>
                            <a:srgbClr val="1A2433"/>
                          </a:solidFill>
                        </a:rPr>
                        <a:t>OpenJev</a:t>
                      </a:r>
                      <a:endParaRPr b="1" sz="1500">
                        <a:solidFill>
                          <a:srgbClr val="1A2433"/>
                        </a:solidFill>
                      </a:endParaRPr>
                    </a:p>
                    <a:p>
                      <a:pPr indent="0" lvl="0" marL="0" rtl="0" algn="l">
                        <a:lnSpc>
                          <a:spcPct val="105000"/>
                        </a:lnSpc>
                        <a:spcBef>
                          <a:spcPts val="0"/>
                        </a:spcBef>
                        <a:spcAft>
                          <a:spcPts val="0"/>
                        </a:spcAft>
                        <a:buNone/>
                      </a:pPr>
                      <a:r>
                        <a:rPr b="1" lang="zh-CN" sz="1500">
                          <a:solidFill>
                            <a:srgbClr val="1A2433"/>
                          </a:solidFill>
                        </a:rPr>
                        <a:t>27B</a:t>
                      </a:r>
                      <a:endParaRPr b="1"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Vocabulary</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label logits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Text and images</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Agent decisions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c>
                  <a:txBody>
                    <a:bodyPr/>
                    <a:lstStyle/>
                    <a:p>
                      <a:pPr indent="0" lvl="0" marL="0" rtl="0" algn="l">
                        <a:lnSpc>
                          <a:spcPct val="105000"/>
                        </a:lnSpc>
                        <a:spcBef>
                          <a:spcPts val="0"/>
                        </a:spcBef>
                        <a:spcAft>
                          <a:spcPts val="0"/>
                        </a:spcAft>
                        <a:buNone/>
                      </a:pPr>
                      <a:r>
                        <a:rPr lang="zh-CN" sz="1500">
                          <a:solidFill>
                            <a:srgbClr val="1A2433"/>
                          </a:solidFill>
                        </a:rPr>
                        <a:t>Larger model</a:t>
                      </a:r>
                      <a:endParaRPr sz="1500">
                        <a:solidFill>
                          <a:srgbClr val="1A2433"/>
                        </a:solidFill>
                      </a:endParaRPr>
                    </a:p>
                    <a:p>
                      <a:pPr indent="0" lvl="0" marL="0" rtl="0" algn="l">
                        <a:lnSpc>
                          <a:spcPct val="105000"/>
                        </a:lnSpc>
                        <a:spcBef>
                          <a:spcPts val="0"/>
                        </a:spcBef>
                        <a:spcAft>
                          <a:spcPts val="0"/>
                        </a:spcAft>
                        <a:buNone/>
                      </a:pPr>
                      <a:r>
                        <a:rPr lang="zh-CN" sz="1500">
                          <a:solidFill>
                            <a:srgbClr val="1A2433"/>
                          </a:solidFill>
                        </a:rPr>
                        <a:t>Non-commercial weights</a:t>
                      </a:r>
                      <a:endParaRPr sz="1500">
                        <a:solidFill>
                          <a:srgbClr val="1A2433"/>
                        </a:solidFill>
                      </a:endParaRPr>
                    </a:p>
                  </a:txBody>
                  <a:tcPr marT="91425" marB="91425" marR="91425" marL="91425" anchor="ctr">
                    <a:lnL cap="flat" cmpd="sng" w="7625">
                      <a:solidFill>
                        <a:srgbClr val="CBD4DF"/>
                      </a:solidFill>
                      <a:prstDash val="solid"/>
                      <a:round/>
                      <a:headEnd len="sm" w="sm" type="none"/>
                      <a:tailEnd len="sm" w="sm" type="none"/>
                    </a:lnL>
                    <a:lnR cap="flat" cmpd="sng" w="7625">
                      <a:solidFill>
                        <a:srgbClr val="CBD4DF"/>
                      </a:solidFill>
                      <a:prstDash val="solid"/>
                      <a:round/>
                      <a:headEnd len="sm" w="sm" type="none"/>
                      <a:tailEnd len="sm" w="sm" type="none"/>
                    </a:lnR>
                    <a:lnT cap="flat" cmpd="sng" w="7625">
                      <a:solidFill>
                        <a:srgbClr val="CBD4DF"/>
                      </a:solidFill>
                      <a:prstDash val="solid"/>
                      <a:round/>
                      <a:headEnd len="sm" w="sm" type="none"/>
                      <a:tailEnd len="sm" w="sm" type="none"/>
                    </a:lnT>
                    <a:lnB cap="flat" cmpd="sng" w="7625">
                      <a:solidFill>
                        <a:srgbClr val="CBD4DF"/>
                      </a:solidFill>
                      <a:prstDash val="solid"/>
                      <a:round/>
                      <a:headEnd len="sm" w="sm" type="none"/>
                      <a:tailEnd len="sm" w="sm" type="none"/>
                    </a:lnB>
                    <a:solidFill>
                      <a:srgbClr val="FFFFFF"/>
                    </a:solidFill>
                  </a:tcPr>
                </a:tc>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7" name="Shape 107"/>
        <p:cNvGrpSpPr/>
        <p:nvPr/>
      </p:nvGrpSpPr>
      <p:grpSpPr>
        <a:xfrm>
          <a:off x="0" y="0"/>
          <a:ext cx="0" cy="0"/>
          <a:chOff x="0" y="0"/>
          <a:chExt cx="0" cy="0"/>
        </a:xfrm>
      </p:grpSpPr>
      <p:sp>
        <p:nvSpPr>
          <p:cNvPr id="108" name="Google Shape;108;p19"/>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How llama.cpp scores decisions</a:t>
            </a:r>
            <a:endParaRPr b="1" sz="3000">
              <a:solidFill>
                <a:srgbClr val="111829"/>
              </a:solidFill>
            </a:endParaRPr>
          </a:p>
        </p:txBody>
      </p:sp>
      <p:sp>
        <p:nvSpPr>
          <p:cNvPr id="109" name="Google Shape;109;p19"/>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POST /v1/systemone: Choice, Score and Noul</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GGUF metadata selects the model's readout</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Kev's LoRA is merged before quantization</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No generated answer tokens to parse</a:t>
            </a:r>
            <a:endParaRPr sz="2300">
              <a:solidFill>
                <a:srgbClr val="1A2433"/>
              </a:solidFill>
            </a:endParaRPr>
          </a:p>
          <a:p>
            <a:pPr indent="0" lvl="0" marL="0" rtl="0" algn="l">
              <a:lnSpc>
                <a:spcPct val="112000"/>
              </a:lnSpc>
              <a:spcBef>
                <a:spcPts val="800"/>
              </a:spcBef>
              <a:spcAft>
                <a:spcPts val="800"/>
              </a:spcAft>
              <a:buNone/>
            </a:pPr>
            <a:r>
              <a:rPr lang="zh-CN" sz="2300">
                <a:solidFill>
                  <a:srgbClr val="1A2433"/>
                </a:solidFill>
              </a:rPr>
              <a:t>CLM needs its own serving implementation</a:t>
            </a:r>
            <a:endParaRPr sz="2300">
              <a:solidFill>
                <a:srgbClr val="1A2433"/>
              </a:solidFill>
            </a:endParaRPr>
          </a:p>
        </p:txBody>
      </p:sp>
      <p:sp>
        <p:nvSpPr>
          <p:cNvPr id="110" name="Google Shape;110;p19"/>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API compatibility does not mean architectural equivalence</a:t>
            </a:r>
            <a:endParaRPr sz="900">
              <a:solidFill>
                <a:srgbClr val="5E6E80"/>
              </a:solidFill>
            </a:endParaRPr>
          </a:p>
        </p:txBody>
      </p:sp>
      <p:sp>
        <p:nvSpPr>
          <p:cNvPr id="111" name="Google Shape;111;p19"/>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7</a:t>
            </a:r>
            <a:endParaRPr sz="900">
              <a:solidFill>
                <a:srgbClr val="5E6E80"/>
              </a:solidFill>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15" name="Shape 115"/>
        <p:cNvGrpSpPr/>
        <p:nvPr/>
      </p:nvGrpSpPr>
      <p:grpSpPr>
        <a:xfrm>
          <a:off x="0" y="0"/>
          <a:ext cx="0" cy="0"/>
          <a:chOff x="0" y="0"/>
          <a:chExt cx="0" cy="0"/>
        </a:xfrm>
      </p:grpSpPr>
      <p:sp>
        <p:nvSpPr>
          <p:cNvPr id="116" name="Google Shape;116;p20"/>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How SGLang scores decisions</a:t>
            </a:r>
            <a:endParaRPr b="1" sz="3000">
              <a:solidFill>
                <a:srgbClr val="111829"/>
              </a:solidFill>
            </a:endParaRPr>
          </a:p>
        </p:txBody>
      </p:sp>
      <p:sp>
        <p:nvSpPr>
          <p:cNvPr id="117" name="Google Shape;117;p20"/>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/v1/decisions and /v1/systemone are merged</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Chat-model label logits; no generated tokens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One prompt per question; normal prefix caching</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Checked: Qwen3.8-27B and Qwen3.5-35B-A3B</a:t>
            </a:r>
            <a:endParaRPr sz="2300">
              <a:solidFill>
                <a:srgbClr val="1A2433"/>
              </a:solidFill>
            </a:endParaRPr>
          </a:p>
          <a:p>
            <a:pPr indent="0" lvl="0" marL="0" rtl="0" algn="l">
              <a:lnSpc>
                <a:spcPct val="112000"/>
              </a:lnSpc>
              <a:spcBef>
                <a:spcPts val="800"/>
              </a:spcBef>
              <a:spcAft>
                <a:spcPts val="800"/>
              </a:spcAft>
              <a:buNone/>
            </a:pPr>
            <a:r>
              <a:rPr lang="zh-CN" sz="2300">
                <a:solidFill>
                  <a:srgbClr val="1A2433"/>
                </a:solidFill>
              </a:rPr>
              <a:t>Native Intern-Decision support is an open PR</a:t>
            </a:r>
            <a:endParaRPr sz="2300">
              <a:solidFill>
                <a:srgbClr val="1A2433"/>
              </a:solidFill>
            </a:endParaRPr>
          </a:p>
        </p:txBody>
      </p:sp>
      <p:sp>
        <p:nvSpPr>
          <p:cNvPr id="118" name="Google Shape;118;p20"/>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Vocabulary scoring differs from Kev and CLM heads</a:t>
            </a:r>
            <a:endParaRPr sz="900">
              <a:solidFill>
                <a:srgbClr val="5E6E80"/>
              </a:solidFill>
            </a:endParaRPr>
          </a:p>
        </p:txBody>
      </p:sp>
      <p:sp>
        <p:nvSpPr>
          <p:cNvPr id="119" name="Google Shape;119;p20"/>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8</a:t>
            </a:r>
            <a:endParaRPr sz="900">
              <a:solidFill>
                <a:srgbClr val="5E6E80"/>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3" name="Shape 123"/>
        <p:cNvGrpSpPr/>
        <p:nvPr/>
      </p:nvGrpSpPr>
      <p:grpSpPr>
        <a:xfrm>
          <a:off x="0" y="0"/>
          <a:ext cx="0" cy="0"/>
          <a:chOff x="0" y="0"/>
          <a:chExt cx="0" cy="0"/>
        </a:xfrm>
      </p:grpSpPr>
      <p:sp>
        <p:nvSpPr>
          <p:cNvPr id="124" name="Google Shape;124;p21"/>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A fair Kev-versus-CLM comparison</a:t>
            </a:r>
            <a:endParaRPr b="1" sz="3000">
              <a:solidFill>
                <a:srgbClr val="111829"/>
              </a:solidFill>
            </a:endParaRPr>
          </a:p>
        </p:txBody>
      </p:sp>
      <p:sp>
        <p:nvSpPr>
          <p:cNvPr id="125" name="Google Shape;125;p21"/>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Use the same boards, labels and legal actions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Time cold and warm caches on one device</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Measure accuracy, captures, dots and latency</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Record training time and peak memory</a:t>
            </a:r>
            <a:endParaRPr sz="2300">
              <a:solidFill>
                <a:srgbClr val="1A2433"/>
              </a:solidFill>
            </a:endParaRPr>
          </a:p>
          <a:p>
            <a:pPr indent="0" lvl="0" marL="0" rtl="0" algn="l">
              <a:lnSpc>
                <a:spcPct val="112000"/>
              </a:lnSpc>
              <a:spcBef>
                <a:spcPts val="800"/>
              </a:spcBef>
              <a:spcAft>
                <a:spcPts val="800"/>
              </a:spcAft>
              <a:buNone/>
            </a:pPr>
            <a:r>
              <a:rPr lang="zh-CN" sz="2300">
                <a:solidFill>
                  <a:srgbClr val="1A2433"/>
                </a:solidFill>
              </a:rPr>
              <a:t>Match backbones to isolate the architecture</a:t>
            </a:r>
            <a:endParaRPr sz="2300">
              <a:solidFill>
                <a:srgbClr val="1A2433"/>
              </a:solidFill>
            </a:endParaRPr>
          </a:p>
        </p:txBody>
      </p:sp>
      <p:sp>
        <p:nvSpPr>
          <p:cNvPr id="126" name="Google Shape;126;p21"/>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Released-model comparisons also include size and data effects</a:t>
            </a:r>
            <a:endParaRPr sz="900">
              <a:solidFill>
                <a:srgbClr val="5E6E80"/>
              </a:solidFill>
            </a:endParaRPr>
          </a:p>
        </p:txBody>
      </p:sp>
      <p:sp>
        <p:nvSpPr>
          <p:cNvPr id="127" name="Google Shape;127;p21"/>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9</a:t>
            </a:r>
            <a:endParaRPr sz="900">
              <a:solidFill>
                <a:srgbClr val="5E6E80"/>
              </a:solidFill>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1" name="Shape 131"/>
        <p:cNvGrpSpPr/>
        <p:nvPr/>
      </p:nvGrpSpPr>
      <p:grpSpPr>
        <a:xfrm>
          <a:off x="0" y="0"/>
          <a:ext cx="0" cy="0"/>
          <a:chOff x="0" y="0"/>
          <a:chExt cx="0" cy="0"/>
        </a:xfrm>
      </p:grpSpPr>
      <p:sp>
        <p:nvSpPr>
          <p:cNvPr id="132" name="Google Shape;132;p22"/>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Our Kev-0.8B Pac-Man lab</a:t>
            </a:r>
            <a:endParaRPr b="1" sz="3000">
              <a:solidFill>
                <a:srgbClr val="111829"/>
              </a:solidFill>
            </a:endParaRPr>
          </a:p>
        </p:txBody>
      </p:sp>
      <p:sp>
        <p:nvSpPr>
          <p:cNvPr id="133" name="Google Shape;133;p22"/>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Train Pac-Man with fixed-code ghosts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Start from Qwen3.5-0.8B-Base</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Train fresh LoRA and a pointer head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Fine-tune your checkpoint for player moves</a:t>
            </a:r>
            <a:endParaRPr sz="2300">
              <a:solidFill>
                <a:srgbClr val="1A2433"/>
              </a:solidFill>
            </a:endParaRPr>
          </a:p>
          <a:p>
            <a:pPr indent="0" lvl="0" marL="0" marR="0" rtl="0" algn="l">
              <a:lnSpc>
                <a:spcPct val="112000"/>
              </a:lnSpc>
              <a:spcBef>
                <a:spcPts val="800"/>
              </a:spcBef>
              <a:spcAft>
                <a:spcPts val="800"/>
              </a:spcAft>
              <a:buNone/>
            </a:pPr>
            <a:r>
              <a:rPr lang="zh-CN" sz="2300">
                <a:solidFill>
                  <a:srgbClr val="1A2433"/>
                </a:solidFill>
              </a:rPr>
              <a:t>Use Colab with RTX PRO 6000 Blackwell</a:t>
            </a:r>
            <a:endParaRPr sz="2300">
              <a:solidFill>
                <a:srgbClr val="1A2433"/>
              </a:solidFill>
            </a:endParaRPr>
          </a:p>
        </p:txBody>
      </p:sp>
      <p:sp>
        <p:nvSpPr>
          <p:cNvPr id="134" name="Google Shape;134;p22"/>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800"/>
              </a:spcAft>
              <a:buNone/>
            </a:pPr>
            <a:r>
              <a:rPr lang="zh-CN" sz="900">
                <a:solidFill>
                  <a:srgbClr val="5E6E80"/>
                </a:solidFill>
              </a:rPr>
              <a:t>Published Kev base recipe, followed by our Pac-Man adaptation</a:t>
            </a:r>
            <a:endParaRPr sz="900">
              <a:solidFill>
                <a:srgbClr val="5E6E80"/>
              </a:solidFill>
            </a:endParaRPr>
          </a:p>
        </p:txBody>
      </p:sp>
      <p:sp>
        <p:nvSpPr>
          <p:cNvPr id="135" name="Google Shape;135;p22"/>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10</a:t>
            </a:r>
            <a:endParaRPr sz="900">
              <a:solidFill>
                <a:srgbClr val="5E6E80"/>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9" name="Shape 139"/>
        <p:cNvGrpSpPr/>
        <p:nvPr/>
      </p:nvGrpSpPr>
      <p:grpSpPr>
        <a:xfrm>
          <a:off x="0" y="0"/>
          <a:ext cx="0" cy="0"/>
          <a:chOff x="0" y="0"/>
          <a:chExt cx="0" cy="0"/>
        </a:xfrm>
      </p:grpSpPr>
      <p:sp>
        <p:nvSpPr>
          <p:cNvPr id="140" name="Google Shape;140;p23"/>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Our 90-minute route</a:t>
            </a:r>
            <a:endParaRPr b="1" sz="3000">
              <a:solidFill>
                <a:srgbClr val="111829"/>
              </a:solidFill>
            </a:endParaRPr>
          </a:p>
        </p:txBody>
      </p:sp>
      <p:sp>
        <p:nvSpPr>
          <p:cNvPr id="141" name="Google Shape;141;p23"/>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0-10    Compare architectures and play</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10-20  Inspect initial decision training</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20-30  Review Pac-Man player labels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30-60  Fine-tune LoRA and the pointer head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60-80  Compare cost and player decisions</a:t>
            </a:r>
            <a:endParaRPr sz="2300">
              <a:solidFill>
                <a:srgbClr val="1A2433"/>
              </a:solidFill>
            </a:endParaRPr>
          </a:p>
          <a:p>
            <a:pPr indent="0" lvl="0" marL="0" marR="0" rtl="0" algn="l">
              <a:lnSpc>
                <a:spcPct val="112000"/>
              </a:lnSpc>
              <a:spcBef>
                <a:spcPts val="800"/>
              </a:spcBef>
              <a:spcAft>
                <a:spcPts val="800"/>
              </a:spcAft>
              <a:buNone/>
            </a:pPr>
            <a:r>
              <a:rPr lang="zh-CN" sz="2300">
                <a:solidFill>
                  <a:srgbClr val="1A2433"/>
                </a:solidFill>
              </a:rPr>
              <a:t>80-90  Explain and submit</a:t>
            </a:r>
            <a:endParaRPr sz="2300">
              <a:solidFill>
                <a:srgbClr val="1A2433"/>
              </a:solidFill>
            </a:endParaRPr>
          </a:p>
        </p:txBody>
      </p:sp>
      <p:sp>
        <p:nvSpPr>
          <p:cNvPr id="142" name="Google Shape;142;p23"/>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800"/>
              </a:spcAft>
              <a:buNone/>
            </a:pPr>
            <a:r>
              <a:rPr lang="zh-CN" sz="900">
                <a:solidFill>
                  <a:srgbClr val="5E6E80"/>
                </a:solidFill>
              </a:rPr>
              <a:t>Prework includes full initial training. Fine-tuning takes 30 class minutes.</a:t>
            </a:r>
            <a:endParaRPr sz="900">
              <a:solidFill>
                <a:srgbClr val="5E6E80"/>
              </a:solidFill>
            </a:endParaRPr>
          </a:p>
        </p:txBody>
      </p:sp>
      <p:sp>
        <p:nvSpPr>
          <p:cNvPr id="143" name="Google Shape;143;p23"/>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11</a:t>
            </a:r>
            <a:endParaRPr sz="900">
              <a:solidFill>
                <a:srgbClr val="5E6E80"/>
              </a:solidFill>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7" name="Shape 147"/>
        <p:cNvGrpSpPr/>
        <p:nvPr/>
      </p:nvGrpSpPr>
      <p:grpSpPr>
        <a:xfrm>
          <a:off x="0" y="0"/>
          <a:ext cx="0" cy="0"/>
          <a:chOff x="0" y="0"/>
          <a:chExt cx="0" cy="0"/>
        </a:xfrm>
      </p:grpSpPr>
      <p:sp>
        <p:nvSpPr>
          <p:cNvPr id="148" name="Google Shape;148;p24"/>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Colab runtime for this lab</a:t>
            </a:r>
            <a:endParaRPr b="1" sz="3000">
              <a:solidFill>
                <a:srgbClr val="111829"/>
              </a:solidFill>
            </a:endParaRPr>
          </a:p>
        </p:txBody>
      </p:sp>
      <p:sp>
        <p:nvSpPr>
          <p:cNvPr id="149" name="Google Shape;149;p24"/>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Target: RTX PRO 6000 Blackwell</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Full Server Edition: 96 GB VRAM</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Verify the actual GPU and BF16 support</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Use pinned PyTorch 2.8 with CUDA 12.8</a:t>
            </a:r>
            <a:endParaRPr sz="2300">
              <a:solidFill>
                <a:srgbClr val="1A2433"/>
              </a:solidFill>
            </a:endParaRPr>
          </a:p>
          <a:p>
            <a:pPr indent="0" lvl="0" marL="0" marR="0" rtl="0" algn="l">
              <a:lnSpc>
                <a:spcPct val="112000"/>
              </a:lnSpc>
              <a:spcBef>
                <a:spcPts val="800"/>
              </a:spcBef>
              <a:spcAft>
                <a:spcPts val="800"/>
              </a:spcAft>
              <a:buNone/>
            </a:pPr>
            <a:r>
              <a:rPr lang="zh-CN" sz="2300">
                <a:solidFill>
                  <a:srgbClr val="1A2433"/>
                </a:solidFill>
              </a:rPr>
              <a:t>Finish setup and initial training before class</a:t>
            </a:r>
            <a:endParaRPr sz="2300">
              <a:solidFill>
                <a:srgbClr val="1A2433"/>
              </a:solidFill>
            </a:endParaRPr>
          </a:p>
        </p:txBody>
      </p:sp>
      <p:sp>
        <p:nvSpPr>
          <p:cNvPr id="150" name="Google Shape;150;p24"/>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800"/>
              </a:spcAft>
              <a:buNone/>
            </a:pPr>
            <a:r>
              <a:rPr lang="zh-CN" sz="900">
                <a:solidFill>
                  <a:srgbClr val="5E6E80"/>
                </a:solidFill>
              </a:rPr>
              <a:t>Colab GPU availability varies. The target is not a free-compute promise.</a:t>
            </a:r>
            <a:endParaRPr sz="900">
              <a:solidFill>
                <a:srgbClr val="5E6E80"/>
              </a:solidFill>
            </a:endParaRPr>
          </a:p>
        </p:txBody>
      </p:sp>
      <p:sp>
        <p:nvSpPr>
          <p:cNvPr id="151" name="Google Shape;151;p24"/>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12</a:t>
            </a:r>
            <a:endParaRPr sz="900">
              <a:solidFill>
                <a:srgbClr val="5E6E80"/>
              </a:solidFill>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5" name="Shape 155"/>
        <p:cNvGrpSpPr/>
        <p:nvPr/>
      </p:nvGrpSpPr>
      <p:grpSpPr>
        <a:xfrm>
          <a:off x="0" y="0"/>
          <a:ext cx="0" cy="0"/>
          <a:chOff x="0" y="0"/>
          <a:chExt cx="0" cy="0"/>
        </a:xfrm>
      </p:grpSpPr>
      <p:sp>
        <p:nvSpPr>
          <p:cNvPr id="156" name="Google Shape;156;p25"/>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CP0: what Pac-Man can observe</a:t>
            </a:r>
            <a:endParaRPr b="1" sz="3000">
              <a:solidFill>
                <a:srgbClr val="111829"/>
              </a:solidFill>
            </a:endParaRPr>
          </a:p>
        </p:txBody>
      </p:sp>
      <p:sp>
        <p:nvSpPr>
          <p:cNvPr id="157" name="Google Shape;157;p25"/>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Maze walls and remaining dots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Player position and heading</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Ghost positions and headings</a:t>
            </a:r>
            <a:endParaRPr sz="2300">
              <a:solidFill>
                <a:srgbClr val="1A2433"/>
              </a:solidFill>
            </a:endParaRPr>
          </a:p>
          <a:p>
            <a:pPr indent="0" lvl="0" marL="0" rtl="0" algn="l">
              <a:lnSpc>
                <a:spcPct val="112000"/>
              </a:lnSpc>
              <a:spcBef>
                <a:spcPts val="800"/>
              </a:spcBef>
              <a:spcAft>
                <a:spcPts val="800"/>
              </a:spcAft>
              <a:buNone/>
            </a:pPr>
            <a:r>
              <a:rPr lang="zh-CN" sz="2300">
                <a:solidFill>
                  <a:srgbClr val="1A2433"/>
                </a:solidFill>
              </a:rPr>
              <a:t>Turn number and ghost movement rule</a:t>
            </a:r>
            <a:endParaRPr sz="2300">
              <a:solidFill>
                <a:srgbClr val="1A2433"/>
              </a:solidFill>
            </a:endParaRPr>
          </a:p>
        </p:txBody>
      </p:sp>
      <p:sp>
        <p:nvSpPr>
          <p:cNvPr id="158" name="Google Shape;158;p25"/>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Structured state; the model controls the player</a:t>
            </a:r>
            <a:endParaRPr sz="900">
              <a:solidFill>
                <a:srgbClr val="5E6E80"/>
              </a:solidFill>
            </a:endParaRPr>
          </a:p>
        </p:txBody>
      </p:sp>
      <p:sp>
        <p:nvSpPr>
          <p:cNvPr id="159" name="Google Shape;159;p25"/>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13</a:t>
            </a:r>
            <a:endParaRPr sz="900">
              <a:solidFill>
                <a:srgbClr val="5E6E80"/>
              </a:solidFill>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3" name="Shape 163"/>
        <p:cNvGrpSpPr/>
        <p:nvPr/>
      </p:nvGrpSpPr>
      <p:grpSpPr>
        <a:xfrm>
          <a:off x="0" y="0"/>
          <a:ext cx="0" cy="0"/>
          <a:chOff x="0" y="0"/>
          <a:chExt cx="0" cy="0"/>
        </a:xfrm>
      </p:grpSpPr>
      <p:sp>
        <p:nvSpPr>
          <p:cNvPr id="164" name="Google Shape;164;p26"/>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CP1: score a legal player move</a:t>
            </a:r>
            <a:endParaRPr b="1" sz="3000">
              <a:solidFill>
                <a:srgbClr val="111829"/>
              </a:solidFill>
            </a:endParaRPr>
          </a:p>
        </p:txBody>
      </p:sp>
      <p:sp>
        <p:nvSpPr>
          <p:cNvPr id="165" name="Google Shape;165;p26"/>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Pack state, question and legal options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Read decision-token and option-token features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Score each option with the pointer head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Read probabilities by direction name</a:t>
            </a:r>
            <a:endParaRPr sz="2300">
              <a:solidFill>
                <a:srgbClr val="1A2433"/>
              </a:solidFill>
            </a:endParaRPr>
          </a:p>
          <a:p>
            <a:pPr indent="0" lvl="0" marL="0" marR="0" rtl="0" algn="l">
              <a:lnSpc>
                <a:spcPct val="112000"/>
              </a:lnSpc>
              <a:spcBef>
                <a:spcPts val="800"/>
              </a:spcBef>
              <a:spcAft>
                <a:spcPts val="800"/>
              </a:spcAft>
              <a:buNone/>
            </a:pPr>
            <a:r>
              <a:rPr lang="zh-CN" sz="2300">
                <a:solidFill>
                  <a:srgbClr val="1A2433"/>
                </a:solidFill>
              </a:rPr>
              <a:t>Apply the move through the game code</a:t>
            </a:r>
            <a:endParaRPr sz="2300">
              <a:solidFill>
                <a:srgbClr val="1A2433"/>
              </a:solidFill>
            </a:endParaRPr>
          </a:p>
        </p:txBody>
      </p:sp>
      <p:sp>
        <p:nvSpPr>
          <p:cNvPr id="166" name="Google Shape;166;p26"/>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800"/>
              </a:spcAft>
              <a:buNone/>
            </a:pPr>
            <a:r>
              <a:rPr lang="zh-CN" sz="900">
                <a:solidFill>
                  <a:srgbClr val="5E6E80"/>
                </a:solidFill>
              </a:rPr>
              <a:t>The model chooses Pac-Man's move. Game code advances the ghosts.</a:t>
            </a:r>
            <a:endParaRPr sz="900">
              <a:solidFill>
                <a:srgbClr val="5E6E80"/>
              </a:solidFill>
            </a:endParaRPr>
          </a:p>
        </p:txBody>
      </p:sp>
      <p:sp>
        <p:nvSpPr>
          <p:cNvPr id="167" name="Google Shape;167;p26"/>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14</a:t>
            </a:r>
            <a:endParaRPr sz="900">
              <a:solidFill>
                <a:srgbClr val="5E6E80"/>
              </a:solidFill>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1" name="Shape 171"/>
        <p:cNvGrpSpPr/>
        <p:nvPr/>
      </p:nvGrpSpPr>
      <p:grpSpPr>
        <a:xfrm>
          <a:off x="0" y="0"/>
          <a:ext cx="0" cy="0"/>
          <a:chOff x="0" y="0"/>
          <a:chExt cx="0" cy="0"/>
        </a:xfrm>
      </p:grpSpPr>
      <p:sp>
        <p:nvSpPr>
          <p:cNvPr id="172" name="Google Shape;172;p27"/>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What a probability tells us</a:t>
            </a:r>
            <a:endParaRPr b="1" sz="3000">
              <a:solidFill>
                <a:srgbClr val="111829"/>
              </a:solidFill>
            </a:endParaRPr>
          </a:p>
        </p:txBody>
      </p:sp>
      <p:sp>
        <p:nvSpPr>
          <p:cNvPr id="173" name="Google Shape;173;p27"/>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Select the highest-scoring legal action</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Inspect competing directions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Compare calibration on labelled examples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Confidence is not maze success</a:t>
            </a:r>
            <a:endParaRPr sz="2300">
              <a:solidFill>
                <a:srgbClr val="1A2433"/>
              </a:solidFill>
            </a:endParaRPr>
          </a:p>
          <a:p>
            <a:pPr indent="0" lvl="0" marL="0" rtl="0" algn="l">
              <a:lnSpc>
                <a:spcPct val="112000"/>
              </a:lnSpc>
              <a:spcBef>
                <a:spcPts val="800"/>
              </a:spcBef>
              <a:spcAft>
                <a:spcPts val="800"/>
              </a:spcAft>
              <a:buNone/>
            </a:pPr>
            <a:r>
              <a:rPr lang="zh-CN" sz="2300">
                <a:solidFill>
                  <a:srgbClr val="1A2433"/>
                </a:solidFill>
              </a:rPr>
              <a:t>A legal move can still be strategically poor</a:t>
            </a:r>
            <a:endParaRPr sz="2300">
              <a:solidFill>
                <a:srgbClr val="1A2433"/>
              </a:solidFill>
            </a:endParaRPr>
          </a:p>
        </p:txBody>
      </p:sp>
      <p:sp>
        <p:nvSpPr>
          <p:cNvPr id="174" name="Google Shape;174;p27"/>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Use the same actions and calibration protocol when comparing models</a:t>
            </a:r>
            <a:endParaRPr sz="900">
              <a:solidFill>
                <a:srgbClr val="5E6E80"/>
              </a:solidFill>
            </a:endParaRPr>
          </a:p>
        </p:txBody>
      </p:sp>
      <p:sp>
        <p:nvSpPr>
          <p:cNvPr id="175" name="Google Shape;175;p27"/>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15</a:t>
            </a:r>
            <a:endParaRPr sz="900">
              <a:solidFill>
                <a:srgbClr val="5E6E80"/>
              </a:solidFil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79" name="Shape 179"/>
        <p:cNvGrpSpPr/>
        <p:nvPr/>
      </p:nvGrpSpPr>
      <p:grpSpPr>
        <a:xfrm>
          <a:off x="0" y="0"/>
          <a:ext cx="0" cy="0"/>
          <a:chOff x="0" y="0"/>
          <a:chExt cx="0" cy="0"/>
        </a:xfrm>
      </p:grpSpPr>
      <p:sp>
        <p:nvSpPr>
          <p:cNvPr id="180" name="Google Shape;180;p28"/>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CP2: prepare player labels</a:t>
            </a:r>
            <a:endParaRPr b="1" sz="3000">
              <a:solidFill>
                <a:srgbClr val="111829"/>
              </a:solidFill>
            </a:endParaRPr>
          </a:p>
        </p:txBody>
      </p:sp>
      <p:sp>
        <p:nvSpPr>
          <p:cNvPr id="181" name="Google Shape;181;p28"/>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64 train, 16 development, 16 evaluation</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Inspect three boards and annotate legal moves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Starter labels follow a stated heuristic</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Keep all edits in the training partition</a:t>
            </a:r>
            <a:endParaRPr sz="2300">
              <a:solidFill>
                <a:srgbClr val="1A2433"/>
              </a:solidFill>
            </a:endParaRPr>
          </a:p>
          <a:p>
            <a:pPr indent="0" lvl="0" marL="0" rtl="0" algn="l">
              <a:lnSpc>
                <a:spcPct val="112000"/>
              </a:lnSpc>
              <a:spcBef>
                <a:spcPts val="800"/>
              </a:spcBef>
              <a:spcAft>
                <a:spcPts val="800"/>
              </a:spcAft>
              <a:buNone/>
            </a:pPr>
            <a:r>
              <a:rPr lang="zh-CN" sz="2300">
                <a:solidFill>
                  <a:srgbClr val="1A2433"/>
                </a:solidFill>
              </a:rPr>
              <a:t>Keep evaluation closed until the model is fixed</a:t>
            </a:r>
            <a:endParaRPr sz="2300">
              <a:solidFill>
                <a:srgbClr val="1A2433"/>
              </a:solidFill>
            </a:endParaRPr>
          </a:p>
        </p:txBody>
      </p:sp>
      <p:sp>
        <p:nvSpPr>
          <p:cNvPr id="182" name="Google Shape;182;p28"/>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Synthetic teacher labels are not human demonstrations</a:t>
            </a:r>
            <a:endParaRPr sz="900">
              <a:solidFill>
                <a:srgbClr val="5E6E80"/>
              </a:solidFill>
            </a:endParaRPr>
          </a:p>
        </p:txBody>
      </p:sp>
      <p:sp>
        <p:nvSpPr>
          <p:cNvPr id="183" name="Google Shape;183;p28"/>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16</a:t>
            </a:r>
            <a:endParaRPr sz="900">
              <a:solidFill>
                <a:srgbClr val="5E6E80"/>
              </a:solidFill>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7" name="Shape 187"/>
        <p:cNvGrpSpPr/>
        <p:nvPr/>
      </p:nvGrpSpPr>
      <p:grpSpPr>
        <a:xfrm>
          <a:off x="0" y="0"/>
          <a:ext cx="0" cy="0"/>
          <a:chOff x="0" y="0"/>
          <a:chExt cx="0" cy="0"/>
        </a:xfrm>
      </p:grpSpPr>
      <p:sp>
        <p:nvSpPr>
          <p:cNvPr id="188" name="Google Shape;188;p29"/>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Initial decision training</a:t>
            </a:r>
            <a:endParaRPr b="1" sz="3000">
              <a:solidFill>
                <a:srgbClr val="111829"/>
              </a:solidFill>
            </a:endParaRPr>
          </a:p>
        </p:txBody>
      </p:sp>
      <p:sp>
        <p:nvSpPr>
          <p:cNvPr id="189" name="Google Shape;189;p29"/>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Load the pinned pretrained Qwen base</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Initialize fresh LoRA and a pointer head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Train on 12,576 decision-v7 records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Two epochs, batch 8, learning rate 1e-4</a:t>
            </a:r>
            <a:endParaRPr sz="2300">
              <a:solidFill>
                <a:srgbClr val="1A2433"/>
              </a:solidFill>
            </a:endParaRPr>
          </a:p>
          <a:p>
            <a:pPr indent="0" lvl="0" marL="0" marR="0" rtl="0" algn="l">
              <a:lnSpc>
                <a:spcPct val="112000"/>
              </a:lnSpc>
              <a:spcBef>
                <a:spcPts val="800"/>
              </a:spcBef>
              <a:spcAft>
                <a:spcPts val="800"/>
              </a:spcAft>
              <a:buNone/>
            </a:pPr>
            <a:r>
              <a:rPr lang="zh-CN" sz="2300">
                <a:solidFill>
                  <a:srgbClr val="1A2433"/>
                </a:solidFill>
              </a:rPr>
              <a:t>Use cross-entropy over supplied options</a:t>
            </a:r>
            <a:endParaRPr sz="2300">
              <a:solidFill>
                <a:srgbClr val="1A2433"/>
              </a:solidFill>
            </a:endParaRPr>
          </a:p>
        </p:txBody>
      </p:sp>
      <p:sp>
        <p:nvSpPr>
          <p:cNvPr id="190" name="Google Shape;190;p29"/>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800"/>
              </a:spcAft>
              <a:buNone/>
            </a:pPr>
            <a:r>
              <a:rPr lang="zh-CN" sz="900">
                <a:solidFill>
                  <a:srgbClr val="5E6E80"/>
                </a:solidFill>
              </a:rPr>
              <a:t>Complete this full base stage as prework. No --init_from.</a:t>
            </a:r>
            <a:endParaRPr sz="900">
              <a:solidFill>
                <a:srgbClr val="5E6E80"/>
              </a:solidFill>
            </a:endParaRPr>
          </a:p>
        </p:txBody>
      </p:sp>
      <p:sp>
        <p:nvSpPr>
          <p:cNvPr id="191" name="Google Shape;191;p29"/>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17</a:t>
            </a:r>
            <a:endParaRPr sz="900">
              <a:solidFill>
                <a:srgbClr val="5E6E80"/>
              </a:solidFill>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5" name="Shape 195"/>
        <p:cNvGrpSpPr/>
        <p:nvPr/>
      </p:nvGrpSpPr>
      <p:grpSpPr>
        <a:xfrm>
          <a:off x="0" y="0"/>
          <a:ext cx="0" cy="0"/>
          <a:chOff x="0" y="0"/>
          <a:chExt cx="0" cy="0"/>
        </a:xfrm>
      </p:grpSpPr>
      <p:sp>
        <p:nvSpPr>
          <p:cNvPr id="196" name="Google Shape;196;p30"/>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CP3: 30 minutes of fine-tuning</a:t>
            </a:r>
            <a:endParaRPr b="1" sz="3000">
              <a:solidFill>
                <a:srgbClr val="111829"/>
              </a:solidFill>
            </a:endParaRPr>
          </a:p>
        </p:txBody>
      </p:sp>
      <p:sp>
        <p:nvSpPr>
          <p:cNvPr id="197" name="Google Shape;197;p30"/>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5 min    Inspect labelled moves and the loss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20 min  Fine-tune your initial checkpoint</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5 min    Inspect and save the adapter/head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Update LoRA and the pointer head together</a:t>
            </a:r>
            <a:endParaRPr sz="2300">
              <a:solidFill>
                <a:srgbClr val="1A2433"/>
              </a:solidFill>
            </a:endParaRPr>
          </a:p>
          <a:p>
            <a:pPr indent="0" lvl="0" marL="0" marR="0" rtl="0" algn="l">
              <a:lnSpc>
                <a:spcPct val="112000"/>
              </a:lnSpc>
              <a:spcBef>
                <a:spcPts val="800"/>
              </a:spcBef>
              <a:spcAft>
                <a:spcPts val="800"/>
              </a:spcAft>
              <a:buNone/>
            </a:pPr>
            <a:r>
              <a:rPr lang="zh-CN" sz="2300">
                <a:solidFill>
                  <a:srgbClr val="1A2433"/>
                </a:solidFill>
              </a:rPr>
              <a:t>Keep original base matrices unchanged</a:t>
            </a:r>
            <a:endParaRPr sz="2300">
              <a:solidFill>
                <a:srgbClr val="1A2433"/>
              </a:solidFill>
            </a:endParaRPr>
          </a:p>
        </p:txBody>
      </p:sp>
      <p:sp>
        <p:nvSpPr>
          <p:cNvPr id="198" name="Google Shape;198;p30"/>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800"/>
              </a:spcAft>
              <a:buNone/>
            </a:pPr>
            <a:r>
              <a:rPr lang="zh-CN" sz="900">
                <a:solidFill>
                  <a:srgbClr val="5E6E80"/>
                </a:solidFill>
              </a:rPr>
              <a:t>Mandatory domain adaptation, warm-started with --init_from</a:t>
            </a:r>
            <a:endParaRPr sz="900">
              <a:solidFill>
                <a:srgbClr val="5E6E80"/>
              </a:solidFill>
            </a:endParaRPr>
          </a:p>
        </p:txBody>
      </p:sp>
      <p:sp>
        <p:nvSpPr>
          <p:cNvPr id="199" name="Google Shape;199;p30"/>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18</a:t>
            </a:r>
            <a:endParaRPr sz="900">
              <a:solidFill>
                <a:srgbClr val="5E6E80"/>
              </a:solidFill>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3" name="Shape 203"/>
        <p:cNvGrpSpPr/>
        <p:nvPr/>
      </p:nvGrpSpPr>
      <p:grpSpPr>
        <a:xfrm>
          <a:off x="0" y="0"/>
          <a:ext cx="0" cy="0"/>
          <a:chOff x="0" y="0"/>
          <a:chExt cx="0" cy="0"/>
        </a:xfrm>
      </p:grpSpPr>
      <p:sp>
        <p:nvSpPr>
          <p:cNvPr id="204" name="Google Shape;204;p31"/>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Check what training changed</a:t>
            </a:r>
            <a:endParaRPr b="1" sz="3000">
              <a:solidFill>
                <a:srgbClr val="111829"/>
              </a:solidFill>
            </a:endParaRPr>
          </a:p>
        </p:txBody>
      </p:sp>
      <p:sp>
        <p:nvSpPr>
          <p:cNvPr id="205" name="Google Shape;205;p31"/>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Trainable: LoRA and pointer-head parameters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Original base matrices remain fixed</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Encoder features change through LoRA</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Save adapter, head and base/data revisions</a:t>
            </a:r>
            <a:endParaRPr sz="2300">
              <a:solidFill>
                <a:srgbClr val="1A2433"/>
              </a:solidFill>
            </a:endParaRPr>
          </a:p>
          <a:p>
            <a:pPr indent="0" lvl="0" marL="0" marR="0" rtl="0" algn="l">
              <a:lnSpc>
                <a:spcPct val="112000"/>
              </a:lnSpc>
              <a:spcBef>
                <a:spcPts val="800"/>
              </a:spcBef>
              <a:spcAft>
                <a:spcPts val="800"/>
              </a:spcAft>
              <a:buNone/>
            </a:pPr>
            <a:r>
              <a:rPr lang="zh-CN" sz="2300">
                <a:solidFill>
                  <a:srgbClr val="1A2433"/>
                </a:solidFill>
              </a:rPr>
              <a:t>Record steps, elapsed time and peak memory</a:t>
            </a:r>
            <a:endParaRPr sz="2300">
              <a:solidFill>
                <a:srgbClr val="1A2433"/>
              </a:solidFill>
            </a:endParaRPr>
          </a:p>
        </p:txBody>
      </p:sp>
      <p:sp>
        <p:nvSpPr>
          <p:cNvPr id="206" name="Google Shape;206;p31"/>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800"/>
              </a:spcAft>
              <a:buNone/>
            </a:pPr>
            <a:r>
              <a:rPr lang="zh-CN" sz="900">
                <a:solidFill>
                  <a:srgbClr val="5E6E80"/>
                </a:solidFill>
              </a:rPr>
              <a:t>Fixed base matrices still allow gradients through the encoder</a:t>
            </a:r>
            <a:endParaRPr sz="900">
              <a:solidFill>
                <a:srgbClr val="5E6E80"/>
              </a:solidFill>
            </a:endParaRPr>
          </a:p>
        </p:txBody>
      </p:sp>
      <p:sp>
        <p:nvSpPr>
          <p:cNvPr id="207" name="Google Shape;207;p31"/>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19</a:t>
            </a:r>
            <a:endParaRPr sz="900">
              <a:solidFill>
                <a:srgbClr val="5E6E80"/>
              </a:solidFill>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1" name="Shape 211"/>
        <p:cNvGrpSpPr/>
        <p:nvPr/>
      </p:nvGrpSpPr>
      <p:grpSpPr>
        <a:xfrm>
          <a:off x="0" y="0"/>
          <a:ext cx="0" cy="0"/>
          <a:chOff x="0" y="0"/>
          <a:chExt cx="0" cy="0"/>
        </a:xfrm>
      </p:grpSpPr>
      <p:sp>
        <p:nvSpPr>
          <p:cNvPr id="212" name="Google Shape;212;p32"/>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CP4: compare the same boards</a:t>
            </a:r>
            <a:endParaRPr b="1" sz="3000">
              <a:solidFill>
                <a:srgbClr val="111829"/>
              </a:solidFill>
            </a:endParaRPr>
          </a:p>
        </p:txBody>
      </p:sp>
      <p:sp>
        <p:nvSpPr>
          <p:cNvPr id="213" name="Google Shape;213;p32"/>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Fix initial and Pac-Man checkpoints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Score the same 16 evaluation boards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Compare teacher accuracy and captures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Save paired predictions by board ID</a:t>
            </a:r>
            <a:endParaRPr sz="2300">
              <a:solidFill>
                <a:srgbClr val="1A2433"/>
              </a:solidFill>
            </a:endParaRPr>
          </a:p>
          <a:p>
            <a:pPr indent="0" lvl="0" marL="0" marR="0" rtl="0" algn="l">
              <a:lnSpc>
                <a:spcPct val="112000"/>
              </a:lnSpc>
              <a:spcBef>
                <a:spcPts val="800"/>
              </a:spcBef>
              <a:spcAft>
                <a:spcPts val="800"/>
              </a:spcAft>
              <a:buNone/>
            </a:pPr>
            <a:r>
              <a:rPr lang="zh-CN" sz="2300">
                <a:solidFill>
                  <a:srgbClr val="1A2433"/>
                </a:solidFill>
              </a:rPr>
              <a:t>Include a deterministic rules baseline</a:t>
            </a:r>
            <a:endParaRPr sz="2300">
              <a:solidFill>
                <a:srgbClr val="1A2433"/>
              </a:solidFill>
            </a:endParaRPr>
          </a:p>
        </p:txBody>
      </p:sp>
      <p:sp>
        <p:nvSpPr>
          <p:cNvPr id="214" name="Google Shape;214;p32"/>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One maze and 16 boards do not establish general game skill</a:t>
            </a:r>
            <a:endParaRPr sz="900">
              <a:solidFill>
                <a:srgbClr val="5E6E80"/>
              </a:solidFill>
            </a:endParaRPr>
          </a:p>
        </p:txBody>
      </p:sp>
      <p:sp>
        <p:nvSpPr>
          <p:cNvPr id="215" name="Google Shape;215;p32"/>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20</a:t>
            </a:r>
            <a:endParaRPr sz="900">
              <a:solidFill>
                <a:srgbClr val="5E6E80"/>
              </a:solidFill>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9" name="Shape 219"/>
        <p:cNvGrpSpPr/>
        <p:nvPr/>
      </p:nvGrpSpPr>
      <p:grpSpPr>
        <a:xfrm>
          <a:off x="0" y="0"/>
          <a:ext cx="0" cy="0"/>
          <a:chOff x="0" y="0"/>
          <a:chExt cx="0" cy="0"/>
        </a:xfrm>
      </p:grpSpPr>
      <p:sp>
        <p:nvSpPr>
          <p:cNvPr id="220" name="Google Shape;220;p33"/>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CP4: compare cost and gameplay</a:t>
            </a:r>
            <a:endParaRPr b="1" sz="3000">
              <a:solidFill>
                <a:srgbClr val="111829"/>
              </a:solidFill>
            </a:endParaRPr>
          </a:p>
        </p:txBody>
      </p:sp>
      <p:sp>
        <p:nvSpPr>
          <p:cNvPr id="221" name="Google Shape;221;p33"/>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Use identical starts and fixed-code ghosts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Compare dots collected and game turns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Measure end-to-end decision latency</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Record actual training time and peak memory</a:t>
            </a:r>
            <a:endParaRPr sz="2300">
              <a:solidFill>
                <a:srgbClr val="1A2433"/>
              </a:solidFill>
            </a:endParaRPr>
          </a:p>
          <a:p>
            <a:pPr indent="0" lvl="0" marL="0" marR="0" rtl="0" algn="l">
              <a:lnSpc>
                <a:spcPct val="112000"/>
              </a:lnSpc>
              <a:spcBef>
                <a:spcPts val="800"/>
              </a:spcBef>
              <a:spcAft>
                <a:spcPts val="800"/>
              </a:spcAft>
              <a:buNone/>
            </a:pPr>
            <a:r>
              <a:rPr lang="zh-CN" sz="2300">
                <a:solidFill>
                  <a:srgbClr val="1A2433"/>
                </a:solidFill>
              </a:rPr>
              <a:t>Record Colab compute units consumed</a:t>
            </a:r>
            <a:endParaRPr sz="2300">
              <a:solidFill>
                <a:srgbClr val="1A2433"/>
              </a:solidFill>
            </a:endParaRPr>
          </a:p>
        </p:txBody>
      </p:sp>
      <p:sp>
        <p:nvSpPr>
          <p:cNvPr id="222" name="Google Shape;222;p33"/>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Gameplay quality and inference speed are separate outcomes</a:t>
            </a:r>
            <a:endParaRPr sz="900">
              <a:solidFill>
                <a:srgbClr val="5E6E80"/>
              </a:solidFill>
            </a:endParaRPr>
          </a:p>
        </p:txBody>
      </p:sp>
      <p:sp>
        <p:nvSpPr>
          <p:cNvPr id="223" name="Google Shape;223;p33"/>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21</a:t>
            </a:r>
            <a:endParaRPr sz="900">
              <a:solidFill>
                <a:srgbClr val="5E6E80"/>
              </a:solidFill>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7" name="Shape 227"/>
        <p:cNvGrpSpPr/>
        <p:nvPr/>
      </p:nvGrpSpPr>
      <p:grpSpPr>
        <a:xfrm>
          <a:off x="0" y="0"/>
          <a:ext cx="0" cy="0"/>
          <a:chOff x="0" y="0"/>
          <a:chExt cx="0" cy="0"/>
        </a:xfrm>
      </p:grpSpPr>
      <p:sp>
        <p:nvSpPr>
          <p:cNvPr id="228" name="Google Shape;228;p34"/>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CP5: explain and submit</a:t>
            </a:r>
            <a:endParaRPr b="1" sz="3000">
              <a:solidFill>
                <a:srgbClr val="111829"/>
              </a:solidFill>
            </a:endParaRPr>
          </a:p>
        </p:txBody>
      </p:sp>
      <p:sp>
        <p:nvSpPr>
          <p:cNvPr id="229" name="Google Shape;229;p34"/>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0"/>
              </a:spcAft>
              <a:buNone/>
            </a:pPr>
            <a:r>
              <a:rPr lang="zh-CN" sz="2300">
                <a:solidFill>
                  <a:srgbClr val="1A2433"/>
                </a:solidFill>
              </a:rPr>
              <a:t>Explain one changed move and one mistake</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Show which parameters received gradients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Save both adapters and pointer heads</a:t>
            </a:r>
            <a:endParaRPr sz="2300">
              <a:solidFill>
                <a:srgbClr val="1A2433"/>
              </a:solidFill>
            </a:endParaRPr>
          </a:p>
          <a:p>
            <a:pPr indent="0" lvl="0" marL="0" marR="0" rtl="0" algn="l">
              <a:lnSpc>
                <a:spcPct val="112000"/>
              </a:lnSpc>
              <a:spcBef>
                <a:spcPts val="800"/>
              </a:spcBef>
              <a:spcAft>
                <a:spcPts val="0"/>
              </a:spcAft>
              <a:buNone/>
            </a:pPr>
            <a:r>
              <a:rPr lang="zh-CN" sz="2300">
                <a:solidFill>
                  <a:srgbClr val="1A2433"/>
                </a:solidFill>
              </a:rPr>
              <a:t>Submit paired predictions and runtime evidence</a:t>
            </a:r>
            <a:endParaRPr sz="2300">
              <a:solidFill>
                <a:srgbClr val="1A2433"/>
              </a:solidFill>
            </a:endParaRPr>
          </a:p>
          <a:p>
            <a:pPr indent="0" lvl="0" marL="0" marR="0" rtl="0" algn="l">
              <a:lnSpc>
                <a:spcPct val="112000"/>
              </a:lnSpc>
              <a:spcBef>
                <a:spcPts val="800"/>
              </a:spcBef>
              <a:spcAft>
                <a:spcPts val="800"/>
              </a:spcAft>
              <a:buNone/>
            </a:pPr>
            <a:r>
              <a:rPr lang="zh-CN" sz="2300">
                <a:solidFill>
                  <a:srgbClr val="1A2433"/>
                </a:solidFill>
              </a:rPr>
              <a:t>Separate observations from broader claims</a:t>
            </a:r>
            <a:endParaRPr sz="2300">
              <a:solidFill>
                <a:srgbClr val="1A2433"/>
              </a:solidFill>
            </a:endParaRPr>
          </a:p>
        </p:txBody>
      </p:sp>
      <p:sp>
        <p:nvSpPr>
          <p:cNvPr id="230" name="Google Shape;230;p34"/>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marR="0" rtl="0" algn="l">
              <a:lnSpc>
                <a:spcPct val="112000"/>
              </a:lnSpc>
              <a:spcBef>
                <a:spcPts val="0"/>
              </a:spcBef>
              <a:spcAft>
                <a:spcPts val="800"/>
              </a:spcAft>
              <a:buNone/>
            </a:pPr>
            <a:r>
              <a:rPr lang="zh-CN" sz="900">
                <a:solidFill>
                  <a:srgbClr val="5E6E80"/>
                </a:solidFill>
              </a:rPr>
              <a:t>Evidence: initial decision model, domain adaptation, paired evaluation</a:t>
            </a:r>
            <a:endParaRPr sz="900">
              <a:solidFill>
                <a:srgbClr val="5E6E80"/>
              </a:solidFill>
            </a:endParaRPr>
          </a:p>
        </p:txBody>
      </p:sp>
      <p:sp>
        <p:nvSpPr>
          <p:cNvPr id="231" name="Google Shape;231;p34"/>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22</a:t>
            </a:r>
            <a:endParaRPr sz="900">
              <a:solidFill>
                <a:srgbClr val="5E6E80"/>
              </a:solidFill>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35" name="Shape 235"/>
        <p:cNvGrpSpPr/>
        <p:nvPr/>
      </p:nvGrpSpPr>
      <p:grpSpPr>
        <a:xfrm>
          <a:off x="0" y="0"/>
          <a:ext cx="0" cy="0"/>
          <a:chOff x="0" y="0"/>
          <a:chExt cx="0" cy="0"/>
        </a:xfrm>
      </p:grpSpPr>
      <p:sp>
        <p:nvSpPr>
          <p:cNvPr id="236" name="Google Shape;236;p35"/>
          <p:cNvSpPr txBox="1"/>
          <p:nvPr>
            <p:ph type="title"/>
          </p:nvPr>
        </p:nvSpPr>
        <p:spPr>
          <a:xfrm>
            <a:off x="457200" y="330200"/>
            <a:ext cx="8229600" cy="838200"/>
          </a:xfrm>
          <a:prstGeom prst="rect">
            <a:avLst/>
          </a:prstGeom>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b="1" lang="zh-CN" sz="3000">
                <a:solidFill>
                  <a:srgbClr val="111829"/>
                </a:solidFill>
              </a:rPr>
              <a:t>The community starting point</a:t>
            </a:r>
            <a:endParaRPr b="1" sz="3000">
              <a:solidFill>
                <a:srgbClr val="111829"/>
              </a:solidFill>
            </a:endParaRPr>
          </a:p>
        </p:txBody>
      </p:sp>
      <p:sp>
        <p:nvSpPr>
          <p:cNvPr id="237" name="Google Shape;237;p35"/>
          <p:cNvSpPr txBox="1"/>
          <p:nvPr/>
        </p:nvSpPr>
        <p:spPr>
          <a:xfrm>
            <a:off x="457200" y="1473200"/>
            <a:ext cx="8229600" cy="29718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0"/>
              </a:spcAft>
              <a:buNone/>
            </a:pPr>
            <a:r>
              <a:rPr lang="zh-CN" sz="2300">
                <a:solidFill>
                  <a:srgbClr val="1A2433"/>
                </a:solidFill>
              </a:rPr>
              <a:t>Source: codaaiteam/jev-pacman, MIT</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Original demo: human player, Jev ghosts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Our design: learned player, fixed-code ghosts</a:t>
            </a:r>
            <a:endParaRPr sz="2300">
              <a:solidFill>
                <a:srgbClr val="1A2433"/>
              </a:solidFill>
            </a:endParaRPr>
          </a:p>
          <a:p>
            <a:pPr indent="0" lvl="0" marL="0" rtl="0" algn="l">
              <a:lnSpc>
                <a:spcPct val="112000"/>
              </a:lnSpc>
              <a:spcBef>
                <a:spcPts val="800"/>
              </a:spcBef>
              <a:spcAft>
                <a:spcPts val="0"/>
              </a:spcAft>
              <a:buNone/>
            </a:pPr>
            <a:r>
              <a:rPr lang="zh-CN" sz="2300">
                <a:solidFill>
                  <a:srgbClr val="1A2433"/>
                </a:solidFill>
              </a:rPr>
              <a:t>Use the same maze and rules for every model</a:t>
            </a:r>
            <a:endParaRPr sz="2300">
              <a:solidFill>
                <a:srgbClr val="1A2433"/>
              </a:solidFill>
            </a:endParaRPr>
          </a:p>
          <a:p>
            <a:pPr indent="0" lvl="0" marL="0" rtl="0" algn="l">
              <a:lnSpc>
                <a:spcPct val="112000"/>
              </a:lnSpc>
              <a:spcBef>
                <a:spcPts val="800"/>
              </a:spcBef>
              <a:spcAft>
                <a:spcPts val="800"/>
              </a:spcAft>
              <a:buNone/>
            </a:pPr>
            <a:r>
              <a:rPr lang="zh-CN" sz="2300">
                <a:solidFill>
                  <a:srgbClr val="1A2433"/>
                </a:solidFill>
              </a:rPr>
              <a:t>No ROM setup for this browser clone</a:t>
            </a:r>
            <a:endParaRPr sz="2300">
              <a:solidFill>
                <a:srgbClr val="1A2433"/>
              </a:solidFill>
            </a:endParaRPr>
          </a:p>
        </p:txBody>
      </p:sp>
      <p:sp>
        <p:nvSpPr>
          <p:cNvPr id="238" name="Google Shape;238;p35"/>
          <p:cNvSpPr txBox="1"/>
          <p:nvPr/>
        </p:nvSpPr>
        <p:spPr>
          <a:xfrm>
            <a:off x="457200" y="4800600"/>
            <a:ext cx="77724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Clean upstream source and MIT notice are preserved</a:t>
            </a:r>
            <a:endParaRPr sz="900">
              <a:solidFill>
                <a:srgbClr val="5E6E80"/>
              </a:solidFill>
            </a:endParaRPr>
          </a:p>
        </p:txBody>
      </p:sp>
      <p:sp>
        <p:nvSpPr>
          <p:cNvPr id="239" name="Google Shape;239;p35"/>
          <p:cNvSpPr txBox="1"/>
          <p:nvPr/>
        </p:nvSpPr>
        <p:spPr>
          <a:xfrm>
            <a:off x="8470900" y="4800600"/>
            <a:ext cx="304800" cy="203100"/>
          </a:xfrm>
          <a:prstGeom prst="rect">
            <a:avLst/>
          </a:prstGeom>
          <a:noFill/>
          <a:ln>
            <a:noFill/>
          </a:ln>
        </p:spPr>
        <p:txBody>
          <a:bodyPr anchorCtr="0" anchor="t" bIns="91425" lIns="91425" spcFirstLastPara="1" rIns="91425" wrap="square" tIns="91425">
            <a:noAutofit/>
          </a:bodyPr>
          <a:lstStyle/>
          <a:p>
            <a:pPr indent="0" lvl="0" marL="0" rtl="0" algn="l">
              <a:lnSpc>
                <a:spcPct val="112000"/>
              </a:lnSpc>
              <a:spcBef>
                <a:spcPts val="0"/>
              </a:spcBef>
              <a:spcAft>
                <a:spcPts val="800"/>
              </a:spcAft>
              <a:buNone/>
            </a:pPr>
            <a:r>
              <a:rPr lang="zh-CN" sz="900">
                <a:solidFill>
                  <a:srgbClr val="5E6E80"/>
                </a:solidFill>
              </a:rPr>
              <a:t>23</a:t>
            </a:r>
            <a:endParaRPr sz="900">
              <a:solidFill>
                <a:srgbClr val="5E6E80"/>
              </a:solidFill>
            </a:endParaRPr>
          </a:p>
        </p:txBody>
      </p:sp>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