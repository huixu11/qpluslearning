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655EB68-0E38-4612-8FD0-F1ACDE5AE169}">
  <a:tblStyle styleId="{7655EB68-0E38-4612-8FD0-F1ACDE5AE16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kev_lab_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kev_lab_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Small-model Kev trains low-rank encoder adapters and a pointer head. Original base matrices stay fixed, but effective features change. CLM trains state/action projection heads and a similarity scale over completely fixed LLM features. Kev-27B is a separate full-fine-tuning recipe. The Pac-Man lab uses Kev-0.8B with the published decision-v7 base stage, then supervised player-domain adaptation. The comparison remains useful for understanding independent action caching and repeated training cost.</a:t>
            </a:r>
            <a:endParaRPr/>
          </a:p>
          <a:p>
            <a:pPr indent="0" lvl="0" marL="0" rtl="0" algn="l">
              <a:spcBef>
                <a:spcPts val="0"/>
              </a:spcBef>
              <a:spcAft>
                <a:spcPts val="0"/>
              </a:spcAft>
              <a:buNone/>
            </a:pPr>
            <a:r>
              <a:rPr lang="zh-CN"/>
              <a:t>Sources: https://github.com/jaredpalmer/kev/blob/84847f0a883d900f7de5b7a57eaa341ca7f9a6b4/kev/model.py ; https://github.com/Contrastive-LM/CLM/blob/bb42c6c5bf914fd449bed2f6ca65be80602cb1f7/src/clm/heads.py ; supplied Contrastive Language Models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decision_lab_pro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decision_lab_pro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Kev's joint causal representation can model state/option interactions before its readout. LoRA can adapt those representations but its benefit over a head-only variant requires a controlled ablation. CLM's independent encodings support reusable actions and cached backbone features; its learned heads can remap existing features but cannot guarantee recovery of information absent from the frozen representation. A larger CLM backbone can offset some representation limitations; this is an architectural inference, not a measured accuracy ordering.</a:t>
            </a:r>
            <a:endParaRPr/>
          </a:p>
          <a:p>
            <a:pPr indent="0" lvl="0" marL="0" rtl="0" algn="l">
              <a:spcBef>
                <a:spcPts val="0"/>
              </a:spcBef>
              <a:spcAft>
                <a:spcPts val="0"/>
              </a:spcAft>
              <a:buNone/>
            </a:pPr>
            <a:r>
              <a:rPr lang="zh-CN"/>
              <a:t>Sources: pinned Kev model.py; pinned CLM heads.py and train/finetune.py; supplied CLM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decision_lab_training_cost: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decision_lab_training_cost: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Conceptual accounting, not dollar estimates: CLM total work = feature extraction + the sum of head-training runs; Kev LoRA = the sum of encoder forward/backward plus head/adapter training runs. A feature cache can be reused across random seeds and head settings while backbone, tokenizer, pooling and input recipe stay fixed. The CLM PDF reports about one hour on an RTX 4090 for the Nemotron head pretraining run after describing precomputed LLM embeddings. It does not establish the end-to-end time including extraction, download, dataset preparation or synthetic-negative generation. A LoRA model has fewer trainable parameters than full fine-tuning but still needs encoder activations and backpropagation. Free quotas change payments, not the amount of compute. Record actual hardware-hours rather than inventing prices.</a:t>
            </a:r>
            <a:endParaRPr/>
          </a:p>
          <a:p>
            <a:pPr indent="0" lvl="0" marL="0" rtl="0" algn="l">
              <a:spcBef>
                <a:spcPts val="0"/>
              </a:spcBef>
              <a:spcAft>
                <a:spcPts val="0"/>
              </a:spcAft>
              <a:buNone/>
            </a:pPr>
            <a:r>
              <a:rPr lang="zh-CN"/>
              <a:t>Sources: supplied CLM PDF page 6; https://github.com/Contrastive-LM/CLM/blob/bb42c6c5bf914fd449bed2f6ca65be80602cb1f7/train/finetune.py ; pinned Kev model.py and train.py.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decision_lab_serving_cost: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decision_lab_serving_cost: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Decimal GB estimates use rounded parameter counts and BF16's two bytes per parameter. They exclude tokenizer/embedding peculiarities, heads, KV or recurrent state, activations, quantization metadata and runtime overhead. Do not present these as peak memory measurements. CLM's state and action paths can use one shared frozen backbone instance. CLM action reuse saves repeated action token encoding; it is especially useful with repeated or many/long actions. It does not guarantee that released CLM-8B beats released Kev-0.8B or Kev-4B on four short directions. Quantization and backend implementations also affect serving cost and accuracy.</a:t>
            </a:r>
            <a:endParaRPr/>
          </a:p>
          <a:p>
            <a:pPr indent="0" lvl="0" marL="0" rtl="0" algn="l">
              <a:spcBef>
                <a:spcPts val="0"/>
              </a:spcBef>
              <a:spcAft>
                <a:spcPts val="0"/>
              </a:spcAft>
              <a:buNone/>
            </a:pPr>
            <a:r>
              <a:rPr lang="zh-CN"/>
              <a:t>Sources: https://github.com/jaredpalmer/kev ; https://github.com/Contrastive-LM/CLM ; supplied CLM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decision_lab_performanc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decision_lab_performanc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CLM PDF page 7: a 200-token state, 15 tokens per candidate, one RTX 4090 and five trials; latency rises from 36 ms for one cached candidate to 44 ms for 1,024. Its ~13x at 1,024 candidates is versus hosted Jev, not Kev. The llama.cpp announcement reports a 12 ms median for Kev-4B on RTX PRO 6000 for one question; it is not a matched run against CLM. Never divide 36 by 12 to infer a comparative speedup. No matched Kev-vs-CLM Pac-Man benchmark was identified in the reviewed sources. Their published accuracy suites and training data differ. Our 16-board sample is only a demonstration, not evidence of general superiority.</a:t>
            </a:r>
            <a:endParaRPr/>
          </a:p>
          <a:p>
            <a:pPr indent="0" lvl="0" marL="0" rtl="0" algn="l">
              <a:spcBef>
                <a:spcPts val="0"/>
              </a:spcBef>
              <a:spcAft>
                <a:spcPts val="0"/>
              </a:spcAft>
              <a:buNone/>
            </a:pPr>
            <a:r>
              <a:rPr lang="zh-CN"/>
              <a:t>Sources: supplied CLM PDF page 7; https://huggingface.co/blog/ggml-org/decision-models-in-llamacpp ; https://github.com/jaredpalmer/kev ; https://github.com/Contrastive-LM/CLM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decision_lab_model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decision_lab_model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Supported list is the October 2, 2026 release, not an exhaustive list of decision models. Julia and Laya use the same laya-style backend in llama.cpp: ModernBERT-family encoder, two decision transformer layers, type embedding and per-option MASK-marker scorer. Julia's training pipeline and exact freezing policy are not disclosed. Laya's published root architecture fully fine-tunes ModernBERT-large. Kev's small-model recipe trains LoRA and a pointer head. lev conversion supports mode A vocabulary-label readout only, not its mode B candidate-path head. Choice is evaluated in two orders and averaged. OpenJev is an independent project, not TypeSafe's hosted Jev; its card specifies decision tuning but not exactly which components received gradients. OpenJev's llama.cpp build supports a multimodal projector, even though some earlier quantized builds in its author's card are text-only. Do not generalize multilingual Laya subfolder capabilities to the English root checkpoint.</a:t>
            </a:r>
            <a:endParaRPr/>
          </a:p>
          <a:p>
            <a:pPr indent="0" lvl="0" marL="0" rtl="0" algn="l">
              <a:spcBef>
                <a:spcPts val="0"/>
              </a:spcBef>
              <a:spcAft>
                <a:spcPts val="0"/>
              </a:spcAft>
              <a:buNone/>
            </a:pPr>
            <a:r>
              <a:rPr lang="zh-CN"/>
              <a:t>Sources: https://huggingface.co/blog/ggml-org/decision-models-in-llamacpp ; https://github.com/ggml-org/llama.cpp/pull/29818 ; https://huggingface.co/SupersonicLabs/Julia-1 ; https://huggingface.co/convaiinnovations/laya ; https://huggingface.co/interfaze-ai/lev ; https://huggingface.co/openjev/openjev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decision_lab_cpp: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decision_lab_cp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merged llama.cpp PR adds decision type metadata, System One prompt templates, native score readouts and calibrated output formatting. Kev conversion merges alpha/r * B@A into floating-point base weights before later quantization, and embeds the pointer head in the GGUF. Inference weights are therefore adapted even though original matrices were fixed during LoRA training. Laya/Julia output option-marker scores; Kev outputs query/key vectors and dot products; lev/OpenJev read selected vocabulary logits. Causal tasks can share prompt prefixes. Multiple questions and lev's two choice variants can require multiple evaluations: zero output tokens is not one physical forward operation per HTTP request. This endpoint is for inference and does not supply a CLM training pipeline.</a:t>
            </a:r>
            <a:endParaRPr/>
          </a:p>
          <a:p>
            <a:pPr indent="0" lvl="0" marL="0" rtl="0" algn="l">
              <a:spcBef>
                <a:spcPts val="0"/>
              </a:spcBef>
              <a:spcAft>
                <a:spcPts val="0"/>
              </a:spcAft>
              <a:buNone/>
            </a:pPr>
            <a:r>
              <a:rPr lang="zh-CN"/>
              <a:t>Sources: https://github.com/ggml-org/llama.cpp/pull/29818 ; https://github.com/ggml-org/llama.cpp/blob/master/conversion/lev.py ; https://github.com/ggml-org/llama.cpp/blob/master/tools/server/server-decision.cpp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decision_lab_sglang: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decision_lab_sglang: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Status checked October 2, 2026. The shipped generic API requires no new decision head: chat-template prompts with thinking disabled score single-token answer labels via the shared /v1/score path. PR #41208 merged September 25; the earlier #40992 was closed into that stack. One prompt is built per question and items are batched. The generation/scoring request uses max_new_tokens=0. Ordinary Radix caching reuses token prefixes rather than separately encoded actions. Benefit: reuse a served chat model with no head training. Costs: each new state/question still needs prompt encoding and prefill, and the documentation's validated models are large. Models named on slide were validated on one H200 in BF16; this is not proof of free-GPU fit or a head-to-head latency benchmark. Label softmax is conditional on offered labels; label_mass/x_label_mass exposes full-vocabulary mass, and confidence needs task calibration. Hybrid-attention probabilities may shift across cold/warm cache and batch composition. LoRA adapter selection through the request is refused. Native Intern-Decision 0.8B/2B/4B option-marker support in #41712 (2B unverified; prerequisite #41724), and generic image input in #41922, are open proposals, not merged capabilities. Native Kev pointer-head and CLM projection-head support is not established by these docs.</a:t>
            </a:r>
            <a:endParaRPr/>
          </a:p>
          <a:p>
            <a:pPr indent="0" lvl="0" marL="0" rtl="0" algn="l">
              <a:spcBef>
                <a:spcPts val="0"/>
              </a:spcBef>
              <a:spcAft>
                <a:spcPts val="0"/>
              </a:spcAft>
              <a:buNone/>
            </a:pPr>
            <a:r>
              <a:rPr lang="zh-CN"/>
              <a:t>Sources: https://lmsysorg.mintlify.app/docs/supported-models/decision_models ; https://github.com/sgl-project/sglang/pull/41208 ; https://github.com/sgl-project/sglang/pull/41712 ; https://github.com/sgl-project/sglang/pull/41724 ; https://github.com/sgl-project/sglang/pull/41922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decision_lab_benchmark: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decision_lab_benchmark: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A product comparison can compare actual released checkpoints, but its result combines backbone size, pretraining, decision data, objective, head and runtime. An architecture experiment should match the pretrained backbone, input budget, examples, splits, training budget and hardware, and vary joint pointer/LoRA versus frozen dual-encoder heads deliberately. Include a rule-based teacher baseline. Record encoder time separately from projection/scoring and end-to-end latency; use p50/p95 over enough repeats, cache-cold and action-cache-warm runs, identical quantization where meaningful, peak allocated memory, hardware model and checkpoint IDs. A smaller Kev may cost less at inference despite CLM's reusable actions. This is a proposed protocol, not measured results.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kev_lab_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kev_lab_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lab uses Qwen/Qwen3.5-4B-Base@1001bb4d826a52d1f399e183466143f4da7b741b. Rank-16 LoRA (alpha 32) targets all supported projections, plus a 256-dimensional pointer head; the base matrices stay fixed. CP0 serves the completed Skills adapter. CP3 warm-starts that adapter for a separate Pac-Man task stage. The native game is masonicGIT/pacman@7407174c1d6a38be8cd230577489e39e0873145b. It retains the classic maze, assets, four ghost personalities, release rules, speed tables, phases, power pellets and fruit. It is a faithful recreation with documented differences from the arcade ROM. Calibration remains separate. Sources: https://huggingface.co/jaredpalmer/kev-4b ; https://github.com/masonicGIT/pacman/tree/7407174c1d6a38be8cd230577489e39e0873145b ; https://github.com/yxc20089/QPlusLearning/tree/main/labs/lab-01-kev-pacman</a:t>
            </a:r>
            <a:endParaRPr/>
          </a:p>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kev_lab_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kev_lab_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Keep the 90-minute lab with a 30-minute fine-tuning block. Installation, model downloads, four general decision stages and offline label generation are prework. The Pac-Man stage now runs a full epoch over 4,096 task records and 2,000 decision-v7 replay records, giving 762 updates at effective batch eight. There is no automatic short-step cap. Time the full stage before class. At 1.5 seconds per update, optimizer work is about 19 minutes; at 3 seconds it is about 38 minutes, plus loading/compilation/saving. These are calculations, not measured GPU timings. Complete slower full runs as prework. Source: https://github.com/yxc20089/QPlusLearning/tree/main/labs/lab-01-kev-pacman/cloud_runtime.py</a:t>
            </a:r>
            <a:endParaRPr/>
          </a:p>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kev_lab_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kev_lab_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Require the pinned optimized stack: PyTorch 2.8.0/CUDA 12.8, Triton 3.4.0, Transformers 5.17.0, PEFT 0.21.0, FLA/fla-core 0.5.2, causal-conv1d 1.7.0, einops 0.8.1, Ninja 1.13.0. Training uses BF16 autocast over FP32 stored parameters, non-reentrant gradient checkpointing, fused AdamW, FLA gated-delta kernels and SDPA full attention. Kernel binding verification is the default; the separate actual CUDA loss/backward check is optional and may compile slowly on a fresh runtime. Pac-Man explicitly selects batch 4 x accumulation 2 and row_budget 0 after the generic profile. Earlier long-document stages retain their memory-safe execution profile. Colab allocation and compute-unit costs vary. No course-author GPU timing is claimed. Sources: https://huggingface.co/docs/transformers/en/model_doc/qwen3_5 ; https://github.com/fla-org/flash-linear-attention/releases/tag/v0.5.2 ; https://github.com/Dao-AILab/causal-conv1d/releases/tag/v1.7.0 ; https://github.com/yxc20089/QPlusLearning/tree/main/labs/lab-01-kev-pacman/optimized_training.py</a:t>
            </a:r>
            <a:endParaRPr/>
          </a:p>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kev_lab_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kev_lab_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Blinky targets Pac-Man; Pinky targets four tiles ahead with the native upward overflow quirk; Inky reflects the two-tile-ahead point around Blinky, also preserving the upward quirk; Clyde targets Pac-Man when far away and its scatter corner when close. Chase/scatter turns use deterministic native targeting and tie-breaking. Frightened turns use the native RNG. Ghost-house release uses native pellet counters and inactivity timeouts: at level 1 Pinky releases first, Inky has a personal threshold of 30, Clyde 60, and a four-second no-pellet timeout can release the next waiting ghost. These are personal counters, not total board pellets. Game time pauses while the model decides, so wall-clock minutes can represent only a few simulation seconds. The UI shows simulated seconds and each ghost mode; do not force every ghost outside at the start. Sources: https://github.com/masonicGIT/pacman/blob/7407174c1d6a38be8cd230577489e39e0873145b/src/targets.js ; https://github.com/masonicGIT/pacman/blob/7407174c1d6a38be8cd230577489e39e0873145b/src/ghostReleaser.js ; https://github.com/yxc20089/QPlusLearning/tree/main/labs/lab-01-kev-pacman/games/arcade-engine.js</a:t>
            </a:r>
            <a:endParaRPr/>
          </a:p>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kev_lab_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kev_lab_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game constructs caller-supplied criteria containing legal directions and their destination tiles. Kev jointly encodes state, question and options. Its head has query/key Linear projections from hidden_size to 256 and computes scaled dot products, then softmax over options. Hybrid Qwen3.5 handles each question as a causal row continuing from the shared state. This is contextual option scoring, unlike CLM's independent action encodings. Legal directions come from the maze rules. Probability reflects the offered options and is not a maze-clearing probability. The notebook serves the learner's initial checkpoint through /v1/systemone and connects the game via a Colab callback.</a:t>
            </a:r>
            <a:endParaRPr/>
          </a:p>
          <a:p>
            <a:pPr indent="0" lvl="0" marL="0" rtl="0" algn="l">
              <a:spcBef>
                <a:spcPts val="0"/>
              </a:spcBef>
              <a:spcAft>
                <a:spcPts val="0"/>
              </a:spcAft>
              <a:buNone/>
            </a:pPr>
            <a:r>
              <a:rPr lang="zh-CN"/>
              <a:t>Sources: pinned Kev model.py PointerHead, rows_of and encode; lab/pacman_lab.py.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kev_lab_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kev_lab_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Temperature and confidence formulas differ across wrappers, even behind System One-compatible APIs. Fit or evaluate calibration on development data, preserve it for evaluation, and compare Brier or log loss rather than assuming one shared confidence cutoff is meaningful. A one-step teacher label is not a full-game reward target. Keep learner uncertainty discussion tied to observed paired decisions, not a guarantee of safety or optimal play.</a:t>
            </a:r>
            <a:endParaRPr/>
          </a:p>
          <a:p>
            <a:pPr indent="0" lvl="0" marL="0" rtl="0" algn="l">
              <a:spcBef>
                <a:spcPts val="0"/>
              </a:spcBef>
              <a:spcAft>
                <a:spcPts val="0"/>
              </a:spcAft>
              <a:buNone/>
            </a:pPr>
            <a:r>
              <a:rPr lang="zh-CN"/>
              <a:t>Sources: pinned Kev api.py; pinned CLM schema.py; llama.cpp tools/server/server-decision.cpp.</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kev_lab_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kev_lab_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committed planner dataset has 4,096 train, 256 development and 256 evaluation boards, stored in a checksum-verified compact ZIP. Collect native-game episodes with 70% planner, 20% old heuristic and 10% random legal exploration; snapshot eligible states every fourth move. Each label searches up to 20 legal player moves with beam width eight per first action. Native ghost code predicts normal chase/scatter; two independent future RNG scenarios handle frightened turns and sampled fruit duration. Optimize worst-scenario survival, then mean score, pellets, revisits, nearest-pellet distance and ghost distance. Finite horizon and pruning make this approximate planning, not globally optimal play. The teacher has current native timers/pixel offsets; the student sees board, ghost modes, history and elapsed frames. This is privileged-state imitation. Whole episodes and exact observable-state hashes are disjoint across splits; the maze is shared. Label and search metadata never enter model observations. Source: https://github.com/yxc20089/QPlusLearning/tree/main/labs/lab-01-kev-pacman/planner_data.py ; https://github.com/yxc20089/QPlusLearning/tree/main/labs/lab-01-kev-pacman/games/arcade-planner.js ; https://github.com/yxc20089/QPlusLearning/tree/main/labs/lab-01-kev-pacman/data/pacman-planner-v1-manifest.json</a:t>
            </a:r>
            <a:endParaRPr/>
          </a:p>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kev_lab_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kev_lab_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General stages are separate: decision-v7 12,576 records x two epochs (3,144 updates); dates 1,425 plus 2,000 replay (429); documents 5,219 plus 2,000 replay (903); skills/devtools 11,320 plus 4,000 replay (1,915). All use effective batch eight. Initial selects 4 x 2; later long-document stages use the memory-safe 1 x 8 and row_budget 2048. The skills dataset concatenates the published hard-v1 and devtools-v1 partitions with course checksums; identity to the unavailable historical joint file is not asserted. Pac-Man is a course-specific fifth stage: warm-start completed Skills, 4,096 task records plus 2,000 decision-v7 training replay, one epoch, lr 2e-5, 4 x 2, checkpointing, row_budget 0, max_state 4096, seed 7. Same rank-16 all-projection LoRA/head architecture; task-specific zero none/distractor/none-pair augmentation, option shuffling retained. 6,096 requests give 762 updates. Sources: https://github.com/jaredpalmer/kev/blob/84847f0a883d900f7de5b7a57eaa341ca7f9a6b4/experiments/q35-4b-s23.json ; https://huggingface.co/jaredpalmer/kev-4b ; https://github.com/yxc20089/QPlusLearning/tree/main/labs/lab-01-kev-pacman/cloud_runtime.py</a:t>
            </a:r>
            <a:endParaRPr/>
          </a:p>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kev_lab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kev_lab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CP3 trains one full task epoch from the learner completed Skills checkpoint, using reviewed training labels while preserving development/evaluation splits. The exact command is printed. Output kev-4b-pacman-planner-v1 is separate from the earlier small heuristic experiment. Effective batch eight, rank-16 alpha-32 all-module LoRA, 256-dimensional head, lr 2e-5, BF16 autocast over FP32 weights, checkpointing, max_state 4096. Add 2,000 decision-v7 train replay records. Verify 6,096 accepted/seen records, no dropped/truncated records and 762 optimizer updates. Stop the serving process before training and reload afterward. Recovery saves after step 1, every 100 steps or five minutes, and at the final step. If SAVE_TO_DRIVE is enabled and mounted, each complete recovery/final checkpoint triggers a verified Drive backup. Source: https://github.com/yxc20089/QPlusLearning/tree/main/labs/lab-01-kev-pacman/cloud_runtime.py ; https://github.com/yxc20089/QPlusLearning/tree/main/labs/lab-01-kev-pacman/checkpoint_backup.py</a:t>
            </a:r>
            <a:endParaRPr/>
          </a:p>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kev_lab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kev_lab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Only the 33.8M LoRA/head parameters train. Original base matrices stay fixed while gradients pass through the encoder. Optimizer steps log loss, learning rate, gradient norm, duration and live/peak allocated/reserved/free VRAM to JSONL/CSV/TensorBoard. Batch logs record shapes and source IDs. Recovery includes LoRA/head, optimizer/scheduler/RNG and counters; keep the latest two complete snapshots. Drive backup is automatic after saves when enabled, not deferred until export. Calibration is separate: raw probabilities remain uncalibrated and no release temperature is copied. Source: https://github.com/yxc20089/QPlusLearning/tree/main/labs/lab-01-kev-pacman/training_monitor.py ; https://github.com/yxc20089/QPlusLearning/tree/main/labs/lab-01-kev-pacman/lora_recovery.py ; https://github.com/yxc20089/QPlusLearning/tree/main/labs/lab-01-kev-pacman/checkpoint_backup.py</a:t>
            </a:r>
            <a:endParaRPr/>
          </a:p>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kev_lab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kev_lab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Evaluate the completed Skills checkpoint and the separate planner-trained checkpoint on the same 256 held-out boards. Report strict label agreement, tie-aware agreement for equal search scores/survival, lower-search-survival choices, same-survival search regret and native immediate captures. Keep source IDs and paired predictions. These metrics measure agreement with an approximate privileged-state teacher, not full-game win rate, new-maze generalization or actual trained-model improvement before running the experiment. Sources: https://github.com/yxc20089/QPlusLearning/tree/main/labs/lab-01-kev-pacman/pacman_lab.py ; https://github.com/yxc20089/QPlusLearning/tree/main/labs/lab-01-kev-pacman/data/pacman-planner-v1-manifest.json</a:t>
            </a:r>
            <a:endParaRPr/>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kev_lab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kev_lab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Compare native 128-action Skills/fine-tuned rollouts with the same level/seed and verified active adapter. A separate native planner rollout is a rules-controller reference; it never replaces a requested model controller. The five-seed CPU planning audit uses level 1 and up to 512 actions, stopping at first life loss or clear. Mean pellets: planner 225, old heuristic 199.4; mean score: 3,590 versus 2,594; losses one versus four; clears zero versus one, with four planner turn limits. This is a small deterministic controller comparison, not a trained-Kev result or proof of optimality. It exposes remaining endgame limitations. Record measured GPU step time/utilization and Colab compute units. Sources: https://github.com/yxc20089/QPlusLearning/tree/main/labs/lab-01-kev-pacman/data/pacman-planner-v1-quality.json ; https://github.com/yxc20089/QPlusLearning/tree/main/labs/lab-01-kev-pacman/planner_data.py</a:t>
            </a:r>
            <a:endParaRPr/>
          </a:p>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kev_lab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kev_lab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Submit executed notebook, reviewed training JSONL, all five adapter/head checkpoints, every configuration/metrics file, paired predictions, raw logs and TensorBoard events, trainable-parameters.json, runtime-preflight.json and optimized-training-preflight.json. Package adapters/heads rather than foundation weights or dependencies. Record compute units and elapsed GPU time. Checkpoint ownership must identify learner versus instructor. Source: course notebook submission cell.</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kev_lab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kev_lab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accepted browser game is masonicGIT/pacman@7407174c1d6a38be8cd230577489e39e0873145b, replacing the earlier Jev-style maze. Archive the upstream engine, assets and GPL notices unchanged and inject the lab integration separately. Browser and CPU teacher/evaluation run the same native mechanics. The learned adapter controls Pac-Man; all four ghosts retain native personalities, timing, release and frightened behavior. Offline planner snapshots/restores the native engine, including hidden timers, and does not mutate the live episode. It resamples future RNG independently rather than reading the actual episode future. Candidate paths and labels are metadata outside the model input. The recreation has documented arcade differences. Sources: https://github.com/masonicGIT/pacman/tree/7407174c1d6a38be8cd230577489e39e0873145b ; https://github.com/yxc20089/QPlusLearning/tree/main/labs/lab-01-kev-pacman/games/arcade-planner.js ; https://github.com/yxc20089/QPlusLearning/tree/main/labs/lab-01-kev-pacman/vendor/arcade-pacman/source.json</a:t>
            </a:r>
            <a:endParaRPr/>
          </a:p>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829"/>
        </a:solidFill>
      </p:bgPr>
    </p:bg>
    <p:spTree>
      <p:nvGrpSpPr>
        <p:cNvPr id="53" name="Shape 53"/>
        <p:cNvGrpSpPr/>
        <p:nvPr/>
      </p:nvGrpSpPr>
      <p:grpSpPr>
        <a:xfrm>
          <a:off x="0" y="0"/>
          <a:ext cx="0" cy="0"/>
          <a:chOff x="0" y="0"/>
          <a:chExt cx="0" cy="0"/>
        </a:xfrm>
      </p:grpSpPr>
      <p:sp>
        <p:nvSpPr>
          <p:cNvPr id="54" name="Google Shape;54;p13"/>
          <p:cNvSpPr txBox="1"/>
          <p:nvPr>
            <p:ph type="ctrTitle"/>
          </p:nvPr>
        </p:nvSpPr>
        <p:spPr>
          <a:xfrm>
            <a:off x="457200" y="317500"/>
            <a:ext cx="8229600" cy="774600"/>
          </a:xfrm>
          <a:prstGeom prst="rect">
            <a:avLst/>
          </a:prstGeom>
        </p:spPr>
        <p:txBody>
          <a:bodyPr anchorCtr="0" anchor="t" bIns="91425" lIns="91425" spcFirstLastPara="1" rIns="91425" wrap="square" tIns="91425">
            <a:noAutofit/>
          </a:bodyPr>
          <a:lstStyle/>
          <a:p>
            <a:pPr indent="0" lvl="0" marL="0" rtl="0" algn="ctr">
              <a:lnSpc>
                <a:spcPct val="112000"/>
              </a:lnSpc>
              <a:spcBef>
                <a:spcPts val="0"/>
              </a:spcBef>
              <a:spcAft>
                <a:spcPts val="800"/>
              </a:spcAft>
              <a:buNone/>
            </a:pPr>
            <a:r>
              <a:rPr b="1" lang="zh-CN" sz="3800">
                <a:solidFill>
                  <a:srgbClr val="FFFFFF"/>
                </a:solidFill>
              </a:rPr>
              <a:t>Kev and CLM</a:t>
            </a:r>
            <a:endParaRPr b="1" sz="3800">
              <a:solidFill>
                <a:srgbClr val="FFFFFF"/>
              </a:solidFill>
            </a:endParaRPr>
          </a:p>
        </p:txBody>
      </p:sp>
      <p:sp>
        <p:nvSpPr>
          <p:cNvPr id="55" name="Google Shape;55;p13"/>
          <p:cNvSpPr txBox="1"/>
          <p:nvPr>
            <p:ph idx="1" type="subTitle"/>
          </p:nvPr>
        </p:nvSpPr>
        <p:spPr>
          <a:xfrm>
            <a:off x="457200" y="4356100"/>
            <a:ext cx="8229600" cy="342900"/>
          </a:xfrm>
          <a:prstGeom prst="rect">
            <a:avLst/>
          </a:prstGeom>
        </p:spPr>
        <p:txBody>
          <a:bodyPr anchorCtr="0" anchor="t" bIns="91425" lIns="91425" spcFirstLastPara="1" rIns="91425" wrap="square" tIns="91425">
            <a:noAutofit/>
          </a:bodyPr>
          <a:lstStyle/>
          <a:p>
            <a:pPr indent="0" lvl="0" marL="0" rtl="0" algn="ctr">
              <a:lnSpc>
                <a:spcPct val="112000"/>
              </a:lnSpc>
              <a:spcBef>
                <a:spcPts val="0"/>
              </a:spcBef>
              <a:spcAft>
                <a:spcPts val="800"/>
              </a:spcAft>
              <a:buNone/>
            </a:pPr>
            <a:r>
              <a:rPr lang="zh-CN" sz="1700">
                <a:solidFill>
                  <a:srgbClr val="CCE0E8"/>
                </a:solidFill>
              </a:rPr>
              <a:t>Our lab follows Kev's LoRA + pointer-head recipe.</a:t>
            </a:r>
            <a:endParaRPr sz="1700">
              <a:solidFill>
                <a:srgbClr val="CCE0E8"/>
              </a:solidFill>
            </a:endParaRPr>
          </a:p>
        </p:txBody>
      </p:sp>
      <p:sp>
        <p:nvSpPr>
          <p:cNvPr id="56" name="Google Shape;56;p1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A3BAC7"/>
                </a:solidFill>
              </a:rPr>
              <a:t>Pac-Man lab | 90 minutes | 30-minute fine-tuning block</a:t>
            </a:r>
            <a:endParaRPr sz="900">
              <a:solidFill>
                <a:srgbClr val="A3BAC7"/>
              </a:solidFill>
            </a:endParaRPr>
          </a:p>
        </p:txBody>
      </p:sp>
      <p:sp>
        <p:nvSpPr>
          <p:cNvPr id="57" name="Google Shape;57;p1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A3BAC7"/>
                </a:solidFill>
              </a:rPr>
              <a:t>1</a:t>
            </a:r>
            <a:endParaRPr sz="900">
              <a:solidFill>
                <a:srgbClr val="A3BAC7"/>
              </a:solidFill>
            </a:endParaRPr>
          </a:p>
        </p:txBody>
      </p:sp>
      <p:graphicFrame>
        <p:nvGraphicFramePr>
          <p:cNvPr id="58" name="Google Shape;58;p13"/>
          <p:cNvGraphicFramePr/>
          <p:nvPr/>
        </p:nvGraphicFramePr>
        <p:xfrm>
          <a:off x="457200" y="1295400"/>
          <a:ext cx="3000000" cy="3000000"/>
        </p:xfrm>
        <a:graphic>
          <a:graphicData uri="http://schemas.openxmlformats.org/drawingml/2006/table">
            <a:tbl>
              <a:tblPr>
                <a:noFill/>
                <a:tableStyleId>{7655EB68-0E38-4612-8FD0-F1ACDE5AE169}</a:tableStyleId>
              </a:tblPr>
              <a:tblGrid>
                <a:gridCol w="1549400"/>
                <a:gridCol w="3314700"/>
                <a:gridCol w="3365500"/>
              </a:tblGrid>
              <a:tr h="431800">
                <a:tc>
                  <a:txBody>
                    <a:bodyPr/>
                    <a:lstStyle/>
                    <a:p>
                      <a:pPr indent="0" lvl="0" marL="0" rtl="0" algn="l">
                        <a:lnSpc>
                          <a:spcPct val="105000"/>
                        </a:lnSpc>
                        <a:spcBef>
                          <a:spcPts val="0"/>
                        </a:spcBef>
                        <a:spcAft>
                          <a:spcPts val="0"/>
                        </a:spcAft>
                        <a:buNone/>
                      </a:pPr>
                      <a:r>
                        <a:rPr b="1" lang="zh-CN" sz="1800">
                          <a:solidFill>
                            <a:srgbClr val="FFFFFF"/>
                          </a:solidFill>
                        </a:rPr>
                        <a:t>Difference</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b="1" lang="zh-CN" sz="1800">
                          <a:solidFill>
                            <a:srgbClr val="FFFFFF"/>
                          </a:solidFill>
                        </a:rPr>
                        <a:t>Kev (small models)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b="1" lang="zh-CN" sz="1800">
                          <a:solidFill>
                            <a:srgbClr val="FFFFFF"/>
                          </a:solidFill>
                        </a:rPr>
                        <a:t>CLM</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Inputs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State, question and</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options together</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State and actions</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encoded separately</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Trainable</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LoRA + pointer head</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Projection heads only</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Features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Encoder behavior</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changes</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LLM features</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stay fixed</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 name="Shape 62"/>
        <p:cNvGrpSpPr/>
        <p:nvPr/>
      </p:nvGrpSpPr>
      <p:grpSpPr>
        <a:xfrm>
          <a:off x="0" y="0"/>
          <a:ext cx="0" cy="0"/>
          <a:chOff x="0" y="0"/>
          <a:chExt cx="0" cy="0"/>
        </a:xfrm>
      </p:grpSpPr>
      <p:sp>
        <p:nvSpPr>
          <p:cNvPr id="63" name="Google Shape;63;p1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Kev and CLM: pros and cons</a:t>
            </a:r>
            <a:endParaRPr b="1" sz="3000">
              <a:solidFill>
                <a:srgbClr val="111829"/>
              </a:solidFill>
            </a:endParaRPr>
          </a:p>
        </p:txBody>
      </p:sp>
      <p:sp>
        <p:nvSpPr>
          <p:cNvPr id="64" name="Google Shape;64;p14"/>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Accuracy depends on the backbone, data and task.</a:t>
            </a:r>
            <a:endParaRPr sz="1700">
              <a:solidFill>
                <a:srgbClr val="1A2433"/>
              </a:solidFill>
            </a:endParaRPr>
          </a:p>
        </p:txBody>
      </p:sp>
      <p:sp>
        <p:nvSpPr>
          <p:cNvPr id="65" name="Google Shape;65;p1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Architectural tradeoffs; neither approach is always better</a:t>
            </a:r>
            <a:endParaRPr sz="900">
              <a:solidFill>
                <a:srgbClr val="5E6E80"/>
              </a:solidFill>
            </a:endParaRPr>
          </a:p>
        </p:txBody>
      </p:sp>
      <p:sp>
        <p:nvSpPr>
          <p:cNvPr id="66" name="Google Shape;66;p1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a:t>
            </a:r>
            <a:endParaRPr sz="900">
              <a:solidFill>
                <a:srgbClr val="5E6E80"/>
              </a:solidFill>
            </a:endParaRPr>
          </a:p>
        </p:txBody>
      </p:sp>
      <p:graphicFrame>
        <p:nvGraphicFramePr>
          <p:cNvPr id="67" name="Google Shape;67;p14"/>
          <p:cNvGraphicFramePr/>
          <p:nvPr/>
        </p:nvGraphicFramePr>
        <p:xfrm>
          <a:off x="457200" y="1295400"/>
          <a:ext cx="3000000" cy="3000000"/>
        </p:xfrm>
        <a:graphic>
          <a:graphicData uri="http://schemas.openxmlformats.org/drawingml/2006/table">
            <a:tbl>
              <a:tblPr>
                <a:noFill/>
                <a:tableStyleId>{7655EB68-0E38-4612-8FD0-F1ACDE5AE169}</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Criterion</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Strength</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Adapts encoder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Small released models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Reuses action embeddings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Cheap repeated head training</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Tradeoff</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Backpropagates through</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the encoder for LoRA</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Depends on fixed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No joint token interaction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Lab fit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marR="0" rtl="0" algn="l">
                        <a:lnSpc>
                          <a:spcPct val="105000"/>
                        </a:lnSpc>
                        <a:spcBef>
                          <a:spcPts val="0"/>
                        </a:spcBef>
                        <a:spcAft>
                          <a:spcPts val="0"/>
                        </a:spcAft>
                        <a:buNone/>
                      </a:pPr>
                      <a:r>
                        <a:rPr lang="zh-CN" sz="1800">
                          <a:solidFill>
                            <a:srgbClr val="1A2433"/>
                          </a:solidFill>
                        </a:rPr>
                        <a:t>Main lab recipe</a:t>
                      </a:r>
                      <a:endParaRPr sz="1800">
                        <a:solidFill>
                          <a:srgbClr val="1A2433"/>
                        </a:solidFill>
                      </a:endParaRPr>
                    </a:p>
                    <a:p>
                      <a:pPr indent="0" lvl="0" marL="0" marR="0" rtl="0" algn="l">
                        <a:lnSpc>
                          <a:spcPct val="105000"/>
                        </a:lnSpc>
                        <a:spcBef>
                          <a:spcPts val="0"/>
                        </a:spcBef>
                        <a:spcAft>
                          <a:spcPts val="0"/>
                        </a:spcAft>
                        <a:buNone/>
                      </a:pPr>
                      <a:r>
                        <a:rPr lang="zh-CN" sz="1800">
                          <a:solidFill>
                            <a:srgbClr val="1A2433"/>
                          </a:solidFill>
                        </a:rPr>
                        <a:t>Full base stage is public</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marR="0" rtl="0" algn="l">
                        <a:lnSpc>
                          <a:spcPct val="105000"/>
                        </a:lnSpc>
                        <a:spcBef>
                          <a:spcPts val="0"/>
                        </a:spcBef>
                        <a:spcAft>
                          <a:spcPts val="0"/>
                        </a:spcAft>
                        <a:buNone/>
                      </a:pPr>
                      <a:r>
                        <a:rPr lang="zh-CN" sz="1800">
                          <a:solidFill>
                            <a:srgbClr val="1A2433"/>
                          </a:solidFill>
                        </a:rPr>
                        <a:t>Useful comparison</a:t>
                      </a:r>
                      <a:endParaRPr sz="1800">
                        <a:solidFill>
                          <a:srgbClr val="1A2433"/>
                        </a:solidFill>
                      </a:endParaRPr>
                    </a:p>
                    <a:p>
                      <a:pPr indent="0" lvl="0" marL="0" marR="0" rtl="0" algn="l">
                        <a:lnSpc>
                          <a:spcPct val="105000"/>
                        </a:lnSpc>
                        <a:spcBef>
                          <a:spcPts val="0"/>
                        </a:spcBef>
                        <a:spcAft>
                          <a:spcPts val="0"/>
                        </a:spcAft>
                        <a:buNone/>
                      </a:pPr>
                      <a:r>
                        <a:rPr lang="zh-CN" sz="1800">
                          <a:solidFill>
                            <a:srgbClr val="1A2433"/>
                          </a:solidFill>
                        </a:rPr>
                        <a:t>Fixed-feature head training</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sp>
        <p:nvSpPr>
          <p:cNvPr id="72" name="Google Shape;72;p1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Training cost</a:t>
            </a:r>
            <a:endParaRPr b="1" sz="3000">
              <a:solidFill>
                <a:srgbClr val="111829"/>
              </a:solidFill>
            </a:endParaRPr>
          </a:p>
        </p:txBody>
      </p:sp>
      <p:sp>
        <p:nvSpPr>
          <p:cNvPr id="73" name="Google Shape;73;p15"/>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Compare total cost: feature extraction + all training runs.</a:t>
            </a:r>
            <a:endParaRPr sz="1700">
              <a:solidFill>
                <a:srgbClr val="1A2433"/>
              </a:solidFill>
            </a:endParaRPr>
          </a:p>
        </p:txBody>
      </p:sp>
      <p:sp>
        <p:nvSpPr>
          <p:cNvPr id="74" name="Google Shape;74;p1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CLM's reported ~1-hour run assumes precomputed embeddings</a:t>
            </a:r>
            <a:endParaRPr sz="900">
              <a:solidFill>
                <a:srgbClr val="5E6E80"/>
              </a:solidFill>
            </a:endParaRPr>
          </a:p>
        </p:txBody>
      </p:sp>
      <p:sp>
        <p:nvSpPr>
          <p:cNvPr id="75" name="Google Shape;75;p1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3</a:t>
            </a:r>
            <a:endParaRPr sz="900">
              <a:solidFill>
                <a:srgbClr val="5E6E80"/>
              </a:solidFill>
            </a:endParaRPr>
          </a:p>
        </p:txBody>
      </p:sp>
      <p:graphicFrame>
        <p:nvGraphicFramePr>
          <p:cNvPr id="76" name="Google Shape;76;p15"/>
          <p:cNvGraphicFramePr/>
          <p:nvPr/>
        </p:nvGraphicFramePr>
        <p:xfrm>
          <a:off x="457200" y="1295400"/>
          <a:ext cx="3000000" cy="3000000"/>
        </p:xfrm>
        <a:graphic>
          <a:graphicData uri="http://schemas.openxmlformats.org/drawingml/2006/table">
            <a:tbl>
              <a:tblPr>
                <a:noFill/>
                <a:tableStyleId>{7655EB68-0E38-4612-8FD0-F1ACDE5AE169}</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Work</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 LoRA</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 heads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Encoder</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Forward + backward</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during each training run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Extract fixed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once for each text</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Repeat runs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Repeat encoder compute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for every experiment</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Reuse feature cache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Train heads only</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Budget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Encoder activations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plus adapter optimizer</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Feature extraction cost</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plus head optimizer</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 name="Shape 80"/>
        <p:cNvGrpSpPr/>
        <p:nvPr/>
      </p:nvGrpSpPr>
      <p:grpSpPr>
        <a:xfrm>
          <a:off x="0" y="0"/>
          <a:ext cx="0" cy="0"/>
          <a:chOff x="0" y="0"/>
          <a:chExt cx="0" cy="0"/>
        </a:xfrm>
      </p:grpSpPr>
      <p:sp>
        <p:nvSpPr>
          <p:cNvPr id="81" name="Google Shape;81;p16"/>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Serving cost and model size</a:t>
            </a:r>
            <a:endParaRPr b="1" sz="3000">
              <a:solidFill>
                <a:srgbClr val="111829"/>
              </a:solidFill>
            </a:endParaRPr>
          </a:p>
        </p:txBody>
      </p:sp>
      <p:sp>
        <p:nvSpPr>
          <p:cNvPr id="82" name="Google Shape;82;p16"/>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*Parameter count × 2 bytes; excludes heads, cache and runtime.</a:t>
            </a:r>
            <a:endParaRPr sz="1700">
              <a:solidFill>
                <a:srgbClr val="1A2433"/>
              </a:solidFill>
            </a:endParaRPr>
          </a:p>
        </p:txBody>
      </p:sp>
      <p:sp>
        <p:nvSpPr>
          <p:cNvPr id="83" name="Google Shape;83;p16"/>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Raw weight arithmetic is not a measured VRAM requirement</a:t>
            </a:r>
            <a:endParaRPr sz="900">
              <a:solidFill>
                <a:srgbClr val="5E6E80"/>
              </a:solidFill>
            </a:endParaRPr>
          </a:p>
        </p:txBody>
      </p:sp>
      <p:sp>
        <p:nvSpPr>
          <p:cNvPr id="84" name="Google Shape;84;p16"/>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4</a:t>
            </a:r>
            <a:endParaRPr sz="900">
              <a:solidFill>
                <a:srgbClr val="5E6E80"/>
              </a:solidFill>
            </a:endParaRPr>
          </a:p>
        </p:txBody>
      </p:sp>
      <p:graphicFrame>
        <p:nvGraphicFramePr>
          <p:cNvPr id="85" name="Google Shape;85;p16"/>
          <p:cNvGraphicFramePr/>
          <p:nvPr/>
        </p:nvGraphicFramePr>
        <p:xfrm>
          <a:off x="457200" y="1295400"/>
          <a:ext cx="3000000" cy="3000000"/>
        </p:xfrm>
        <a:graphic>
          <a:graphicData uri="http://schemas.openxmlformats.org/drawingml/2006/table">
            <a:tbl>
              <a:tblPr>
                <a:noFill/>
                <a:tableStyleId>{7655EB68-0E38-4612-8FD0-F1ACDE5AE169}</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Factor</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Each new state</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 state and options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Score pointer outputs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 state + question</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Score cached actions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Useful cache</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Shared state prefix</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across questions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Independent action vectors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across changing states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BF16 weights*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0.8B: ~1.6 GB</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4B: ~8 GB</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8B reference: ~16 GB</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Two paths can share weights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sp>
        <p:nvSpPr>
          <p:cNvPr id="90" name="Google Shape;90;p17"/>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Performance evidence</a:t>
            </a:r>
            <a:endParaRPr b="1" sz="3000">
              <a:solidFill>
                <a:srgbClr val="111829"/>
              </a:solidFill>
            </a:endParaRPr>
          </a:p>
        </p:txBody>
      </p:sp>
      <p:sp>
        <p:nvSpPr>
          <p:cNvPr id="91" name="Google Shape;91;p17"/>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These reports do not establish a Kev-versus-CLM speed ranking.</a:t>
            </a:r>
            <a:endParaRPr sz="1700">
              <a:solidFill>
                <a:srgbClr val="1A2433"/>
              </a:solidFill>
            </a:endParaRPr>
          </a:p>
        </p:txBody>
      </p:sp>
      <p:sp>
        <p:nvSpPr>
          <p:cNvPr id="92" name="Google Shape;92;p17"/>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Different hardware and workloads; use a paired lab benchmark</a:t>
            </a:r>
            <a:endParaRPr sz="900">
              <a:solidFill>
                <a:srgbClr val="5E6E80"/>
              </a:solidFill>
            </a:endParaRPr>
          </a:p>
        </p:txBody>
      </p:sp>
      <p:sp>
        <p:nvSpPr>
          <p:cNvPr id="93" name="Google Shape;93;p17"/>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5</a:t>
            </a:r>
            <a:endParaRPr sz="900">
              <a:solidFill>
                <a:srgbClr val="5E6E80"/>
              </a:solidFill>
            </a:endParaRPr>
          </a:p>
        </p:txBody>
      </p:sp>
      <p:graphicFrame>
        <p:nvGraphicFramePr>
          <p:cNvPr id="94" name="Google Shape;94;p17"/>
          <p:cNvGraphicFramePr/>
          <p:nvPr/>
        </p:nvGraphicFramePr>
        <p:xfrm>
          <a:off x="457200" y="1295400"/>
          <a:ext cx="3000000" cy="3000000"/>
        </p:xfrm>
        <a:graphic>
          <a:graphicData uri="http://schemas.openxmlformats.org/drawingml/2006/table">
            <a:tbl>
              <a:tblPr>
                <a:noFill/>
                <a:tableStyleId>{7655EB68-0E38-4612-8FD0-F1ACDE5AE169}</a:tableStyleId>
              </a:tblPr>
              <a:tblGrid>
                <a:gridCol w="2146300"/>
                <a:gridCol w="3048000"/>
                <a:gridCol w="3035300"/>
              </a:tblGrid>
              <a:tr h="431800">
                <a:tc>
                  <a:txBody>
                    <a:bodyPr/>
                    <a:lstStyle/>
                    <a:p>
                      <a:pPr indent="0" lvl="0" marL="0" rtl="0" algn="l">
                        <a:lnSpc>
                          <a:spcPct val="105000"/>
                        </a:lnSpc>
                        <a:spcBef>
                          <a:spcPts val="0"/>
                        </a:spcBef>
                        <a:spcAft>
                          <a:spcPts val="0"/>
                        </a:spcAft>
                        <a:buNone/>
                      </a:pPr>
                      <a:r>
                        <a:rPr b="1" lang="zh-CN" sz="1800">
                          <a:solidFill>
                            <a:srgbClr val="1A2433"/>
                          </a:solidFill>
                        </a:rPr>
                        <a:t>Published result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Setup</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What it supports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CLM: 36-44 ms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RTX 4090; cached actions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1-1,024 candidates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Low added cost as the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action set grows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Kev-4B: 12 ms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RTX PRO 6000</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One question; median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Fast serving in that</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llama.cpp setup</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Kev vs 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No matched Pac-Man</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comparison established</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Measure skill, latency</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and memory together</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18"/>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Models supported by llama.cpp</a:t>
            </a:r>
            <a:endParaRPr b="1" sz="3000">
              <a:solidFill>
                <a:srgbClr val="111829"/>
              </a:solidFill>
            </a:endParaRPr>
          </a:p>
        </p:txBody>
      </p:sp>
      <p:sp>
        <p:nvSpPr>
          <p:cNvPr id="100" name="Google Shape;100;p18"/>
          <p:cNvSpPr txBox="1"/>
          <p:nvPr/>
        </p:nvSpPr>
        <p:spPr>
          <a:xfrm>
            <a:off x="457200" y="4470400"/>
            <a:ext cx="8229600" cy="2793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500">
                <a:solidFill>
                  <a:srgbClr val="1A2433"/>
                </a:solidFill>
              </a:rPr>
              <a:t>CLM is outside this release's five supported models.</a:t>
            </a:r>
            <a:endParaRPr sz="1500">
              <a:solidFill>
                <a:srgbClr val="1A2433"/>
              </a:solidFill>
            </a:endParaRPr>
          </a:p>
        </p:txBody>
      </p:sp>
      <p:sp>
        <p:nvSpPr>
          <p:cNvPr id="101" name="Google Shape;101;p18"/>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Julia, Laya, Kev and lev: Apache 2.0 | OpenJev: CC BY-NC 4.0</a:t>
            </a:r>
            <a:endParaRPr sz="900">
              <a:solidFill>
                <a:srgbClr val="5E6E80"/>
              </a:solidFill>
            </a:endParaRPr>
          </a:p>
        </p:txBody>
      </p:sp>
      <p:sp>
        <p:nvSpPr>
          <p:cNvPr id="102" name="Google Shape;102;p18"/>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6</a:t>
            </a:r>
            <a:endParaRPr sz="900">
              <a:solidFill>
                <a:srgbClr val="5E6E80"/>
              </a:solidFill>
            </a:endParaRPr>
          </a:p>
        </p:txBody>
      </p:sp>
      <p:graphicFrame>
        <p:nvGraphicFramePr>
          <p:cNvPr id="103" name="Google Shape;103;p18"/>
          <p:cNvGraphicFramePr/>
          <p:nvPr/>
        </p:nvGraphicFramePr>
        <p:xfrm>
          <a:off x="457200" y="1193800"/>
          <a:ext cx="3000000" cy="3000000"/>
        </p:xfrm>
        <a:graphic>
          <a:graphicData uri="http://schemas.openxmlformats.org/drawingml/2006/table">
            <a:tbl>
              <a:tblPr>
                <a:noFill/>
                <a:tableStyleId>{7655EB68-0E38-4612-8FD0-F1ACDE5AE169}</a:tableStyleId>
              </a:tblPr>
              <a:tblGrid>
                <a:gridCol w="1041400"/>
                <a:gridCol w="1435100"/>
                <a:gridCol w="2451100"/>
                <a:gridCol w="3302000"/>
              </a:tblGrid>
              <a:tr h="381000">
                <a:tc>
                  <a:txBody>
                    <a:bodyPr/>
                    <a:lstStyle/>
                    <a:p>
                      <a:pPr indent="0" lvl="0" marL="0" rtl="0" algn="l">
                        <a:lnSpc>
                          <a:spcPct val="105000"/>
                        </a:lnSpc>
                        <a:spcBef>
                          <a:spcPts val="0"/>
                        </a:spcBef>
                        <a:spcAft>
                          <a:spcPts val="0"/>
                        </a:spcAft>
                        <a:buNone/>
                      </a:pPr>
                      <a:r>
                        <a:rPr b="1" lang="zh-CN" sz="1500">
                          <a:solidFill>
                            <a:srgbClr val="1A2433"/>
                          </a:solidFill>
                        </a:rPr>
                        <a:t>Model</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Readout</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Useful strength</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Main tradeoff</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Julia-1</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144M</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Option-marker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Small; multilingual</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50+ languages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Limited knowledge/reasoning</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Private training pipeline</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Laya</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421M</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Option-marker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Small; designed</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for specialization</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Fully fine-tuned encoder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English root: 512 tokens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Kev-4B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Pointer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Adaptable features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Open training code</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LoRA changes features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Options encoded each step</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lev</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4B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Vocabulary</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label logits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Existing LM readout</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Many label codes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LoRA; two choice orders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Extra head not converted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OpenJev</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27B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Vocabulary</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label logits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Text and images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Agent decisions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Larger model</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Non-commercial weights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 name="Shape 107"/>
        <p:cNvGrpSpPr/>
        <p:nvPr/>
      </p:nvGrpSpPr>
      <p:grpSpPr>
        <a:xfrm>
          <a:off x="0" y="0"/>
          <a:ext cx="0" cy="0"/>
          <a:chOff x="0" y="0"/>
          <a:chExt cx="0" cy="0"/>
        </a:xfrm>
      </p:grpSpPr>
      <p:sp>
        <p:nvSpPr>
          <p:cNvPr id="108" name="Google Shape;108;p19"/>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How llama.cpp scores decisions</a:t>
            </a:r>
            <a:endParaRPr b="1" sz="3000">
              <a:solidFill>
                <a:srgbClr val="111829"/>
              </a:solidFill>
            </a:endParaRPr>
          </a:p>
        </p:txBody>
      </p:sp>
      <p:sp>
        <p:nvSpPr>
          <p:cNvPr id="109" name="Google Shape;109;p19"/>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POST /v1/systemone: Choice, Score and Noul</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GGUF metadata selects the model's readout</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Kev's LoRA is merged before quantization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No generated answer tokens to parse</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CLM needs its own serving implementation</a:t>
            </a:r>
            <a:endParaRPr sz="2300">
              <a:solidFill>
                <a:srgbClr val="1A2433"/>
              </a:solidFill>
            </a:endParaRPr>
          </a:p>
        </p:txBody>
      </p:sp>
      <p:sp>
        <p:nvSpPr>
          <p:cNvPr id="110" name="Google Shape;110;p19"/>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API compatibility does not mean architectural equivalence</a:t>
            </a:r>
            <a:endParaRPr sz="900">
              <a:solidFill>
                <a:srgbClr val="5E6E80"/>
              </a:solidFill>
            </a:endParaRPr>
          </a:p>
        </p:txBody>
      </p:sp>
      <p:sp>
        <p:nvSpPr>
          <p:cNvPr id="111" name="Google Shape;111;p19"/>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7</a:t>
            </a:r>
            <a:endParaRPr sz="900">
              <a:solidFill>
                <a:srgbClr val="5E6E8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 name="Shape 115"/>
        <p:cNvGrpSpPr/>
        <p:nvPr/>
      </p:nvGrpSpPr>
      <p:grpSpPr>
        <a:xfrm>
          <a:off x="0" y="0"/>
          <a:ext cx="0" cy="0"/>
          <a:chOff x="0" y="0"/>
          <a:chExt cx="0" cy="0"/>
        </a:xfrm>
      </p:grpSpPr>
      <p:sp>
        <p:nvSpPr>
          <p:cNvPr id="116" name="Google Shape;116;p20"/>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How SGLang scores decisions</a:t>
            </a:r>
            <a:endParaRPr b="1" sz="3000">
              <a:solidFill>
                <a:srgbClr val="111829"/>
              </a:solidFill>
            </a:endParaRPr>
          </a:p>
        </p:txBody>
      </p:sp>
      <p:sp>
        <p:nvSpPr>
          <p:cNvPr id="117" name="Google Shape;117;p20"/>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/v1/decisions and /v1/systemone are merged</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Chat-model label logits; no generated tokens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One prompt per question; normal prefix caching</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Checked: Qwen3.8-27B and Qwen3.5-35B-A3B</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Native Intern-Decision support is an open PR</a:t>
            </a:r>
            <a:endParaRPr sz="2300">
              <a:solidFill>
                <a:srgbClr val="1A2433"/>
              </a:solidFill>
            </a:endParaRPr>
          </a:p>
        </p:txBody>
      </p:sp>
      <p:sp>
        <p:nvSpPr>
          <p:cNvPr id="118" name="Google Shape;118;p20"/>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Vocabulary scoring differs from Kev and CLM heads</a:t>
            </a:r>
            <a:endParaRPr sz="900">
              <a:solidFill>
                <a:srgbClr val="5E6E80"/>
              </a:solidFill>
            </a:endParaRPr>
          </a:p>
        </p:txBody>
      </p:sp>
      <p:sp>
        <p:nvSpPr>
          <p:cNvPr id="119" name="Google Shape;119;p20"/>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8</a:t>
            </a:r>
            <a:endParaRPr sz="900">
              <a:solidFill>
                <a:srgbClr val="5E6E8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 name="Shape 123"/>
        <p:cNvGrpSpPr/>
        <p:nvPr/>
      </p:nvGrpSpPr>
      <p:grpSpPr>
        <a:xfrm>
          <a:off x="0" y="0"/>
          <a:ext cx="0" cy="0"/>
          <a:chOff x="0" y="0"/>
          <a:chExt cx="0" cy="0"/>
        </a:xfrm>
      </p:grpSpPr>
      <p:sp>
        <p:nvSpPr>
          <p:cNvPr id="124" name="Google Shape;124;p21"/>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A fair Kev-versus-CLM comparison</a:t>
            </a:r>
            <a:endParaRPr b="1" sz="3000">
              <a:solidFill>
                <a:srgbClr val="111829"/>
              </a:solidFill>
            </a:endParaRPr>
          </a:p>
        </p:txBody>
      </p:sp>
      <p:sp>
        <p:nvSpPr>
          <p:cNvPr id="125" name="Google Shape;125;p21"/>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Use the same boards, labels and legal actions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Time cold and warm caches on one device</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Measure accuracy, captures, dots and latency</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Record training time and peak memory</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Match backbones to isolate the architecture</a:t>
            </a:r>
            <a:endParaRPr sz="2300">
              <a:solidFill>
                <a:srgbClr val="1A2433"/>
              </a:solidFill>
            </a:endParaRPr>
          </a:p>
        </p:txBody>
      </p:sp>
      <p:sp>
        <p:nvSpPr>
          <p:cNvPr id="126" name="Google Shape;126;p21"/>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Released-model comparisons also include size and data effects</a:t>
            </a:r>
            <a:endParaRPr sz="900">
              <a:solidFill>
                <a:srgbClr val="5E6E80"/>
              </a:solidFill>
            </a:endParaRPr>
          </a:p>
        </p:txBody>
      </p:sp>
      <p:sp>
        <p:nvSpPr>
          <p:cNvPr id="127" name="Google Shape;127;p21"/>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9</a:t>
            </a:r>
            <a:endParaRPr sz="900">
              <a:solidFill>
                <a:srgbClr val="5E6E8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sp>
        <p:nvSpPr>
          <p:cNvPr id="132" name="Google Shape;132;p22"/>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Our Kev-4B Pac-Man lab</a:t>
            </a:r>
            <a:endParaRPr b="1" sz="3000">
              <a:solidFill>
                <a:srgbClr val="111829"/>
              </a:solidFill>
            </a:endParaRPr>
          </a:p>
        </p:txBody>
      </p:sp>
      <p:sp>
        <p:nvSpPr>
          <p:cNvPr id="133" name="Google Shape;133;p22"/>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Classic maze, power pellets and four ghost AIs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Skills checkpoint controls Pac-Man at CP0</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Native-engine search generates task labels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Fine-tune the same LoRA and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Compare the model with its planning teacher</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34" name="Google Shape;134;p22"/>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masonicGIT/pacman 7407174; Kev 84847f0; task recipe in QPlusLearning</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35" name="Google Shape;135;p22"/>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10</a:t>
            </a:r>
            <a:endParaRPr sz="900">
              <a:solidFill>
                <a:srgbClr val="5E6E80"/>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23"/>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Our 90-minute route</a:t>
            </a:r>
            <a:endParaRPr b="1" sz="3000">
              <a:solidFill>
                <a:srgbClr val="111829"/>
              </a:solidFill>
            </a:endParaRPr>
          </a:p>
        </p:txBody>
      </p:sp>
      <p:sp>
        <p:nvSpPr>
          <p:cNvPr id="141" name="Google Shape;141;p23"/>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0-10    Compare architectures and 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10-20  Inspect the four general training stages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20-30  Review Pac-Man player labels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30-60  Fine-tune LoRA and the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60-80  Compare cost and player decisions</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80-90  Explain and submit</a:t>
            </a:r>
            <a:endParaRPr sz="2300">
              <a:solidFill>
                <a:srgbClr val="1A2433"/>
              </a:solidFill>
            </a:endParaRPr>
          </a:p>
        </p:txBody>
      </p:sp>
      <p:sp>
        <p:nvSpPr>
          <p:cNvPr id="142" name="Google Shape;142;p2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General training and labels are prework; time the full task stage before class.</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43" name="Google Shape;143;p2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11</a:t>
            </a:r>
            <a:endParaRPr sz="900">
              <a:solidFill>
                <a:srgbClr val="5E6E80"/>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2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Colab runtime for this lab</a:t>
            </a:r>
            <a:endParaRPr b="1" sz="3000">
              <a:solidFill>
                <a:srgbClr val="111829"/>
              </a:solidFill>
            </a:endParaRPr>
          </a:p>
        </p:txBody>
      </p:sp>
      <p:sp>
        <p:nvSpPr>
          <p:cNvPr id="149" name="Google Shape;149;p24"/>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Target: RTX PRO 6000 Blackwell, 96 GB</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Locked PyTorch 2.8 / CUDA 12.8 and BF16</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Required FLA, causal convolution, fused AdamW</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Pac-Man: batch 4 × accumulation 2</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Checkpointing on; row budget 0</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50" name="Google Shape;150;p2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762 updates: 19 min at 1.5 s/update; 38 min at 3 s/update, plus setup/saves.</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51" name="Google Shape;151;p2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12</a:t>
            </a:r>
            <a:endParaRPr sz="900">
              <a:solidFill>
                <a:srgbClr val="5E6E8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 name="Shape 155"/>
        <p:cNvGrpSpPr/>
        <p:nvPr/>
      </p:nvGrpSpPr>
      <p:grpSpPr>
        <a:xfrm>
          <a:off x="0" y="0"/>
          <a:ext cx="0" cy="0"/>
          <a:chOff x="0" y="0"/>
          <a:chExt cx="0" cy="0"/>
        </a:xfrm>
      </p:grpSpPr>
      <p:sp>
        <p:nvSpPr>
          <p:cNvPr id="156" name="Google Shape;156;p2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CP0: Pac-Man and four ghost personalities</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57" name="Google Shape;157;p25"/>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Blinky pursues; Pinky targets ahead</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Inky uses Blinky; Clyde retreats when close</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Ghosts leave home through counters/timeouts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Check each ghost mode and simulation seconds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Verify the active Skills adapter in the badge</a:t>
            </a:r>
            <a:endParaRPr sz="2300">
              <a:solidFill>
                <a:srgbClr val="1A2433"/>
              </a:solidFill>
            </a:endParaRPr>
          </a:p>
          <a:p>
            <a:pPr indent="0" lvl="0" marL="0" rtl="0" algn="l">
              <a:lnSpc>
                <a:spcPct val="112000"/>
              </a:lnSpc>
              <a:spcBef>
                <a:spcPts val="800"/>
              </a:spcBef>
              <a:spcAft>
                <a:spcPts val="800"/>
              </a:spcAft>
              <a:buNone/>
            </a:pPr>
            <a:r>
              <a:t/>
            </a:r>
            <a:endParaRPr sz="2300">
              <a:solidFill>
                <a:srgbClr val="1A2433"/>
              </a:solidFill>
            </a:endParaRPr>
          </a:p>
        </p:txBody>
      </p:sp>
      <p:sp>
        <p:nvSpPr>
          <p:cNvPr id="158" name="Google Shape;158;p2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Chase/scatter is deterministic. Kev pauses simulation while deciding.</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59" name="Google Shape;159;p2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13</a:t>
            </a:r>
            <a:endParaRPr sz="900">
              <a:solidFill>
                <a:srgbClr val="5E6E8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 name="Shape 163"/>
        <p:cNvGrpSpPr/>
        <p:nvPr/>
      </p:nvGrpSpPr>
      <p:grpSpPr>
        <a:xfrm>
          <a:off x="0" y="0"/>
          <a:ext cx="0" cy="0"/>
          <a:chOff x="0" y="0"/>
          <a:chExt cx="0" cy="0"/>
        </a:xfrm>
      </p:grpSpPr>
      <p:sp>
        <p:nvSpPr>
          <p:cNvPr id="164" name="Google Shape;164;p26"/>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CP1: score a legal player move</a:t>
            </a:r>
            <a:endParaRPr b="1" sz="3000">
              <a:solidFill>
                <a:srgbClr val="111829"/>
              </a:solidFill>
            </a:endParaRPr>
          </a:p>
        </p:txBody>
      </p:sp>
      <p:sp>
        <p:nvSpPr>
          <p:cNvPr id="165" name="Google Shape;165;p26"/>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Pack state, question and legal options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Read decision-token and option-token features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Score each option with the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Read probabilities by direction name</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Apply the move through the game code</a:t>
            </a:r>
            <a:endParaRPr sz="2300">
              <a:solidFill>
                <a:srgbClr val="1A2433"/>
              </a:solidFill>
            </a:endParaRPr>
          </a:p>
        </p:txBody>
      </p:sp>
      <p:sp>
        <p:nvSpPr>
          <p:cNvPr id="166" name="Google Shape;166;p26"/>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The model chooses Pac-Man's move. Game code advances the ghosts.</a:t>
            </a:r>
            <a:endParaRPr sz="900">
              <a:solidFill>
                <a:srgbClr val="5E6E80"/>
              </a:solidFill>
            </a:endParaRPr>
          </a:p>
        </p:txBody>
      </p:sp>
      <p:sp>
        <p:nvSpPr>
          <p:cNvPr id="167" name="Google Shape;167;p26"/>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14</a:t>
            </a:r>
            <a:endParaRPr sz="900">
              <a:solidFill>
                <a:srgbClr val="5E6E80"/>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p27"/>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What a probability tells us</a:t>
            </a:r>
            <a:endParaRPr b="1" sz="3000">
              <a:solidFill>
                <a:srgbClr val="111829"/>
              </a:solidFill>
            </a:endParaRPr>
          </a:p>
        </p:txBody>
      </p:sp>
      <p:sp>
        <p:nvSpPr>
          <p:cNvPr id="173" name="Google Shape;173;p27"/>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Select the highest-scoring legal action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Inspect competing directions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Compare calibration on labelled examples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Confidence is not maze success</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A legal move can still be strategically poor</a:t>
            </a:r>
            <a:endParaRPr sz="2300">
              <a:solidFill>
                <a:srgbClr val="1A2433"/>
              </a:solidFill>
            </a:endParaRPr>
          </a:p>
        </p:txBody>
      </p:sp>
      <p:sp>
        <p:nvSpPr>
          <p:cNvPr id="174" name="Google Shape;174;p27"/>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Use the same actions and calibration protocol when comparing models</a:t>
            </a:r>
            <a:endParaRPr sz="900">
              <a:solidFill>
                <a:srgbClr val="5E6E80"/>
              </a:solidFill>
            </a:endParaRPr>
          </a:p>
        </p:txBody>
      </p:sp>
      <p:sp>
        <p:nvSpPr>
          <p:cNvPr id="175" name="Google Shape;175;p27"/>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15</a:t>
            </a:r>
            <a:endParaRPr sz="900">
              <a:solidFill>
                <a:srgbClr val="5E6E80"/>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 name="Shape 179"/>
        <p:cNvGrpSpPr/>
        <p:nvPr/>
      </p:nvGrpSpPr>
      <p:grpSpPr>
        <a:xfrm>
          <a:off x="0" y="0"/>
          <a:ext cx="0" cy="0"/>
          <a:chOff x="0" y="0"/>
          <a:chExt cx="0" cy="0"/>
        </a:xfrm>
      </p:grpSpPr>
      <p:sp>
        <p:nvSpPr>
          <p:cNvPr id="180" name="Google Shape;180;p28"/>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CP2: inspect planning labels</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181" name="Google Shape;181;p28"/>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4,096 train; 256 development; 256 evaluation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Simulate up to 20 moves in the native engine</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Keep eight paths per first legal action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Prioritize survival, score, pellets and progress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Review labels; keep episodes in separate splits</a:t>
            </a:r>
            <a:endParaRPr sz="2300">
              <a:solidFill>
                <a:srgbClr val="1A2433"/>
              </a:solidFill>
            </a:endParaRPr>
          </a:p>
          <a:p>
            <a:pPr indent="0" lvl="0" marL="0" rtl="0" algn="l">
              <a:lnSpc>
                <a:spcPct val="112000"/>
              </a:lnSpc>
              <a:spcBef>
                <a:spcPts val="800"/>
              </a:spcBef>
              <a:spcAft>
                <a:spcPts val="800"/>
              </a:spcAft>
              <a:buNone/>
            </a:pPr>
            <a:r>
              <a:t/>
            </a:r>
            <a:endParaRPr sz="2300">
              <a:solidFill>
                <a:srgbClr val="1A2433"/>
              </a:solidFill>
            </a:endParaRPr>
          </a:p>
        </p:txBody>
      </p:sp>
      <p:sp>
        <p:nvSpPr>
          <p:cNvPr id="182" name="Google Shape;182;p28"/>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Approximate beam search; two RNG scenarios for frightened turns. Not globally optimal.</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183" name="Google Shape;183;p28"/>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16</a:t>
            </a:r>
            <a:endParaRPr sz="900">
              <a:solidFill>
                <a:srgbClr val="5E6E8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29"/>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Kev-4B training stages</a:t>
            </a:r>
            <a:endParaRPr b="1" sz="3000">
              <a:solidFill>
                <a:srgbClr val="111829"/>
              </a:solidFill>
            </a:endParaRPr>
          </a:p>
        </p:txBody>
      </p:sp>
      <p:sp>
        <p:nvSpPr>
          <p:cNvPr id="189" name="Google Shape;189;p29"/>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1  Decisions: 12,576 records × 2 epochs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2  Dates/evidence: 1,425 + 2,000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3  Documents: 5,219 + 2,000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4  Skills/devtools: 11,320 + 4,000 replay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5  Pac-Man: 4,096 + 2,000 replay; 1 epoch</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90" name="Google Shape;190;p29"/>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Pac-Man: 762 updates, lr 2e-5; prior stages and label generation are prework.</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91" name="Google Shape;191;p29"/>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17</a:t>
            </a:r>
            <a:endParaRPr sz="900">
              <a:solidFill>
                <a:srgbClr val="5E6E80"/>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 name="Shape 195"/>
        <p:cNvGrpSpPr/>
        <p:nvPr/>
      </p:nvGrpSpPr>
      <p:grpSpPr>
        <a:xfrm>
          <a:off x="0" y="0"/>
          <a:ext cx="0" cy="0"/>
          <a:chOff x="0" y="0"/>
          <a:chExt cx="0" cy="0"/>
        </a:xfrm>
      </p:grpSpPr>
      <p:sp>
        <p:nvSpPr>
          <p:cNvPr id="196" name="Google Shape;196;p30"/>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CP3: 30 minutes of fine-tuning</a:t>
            </a:r>
            <a:endParaRPr b="1" sz="3000">
              <a:solidFill>
                <a:srgbClr val="111829"/>
              </a:solidFill>
            </a:endParaRPr>
          </a:p>
        </p:txBody>
      </p:sp>
      <p:sp>
        <p:nvSpPr>
          <p:cNvPr id="197" name="Google Shape;197;p30"/>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Warm-start your completed Skills checkpoint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One epoch; lr 2e-5; effective batch eight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Train rank-16 LoRA and 256-dim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Keep none/distractor augmentation disabled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Save recovery and enabled Drive backups</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198" name="Google Shape;198;p30"/>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30-minute class block; complete slower full runs as prework. No short-step cap.</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199" name="Google Shape;199;p30"/>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18</a:t>
            </a:r>
            <a:endParaRPr sz="900">
              <a:solidFill>
                <a:srgbClr val="5E6E80"/>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 name="Shape 203"/>
        <p:cNvGrpSpPr/>
        <p:nvPr/>
      </p:nvGrpSpPr>
      <p:grpSpPr>
        <a:xfrm>
          <a:off x="0" y="0"/>
          <a:ext cx="0" cy="0"/>
          <a:chOff x="0" y="0"/>
          <a:chExt cx="0" cy="0"/>
        </a:xfrm>
      </p:grpSpPr>
      <p:sp>
        <p:nvSpPr>
          <p:cNvPr id="204" name="Google Shape;204;p31"/>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Check what training changed</a:t>
            </a:r>
            <a:endParaRPr b="1" sz="3000">
              <a:solidFill>
                <a:srgbClr val="111829"/>
              </a:solidFill>
            </a:endParaRPr>
          </a:p>
        </p:txBody>
      </p:sp>
      <p:sp>
        <p:nvSpPr>
          <p:cNvPr id="205" name="Google Shape;205;p31"/>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Trainable: LoRA and pointer-head parameters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Original base matrices remain fixed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Encoder features change through LoRA</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Track loss and live memory in TensorBoard</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Save recovery weights during every stage</a:t>
            </a:r>
            <a:endParaRPr sz="2300">
              <a:solidFill>
                <a:srgbClr val="1A2433"/>
              </a:solidFill>
            </a:endParaRPr>
          </a:p>
        </p:txBody>
      </p:sp>
      <p:sp>
        <p:nvSpPr>
          <p:cNvPr id="206" name="Google Shape;206;p31"/>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900">
                <a:solidFill>
                  <a:srgbClr val="5E6E80"/>
                </a:solidFill>
              </a:rPr>
              <a:t>33.8M trainable parameters; raw probabilities; calibration remains separate.</a:t>
            </a:r>
            <a:endParaRPr sz="900">
              <a:solidFill>
                <a:srgbClr val="5E6E80"/>
              </a:solidFill>
            </a:endParaRPr>
          </a:p>
          <a:p>
            <a:pPr indent="0" lvl="0" marL="0" marR="0" rtl="0" algn="l">
              <a:lnSpc>
                <a:spcPct val="112000"/>
              </a:lnSpc>
              <a:spcBef>
                <a:spcPts val="800"/>
              </a:spcBef>
              <a:spcAft>
                <a:spcPts val="800"/>
              </a:spcAft>
              <a:buNone/>
            </a:pPr>
            <a:r>
              <a:t/>
            </a:r>
            <a:endParaRPr sz="900">
              <a:solidFill>
                <a:srgbClr val="5E6E80"/>
              </a:solidFill>
            </a:endParaRPr>
          </a:p>
        </p:txBody>
      </p:sp>
      <p:sp>
        <p:nvSpPr>
          <p:cNvPr id="207" name="Google Shape;207;p31"/>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19</a:t>
            </a:r>
            <a:endParaRPr sz="900">
              <a:solidFill>
                <a:srgbClr val="5E6E80"/>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32"/>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CP4: compare the same boards</a:t>
            </a:r>
            <a:endParaRPr b="1" sz="3000">
              <a:solidFill>
                <a:srgbClr val="111829"/>
              </a:solidFill>
            </a:endParaRPr>
          </a:p>
        </p:txBody>
      </p:sp>
      <p:sp>
        <p:nvSpPr>
          <p:cNvPr id="213" name="Google Shape;213;p32"/>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Fix Skills and planner-trained checkpoints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Score the same 256 evaluation boards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Compare strict and tie-aware teacher agreement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Inspect search regret and immediate captures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Save paired predictions by board ID</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214" name="Google Shape;214;p32"/>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Approximate teacher agreement is not full-game win rate or new-maze generalization.</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215" name="Google Shape;215;p32"/>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20</a:t>
            </a:r>
            <a:endParaRPr sz="900">
              <a:solidFill>
                <a:srgbClr val="5E6E80"/>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33"/>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CP4: compare cost and gameplay</a:t>
            </a:r>
            <a:endParaRPr b="1" sz="3000">
              <a:solidFill>
                <a:srgbClr val="111829"/>
              </a:solidFill>
            </a:endParaRPr>
          </a:p>
        </p:txBody>
      </p:sp>
      <p:sp>
        <p:nvSpPr>
          <p:cNvPr id="221" name="Google Shape;221;p33"/>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Use the same native engine and starting seed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Compare pellets, score and repeated tiles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Verify which LoRA is serving every decision</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Record step time, GPU use and compute units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Inspect the five-seed CPU teacher comparison</a:t>
            </a:r>
            <a:endParaRPr sz="2300">
              <a:solidFill>
                <a:srgbClr val="1A2433"/>
              </a:solidFill>
            </a:endParaRPr>
          </a:p>
          <a:p>
            <a:pPr indent="0" lvl="0" marL="0" marR="0" rtl="0" algn="l">
              <a:lnSpc>
                <a:spcPct val="112000"/>
              </a:lnSpc>
              <a:spcBef>
                <a:spcPts val="800"/>
              </a:spcBef>
              <a:spcAft>
                <a:spcPts val="800"/>
              </a:spcAft>
              <a:buNone/>
            </a:pPr>
            <a:r>
              <a:t/>
            </a:r>
            <a:endParaRPr sz="2300">
              <a:solidFill>
                <a:srgbClr val="1A2433"/>
              </a:solidFill>
            </a:endParaRPr>
          </a:p>
        </p:txBody>
      </p:sp>
      <p:sp>
        <p:nvSpPr>
          <p:cNvPr id="222" name="Google Shape;222;p3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Teacher: 225 vs 199.4 mean pellets; zero vs one clears at the 512-move cap.</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223" name="Google Shape;223;p3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21</a:t>
            </a:r>
            <a:endParaRPr sz="900">
              <a:solidFill>
                <a:srgbClr val="5E6E8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3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CP5: explain and submit</a:t>
            </a:r>
            <a:endParaRPr b="1" sz="3000">
              <a:solidFill>
                <a:srgbClr val="111829"/>
              </a:solidFill>
            </a:endParaRPr>
          </a:p>
        </p:txBody>
      </p:sp>
      <p:sp>
        <p:nvSpPr>
          <p:cNvPr id="229" name="Google Shape;229;p34"/>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Explain one changed move and one mistake</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Show which parameters received gradients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Save all five adapters and pointer heads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Submit paired predictions and training curves</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Record runtime and actual compute-unit use</a:t>
            </a:r>
            <a:endParaRPr sz="2300">
              <a:solidFill>
                <a:srgbClr val="1A2433"/>
              </a:solidFill>
            </a:endParaRPr>
          </a:p>
        </p:txBody>
      </p:sp>
      <p:sp>
        <p:nvSpPr>
          <p:cNvPr id="230" name="Google Shape;230;p3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Evidence: four general stages, Pac-Man adaptation, paired evaluation</a:t>
            </a:r>
            <a:endParaRPr sz="900">
              <a:solidFill>
                <a:srgbClr val="5E6E80"/>
              </a:solidFill>
            </a:endParaRPr>
          </a:p>
        </p:txBody>
      </p:sp>
      <p:sp>
        <p:nvSpPr>
          <p:cNvPr id="231" name="Google Shape;231;p3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22</a:t>
            </a:r>
            <a:endParaRPr sz="900">
              <a:solidFill>
                <a:srgbClr val="5E6E80"/>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 name="Shape 235"/>
        <p:cNvGrpSpPr/>
        <p:nvPr/>
      </p:nvGrpSpPr>
      <p:grpSpPr>
        <a:xfrm>
          <a:off x="0" y="0"/>
          <a:ext cx="0" cy="0"/>
          <a:chOff x="0" y="0"/>
          <a:chExt cx="0" cy="0"/>
        </a:xfrm>
      </p:grpSpPr>
      <p:sp>
        <p:nvSpPr>
          <p:cNvPr id="236" name="Google Shape;236;p3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b="1" lang="zh-CN" sz="3000">
                <a:solidFill>
                  <a:srgbClr val="111829"/>
                </a:solidFill>
              </a:rPr>
              <a:t>The native game and planning teacher</a:t>
            </a:r>
            <a:endParaRPr b="1" sz="3000">
              <a:solidFill>
                <a:srgbClr val="111829"/>
              </a:solidFill>
            </a:endParaRPr>
          </a:p>
          <a:p>
            <a:pPr indent="0" lvl="0" marL="0" rtl="0" algn="l">
              <a:lnSpc>
                <a:spcPct val="112000"/>
              </a:lnSpc>
              <a:spcBef>
                <a:spcPts val="800"/>
              </a:spcBef>
              <a:spcAft>
                <a:spcPts val="800"/>
              </a:spcAft>
              <a:buNone/>
            </a:pPr>
            <a:r>
              <a:t/>
            </a:r>
            <a:endParaRPr b="1" sz="3000">
              <a:solidFill>
                <a:srgbClr val="111829"/>
              </a:solidFill>
            </a:endParaRPr>
          </a:p>
        </p:txBody>
      </p:sp>
      <p:sp>
        <p:nvSpPr>
          <p:cNvPr id="237" name="Google Shape;237;p35"/>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Game: masonicGIT/pacman at 7407174</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Original maze, renderer, sounds and mechanics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Predict each ghost with its native targeting code</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Search uses current timers; model sees the board</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Candidate paths stay outside the model input</a:t>
            </a:r>
            <a:endParaRPr sz="2300">
              <a:solidFill>
                <a:srgbClr val="1A2433"/>
              </a:solidFill>
            </a:endParaRPr>
          </a:p>
          <a:p>
            <a:pPr indent="0" lvl="0" marL="0" rtl="0" algn="l">
              <a:lnSpc>
                <a:spcPct val="112000"/>
              </a:lnSpc>
              <a:spcBef>
                <a:spcPts val="800"/>
              </a:spcBef>
              <a:spcAft>
                <a:spcPts val="800"/>
              </a:spcAft>
              <a:buNone/>
            </a:pPr>
            <a:r>
              <a:t/>
            </a:r>
            <a:endParaRPr sz="2300">
              <a:solidFill>
                <a:srgbClr val="1A2433"/>
              </a:solidFill>
            </a:endParaRPr>
          </a:p>
        </p:txBody>
      </p:sp>
      <p:sp>
        <p:nvSpPr>
          <p:cNvPr id="238" name="Google Shape;238;p3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900">
                <a:solidFill>
                  <a:srgbClr val="5E6E80"/>
                </a:solidFill>
              </a:rPr>
              <a:t>A faithful recreation with documented differences; source/assets and GPL notice retained.</a:t>
            </a:r>
            <a:endParaRPr sz="900">
              <a:solidFill>
                <a:srgbClr val="5E6E80"/>
              </a:solidFill>
            </a:endParaRPr>
          </a:p>
          <a:p>
            <a:pPr indent="0" lvl="0" marL="0" rtl="0" algn="l">
              <a:lnSpc>
                <a:spcPct val="112000"/>
              </a:lnSpc>
              <a:spcBef>
                <a:spcPts val="800"/>
              </a:spcBef>
              <a:spcAft>
                <a:spcPts val="800"/>
              </a:spcAft>
              <a:buNone/>
            </a:pPr>
            <a:r>
              <a:t/>
            </a:r>
            <a:endParaRPr sz="900">
              <a:solidFill>
                <a:srgbClr val="5E6E80"/>
              </a:solidFill>
            </a:endParaRPr>
          </a:p>
        </p:txBody>
      </p:sp>
      <p:sp>
        <p:nvSpPr>
          <p:cNvPr id="239" name="Google Shape;239;p3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23</a:t>
            </a:r>
            <a:endParaRPr sz="900">
              <a:solidFill>
                <a:srgbClr val="5E6E80"/>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