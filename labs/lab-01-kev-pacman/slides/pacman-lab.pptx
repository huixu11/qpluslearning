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52FCCB-C744-403B-90CA-A14BC9C0A3A7}">
  <a:tblStyle styleId="{7752FCCB-C744-403B-90CA-A14BC9C0A3A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kev_lab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kev_lab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Small-model Kev trains low-rank encoder adapters and a pointer head. Original base matrices stay fixed, but effective features change. CLM trains state/action projection heads and a similarity scale over completely fixed LLM features. Kev-27B is a separate full-fine-tuning recipe. The Pac-Man lab uses Kev-0.8B with the published decision-v7 base stage, then supervised player-domain adaptation. The comparison remains useful for understanding independent action caching and repeated training cost.</a:t>
            </a:r>
            <a:endParaRPr/>
          </a:p>
          <a:p>
            <a:pPr indent="0" lvl="0" marL="0" rtl="0" algn="l">
              <a:spcBef>
                <a:spcPts val="0"/>
              </a:spcBef>
              <a:spcAft>
                <a:spcPts val="0"/>
              </a:spcAft>
              <a:buNone/>
            </a:pPr>
            <a:r>
              <a:rPr lang="zh-CN"/>
              <a:t>Sources: https://github.com/jaredpalmer/kev/blob/84847f0a883d900f7de5b7a57eaa341ca7f9a6b4/kev/model.py ; https://github.com/Contrastive-LM/CLM/blob/bb42c6c5bf914fd449bed2f6ca65be80602cb1f7/src/clm/heads.py ; supplied Contrastive Language Models PDF pages 6-8.</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Reference URLs checked October 2, 2026:</a:t>
            </a:r>
            <a:endParaRPr/>
          </a:p>
          <a:p>
            <a:pPr indent="0" lvl="0" marL="0" rtl="0" algn="l">
              <a:spcBef>
                <a:spcPts val="0"/>
              </a:spcBef>
              <a:spcAft>
                <a:spcPts val="0"/>
              </a:spcAft>
              <a:buNone/>
            </a:pPr>
            <a:r>
              <a:rPr lang="zh-CN"/>
              <a:t>https://github.com/jaredpalmer/kev/tree/84847f0a883d900f7de5b7a57eaa341ca7f9a6b4</a:t>
            </a:r>
            <a:endParaRPr/>
          </a:p>
          <a:p>
            <a:pPr indent="0" lvl="0" marL="0" rtl="0" algn="l">
              <a:spcBef>
                <a:spcPts val="0"/>
              </a:spcBef>
              <a:spcAft>
                <a:spcPts val="0"/>
              </a:spcAft>
              <a:buNone/>
            </a:pPr>
            <a:r>
              <a:rPr lang="zh-CN"/>
              <a:t>https://github.com/Contrastive-LM/CLM/tree/bb42c6c5bf914fd449bed2f6ca65be80602cb1f7</a:t>
            </a:r>
            <a:endParaRPr/>
          </a:p>
          <a:p>
            <a:pPr indent="0" lvl="0" marL="0" rtl="0" algn="l">
              <a:spcBef>
                <a:spcPts val="0"/>
              </a:spcBef>
              <a:spcAft>
                <a:spcPts val="0"/>
              </a:spcAft>
              <a:buNone/>
            </a:pPr>
            <a:r>
              <a:rPr lang="zh-CN"/>
              <a:t>https://github.com/Contrastive-LM/CLM/blob/bb42c6c5bf914fd449bed2f6ca65be80602cb1f7/src/clm/heads.py</a:t>
            </a:r>
            <a:endParaRPr/>
          </a:p>
          <a:p>
            <a:pPr indent="0" lvl="0" marL="0" rtl="0" algn="l">
              <a:spcBef>
                <a:spcPts val="0"/>
              </a:spcBef>
              <a:spcAft>
                <a:spcPts val="0"/>
              </a:spcAft>
              <a:buNone/>
            </a:pPr>
            <a:r>
              <a:rPr lang="zh-CN"/>
              <a:t>https://github.com/Contrastive-LM/CLM/blob/bb42c6c5bf914fd449bed2f6ca65be80602cb1f7/train/finetune.py</a:t>
            </a:r>
            <a:endParaRPr/>
          </a:p>
          <a:p>
            <a:pPr indent="0" lvl="0" marL="0" rtl="0" algn="l">
              <a:spcBef>
                <a:spcPts val="0"/>
              </a:spcBef>
              <a:spcAft>
                <a:spcPts val="0"/>
              </a:spcAft>
              <a:buNone/>
            </a:pPr>
            <a:r>
              <a:rPr lang="zh-CN"/>
              <a:t>https://github.com/jaredpalmer/kev/blob/84847f0a883d900f7de5b7a57eaa341ca7f9a6b4/kev/model.py</a:t>
            </a:r>
            <a:endParaRPr/>
          </a:p>
          <a:p>
            <a:pPr indent="0" lvl="0" marL="0" rtl="0" algn="l">
              <a:spcBef>
                <a:spcPts val="0"/>
              </a:spcBef>
              <a:spcAft>
                <a:spcPts val="0"/>
              </a:spcAft>
              <a:buNone/>
            </a:pPr>
            <a:r>
              <a:rPr lang="zh-CN"/>
              <a:t>https://huggingface.co/blog/ggml-org/decision-models-in-llamacpp</a:t>
            </a:r>
            <a:endParaRPr/>
          </a:p>
          <a:p>
            <a:pPr indent="0" lvl="0" marL="0" rtl="0" algn="l">
              <a:spcBef>
                <a:spcPts val="0"/>
              </a:spcBef>
              <a:spcAft>
                <a:spcPts val="0"/>
              </a:spcAft>
              <a:buNone/>
            </a:pPr>
            <a:r>
              <a:rPr lang="zh-CN"/>
              <a:t>https://github.com/ggml-org/llama.cpp/pull/29818</a:t>
            </a:r>
            <a:endParaRPr/>
          </a:p>
          <a:p>
            <a:pPr indent="0" lvl="0" marL="0" rtl="0" algn="l">
              <a:spcBef>
                <a:spcPts val="0"/>
              </a:spcBef>
              <a:spcAft>
                <a:spcPts val="0"/>
              </a:spcAft>
              <a:buNone/>
            </a:pPr>
            <a:r>
              <a:rPr lang="zh-CN"/>
              <a:t>CLM article: supplied Contrastive Language Models PDF, pages 6-8; https://contrastive-lm.notion.site/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decision_lab_pro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decision_lab_pro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Kev's joint causal representation can model state/option interactions before its readout. LoRA can adapt those representations but its benefit over a head-only variant requires a controlled ablation. CLM's independent encodings support reusable actions and cached backbone features; its learned heads can remap existing features but cannot guarantee recovery of information absent from the frozen representation. A larger CLM backbone can offset some representation limitations; this is an architectural inference, not a measured accuracy ordering.</a:t>
            </a:r>
            <a:endParaRPr/>
          </a:p>
          <a:p>
            <a:pPr indent="0" lvl="0" marL="0" rtl="0" algn="l">
              <a:spcBef>
                <a:spcPts val="0"/>
              </a:spcBef>
              <a:spcAft>
                <a:spcPts val="0"/>
              </a:spcAft>
              <a:buNone/>
            </a:pPr>
            <a:r>
              <a:rPr lang="zh-CN"/>
              <a:t>Sources: pinned Kev model.py; pinned CLM heads.py and train/finetune.py; supplied CLM PDF pages 6-8.</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Reference URLs checked October 2, 2026:</a:t>
            </a:r>
            <a:endParaRPr/>
          </a:p>
          <a:p>
            <a:pPr indent="0" lvl="0" marL="0" rtl="0" algn="l">
              <a:spcBef>
                <a:spcPts val="0"/>
              </a:spcBef>
              <a:spcAft>
                <a:spcPts val="0"/>
              </a:spcAft>
              <a:buNone/>
            </a:pPr>
            <a:r>
              <a:rPr lang="zh-CN"/>
              <a:t>https://github.com/jaredpalmer/kev/tree/84847f0a883d900f7de5b7a57eaa341ca7f9a6b4</a:t>
            </a:r>
            <a:endParaRPr/>
          </a:p>
          <a:p>
            <a:pPr indent="0" lvl="0" marL="0" rtl="0" algn="l">
              <a:spcBef>
                <a:spcPts val="0"/>
              </a:spcBef>
              <a:spcAft>
                <a:spcPts val="0"/>
              </a:spcAft>
              <a:buNone/>
            </a:pPr>
            <a:r>
              <a:rPr lang="zh-CN"/>
              <a:t>https://github.com/Contrastive-LM/CLM/tree/bb42c6c5bf914fd449bed2f6ca65be80602cb1f7</a:t>
            </a:r>
            <a:endParaRPr/>
          </a:p>
          <a:p>
            <a:pPr indent="0" lvl="0" marL="0" rtl="0" algn="l">
              <a:spcBef>
                <a:spcPts val="0"/>
              </a:spcBef>
              <a:spcAft>
                <a:spcPts val="0"/>
              </a:spcAft>
              <a:buNone/>
            </a:pPr>
            <a:r>
              <a:rPr lang="zh-CN"/>
              <a:t>https://github.com/Contrastive-LM/CLM/blob/bb42c6c5bf914fd449bed2f6ca65be80602cb1f7/src/clm/heads.py</a:t>
            </a:r>
            <a:endParaRPr/>
          </a:p>
          <a:p>
            <a:pPr indent="0" lvl="0" marL="0" rtl="0" algn="l">
              <a:spcBef>
                <a:spcPts val="0"/>
              </a:spcBef>
              <a:spcAft>
                <a:spcPts val="0"/>
              </a:spcAft>
              <a:buNone/>
            </a:pPr>
            <a:r>
              <a:rPr lang="zh-CN"/>
              <a:t>https://github.com/Contrastive-LM/CLM/blob/bb42c6c5bf914fd449bed2f6ca65be80602cb1f7/train/finetune.py</a:t>
            </a:r>
            <a:endParaRPr/>
          </a:p>
          <a:p>
            <a:pPr indent="0" lvl="0" marL="0" rtl="0" algn="l">
              <a:spcBef>
                <a:spcPts val="0"/>
              </a:spcBef>
              <a:spcAft>
                <a:spcPts val="0"/>
              </a:spcAft>
              <a:buNone/>
            </a:pPr>
            <a:r>
              <a:rPr lang="zh-CN"/>
              <a:t>https://github.com/jaredpalmer/kev/blob/84847f0a883d900f7de5b7a57eaa341ca7f9a6b4/kev/model.py</a:t>
            </a:r>
            <a:endParaRPr/>
          </a:p>
          <a:p>
            <a:pPr indent="0" lvl="0" marL="0" rtl="0" algn="l">
              <a:spcBef>
                <a:spcPts val="0"/>
              </a:spcBef>
              <a:spcAft>
                <a:spcPts val="0"/>
              </a:spcAft>
              <a:buNone/>
            </a:pPr>
            <a:r>
              <a:rPr lang="zh-CN"/>
              <a:t>https://huggingface.co/blog/ggml-org/decision-models-in-llamacpp</a:t>
            </a:r>
            <a:endParaRPr/>
          </a:p>
          <a:p>
            <a:pPr indent="0" lvl="0" marL="0" rtl="0" algn="l">
              <a:spcBef>
                <a:spcPts val="0"/>
              </a:spcBef>
              <a:spcAft>
                <a:spcPts val="0"/>
              </a:spcAft>
              <a:buNone/>
            </a:pPr>
            <a:r>
              <a:rPr lang="zh-CN"/>
              <a:t>https://github.com/ggml-org/llama.cpp/pull/29818</a:t>
            </a:r>
            <a:endParaRPr/>
          </a:p>
          <a:p>
            <a:pPr indent="0" lvl="0" marL="0" rtl="0" algn="l">
              <a:spcBef>
                <a:spcPts val="0"/>
              </a:spcBef>
              <a:spcAft>
                <a:spcPts val="0"/>
              </a:spcAft>
              <a:buNone/>
            </a:pPr>
            <a:r>
              <a:rPr lang="zh-CN"/>
              <a:t>CLM article: supplied Contrastive Language Models PDF, pages 6-8; https://contrastive-lm.notion.site/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decision_lab_training_cost: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decision_lab_training_cost: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Conceptual accounting, not dollar estimates: CLM total work = feature extraction + the sum of head-training runs; Kev LoRA = the sum of encoder forward/backward plus head/adapter training runs. A feature cache can be reused across random seeds and head settings while backbone, tokenizer, pooling and input recipe stay fixed. The CLM PDF reports about one hour on an RTX 4090 for the Nemotron head pretraining run after describing precomputed LLM embeddings. It does not establish the end-to-end time including extraction, download, dataset preparation or synthetic-negative generation. A LoRA model has fewer trainable parameters than full fine-tuning but still needs encoder activations and backpropagation. Free quotas change payments, not the amount of compute. Record actual hardware-hours rather than inventing prices.</a:t>
            </a:r>
            <a:endParaRPr/>
          </a:p>
          <a:p>
            <a:pPr indent="0" lvl="0" marL="0" rtl="0" algn="l">
              <a:spcBef>
                <a:spcPts val="0"/>
              </a:spcBef>
              <a:spcAft>
                <a:spcPts val="0"/>
              </a:spcAft>
              <a:buNone/>
            </a:pPr>
            <a:r>
              <a:rPr lang="zh-CN"/>
              <a:t>Sources: supplied CLM PDF page 6; https://github.com/Contrastive-LM/CLM/blob/bb42c6c5bf914fd449bed2f6ca65be80602cb1f7/train/finetune.py ; pinned Kev model.py and train.py.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Reference URLs checked October 2, 2026:</a:t>
            </a:r>
            <a:endParaRPr/>
          </a:p>
          <a:p>
            <a:pPr indent="0" lvl="0" marL="0" rtl="0" algn="l">
              <a:spcBef>
                <a:spcPts val="0"/>
              </a:spcBef>
              <a:spcAft>
                <a:spcPts val="0"/>
              </a:spcAft>
              <a:buNone/>
            </a:pPr>
            <a:r>
              <a:rPr lang="zh-CN"/>
              <a:t>https://github.com/jaredpalmer/kev/tree/84847f0a883d900f7de5b7a57eaa341ca7f9a6b4</a:t>
            </a:r>
            <a:endParaRPr/>
          </a:p>
          <a:p>
            <a:pPr indent="0" lvl="0" marL="0" rtl="0" algn="l">
              <a:spcBef>
                <a:spcPts val="0"/>
              </a:spcBef>
              <a:spcAft>
                <a:spcPts val="0"/>
              </a:spcAft>
              <a:buNone/>
            </a:pPr>
            <a:r>
              <a:rPr lang="zh-CN"/>
              <a:t>https://github.com/Contrastive-LM/CLM/tree/bb42c6c5bf914fd449bed2f6ca65be80602cb1f7</a:t>
            </a:r>
            <a:endParaRPr/>
          </a:p>
          <a:p>
            <a:pPr indent="0" lvl="0" marL="0" rtl="0" algn="l">
              <a:spcBef>
                <a:spcPts val="0"/>
              </a:spcBef>
              <a:spcAft>
                <a:spcPts val="0"/>
              </a:spcAft>
              <a:buNone/>
            </a:pPr>
            <a:r>
              <a:rPr lang="zh-CN"/>
              <a:t>https://github.com/Contrastive-LM/CLM/blob/bb42c6c5bf914fd449bed2f6ca65be80602cb1f7/src/clm/heads.py</a:t>
            </a:r>
            <a:endParaRPr/>
          </a:p>
          <a:p>
            <a:pPr indent="0" lvl="0" marL="0" rtl="0" algn="l">
              <a:spcBef>
                <a:spcPts val="0"/>
              </a:spcBef>
              <a:spcAft>
                <a:spcPts val="0"/>
              </a:spcAft>
              <a:buNone/>
            </a:pPr>
            <a:r>
              <a:rPr lang="zh-CN"/>
              <a:t>https://github.com/Contrastive-LM/CLM/blob/bb42c6c5bf914fd449bed2f6ca65be80602cb1f7/train/finetune.py</a:t>
            </a:r>
            <a:endParaRPr/>
          </a:p>
          <a:p>
            <a:pPr indent="0" lvl="0" marL="0" rtl="0" algn="l">
              <a:spcBef>
                <a:spcPts val="0"/>
              </a:spcBef>
              <a:spcAft>
                <a:spcPts val="0"/>
              </a:spcAft>
              <a:buNone/>
            </a:pPr>
            <a:r>
              <a:rPr lang="zh-CN"/>
              <a:t>https://github.com/jaredpalmer/kev/blob/84847f0a883d900f7de5b7a57eaa341ca7f9a6b4/kev/model.py</a:t>
            </a:r>
            <a:endParaRPr/>
          </a:p>
          <a:p>
            <a:pPr indent="0" lvl="0" marL="0" rtl="0" algn="l">
              <a:spcBef>
                <a:spcPts val="0"/>
              </a:spcBef>
              <a:spcAft>
                <a:spcPts val="0"/>
              </a:spcAft>
              <a:buNone/>
            </a:pPr>
            <a:r>
              <a:rPr lang="zh-CN"/>
              <a:t>https://huggingface.co/blog/ggml-org/decision-models-in-llamacpp</a:t>
            </a:r>
            <a:endParaRPr/>
          </a:p>
          <a:p>
            <a:pPr indent="0" lvl="0" marL="0" rtl="0" algn="l">
              <a:spcBef>
                <a:spcPts val="0"/>
              </a:spcBef>
              <a:spcAft>
                <a:spcPts val="0"/>
              </a:spcAft>
              <a:buNone/>
            </a:pPr>
            <a:r>
              <a:rPr lang="zh-CN"/>
              <a:t>https://github.com/ggml-org/llama.cpp/pull/29818</a:t>
            </a:r>
            <a:endParaRPr/>
          </a:p>
          <a:p>
            <a:pPr indent="0" lvl="0" marL="0" rtl="0" algn="l">
              <a:spcBef>
                <a:spcPts val="0"/>
              </a:spcBef>
              <a:spcAft>
                <a:spcPts val="0"/>
              </a:spcAft>
              <a:buNone/>
            </a:pPr>
            <a:r>
              <a:rPr lang="zh-CN"/>
              <a:t>CLM article: supplied Contrastive Language Models PDF, pages 6-8; https://contrastive-lm.notion.site/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decision_lab_serving_cost: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decision_lab_serving_cost: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Decimal GB estimates use rounded parameter counts and BF16's two bytes per parameter. They exclude tokenizer/embedding peculiarities, heads, KV or recurrent state, activations, quantization metadata and runtime overhead. Do not present these as peak memory measurements. CLM's state and action paths can use one shared frozen backbone instance. CLM action reuse saves repeated action token encoding; it is especially useful with repeated or many/long actions. It does not guarantee that released CLM-8B beats released Kev-0.8B or Kev-4B on four short directions. Quantization and backend implementations also affect serving cost and accuracy.</a:t>
            </a:r>
            <a:endParaRPr/>
          </a:p>
          <a:p>
            <a:pPr indent="0" lvl="0" marL="0" rtl="0" algn="l">
              <a:spcBef>
                <a:spcPts val="0"/>
              </a:spcBef>
              <a:spcAft>
                <a:spcPts val="0"/>
              </a:spcAft>
              <a:buNone/>
            </a:pPr>
            <a:r>
              <a:rPr lang="zh-CN"/>
              <a:t>Sources: https://github.com/jaredpalmer/kev ; https://github.com/Contrastive-LM/CLM ; supplied CLM PDF pages 6-8.</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Reference URLs checked October 2, 2026:</a:t>
            </a:r>
            <a:endParaRPr/>
          </a:p>
          <a:p>
            <a:pPr indent="0" lvl="0" marL="0" rtl="0" algn="l">
              <a:spcBef>
                <a:spcPts val="0"/>
              </a:spcBef>
              <a:spcAft>
                <a:spcPts val="0"/>
              </a:spcAft>
              <a:buNone/>
            </a:pPr>
            <a:r>
              <a:rPr lang="zh-CN"/>
              <a:t>https://github.com/jaredpalmer/kev/tree/84847f0a883d900f7de5b7a57eaa341ca7f9a6b4</a:t>
            </a:r>
            <a:endParaRPr/>
          </a:p>
          <a:p>
            <a:pPr indent="0" lvl="0" marL="0" rtl="0" algn="l">
              <a:spcBef>
                <a:spcPts val="0"/>
              </a:spcBef>
              <a:spcAft>
                <a:spcPts val="0"/>
              </a:spcAft>
              <a:buNone/>
            </a:pPr>
            <a:r>
              <a:rPr lang="zh-CN"/>
              <a:t>https://github.com/Contrastive-LM/CLM/tree/bb42c6c5bf914fd449bed2f6ca65be80602cb1f7</a:t>
            </a:r>
            <a:endParaRPr/>
          </a:p>
          <a:p>
            <a:pPr indent="0" lvl="0" marL="0" rtl="0" algn="l">
              <a:spcBef>
                <a:spcPts val="0"/>
              </a:spcBef>
              <a:spcAft>
                <a:spcPts val="0"/>
              </a:spcAft>
              <a:buNone/>
            </a:pPr>
            <a:r>
              <a:rPr lang="zh-CN"/>
              <a:t>https://github.com/Contrastive-LM/CLM/blob/bb42c6c5bf914fd449bed2f6ca65be80602cb1f7/src/clm/heads.py</a:t>
            </a:r>
            <a:endParaRPr/>
          </a:p>
          <a:p>
            <a:pPr indent="0" lvl="0" marL="0" rtl="0" algn="l">
              <a:spcBef>
                <a:spcPts val="0"/>
              </a:spcBef>
              <a:spcAft>
                <a:spcPts val="0"/>
              </a:spcAft>
              <a:buNone/>
            </a:pPr>
            <a:r>
              <a:rPr lang="zh-CN"/>
              <a:t>https://github.com/Contrastive-LM/CLM/blob/bb42c6c5bf914fd449bed2f6ca65be80602cb1f7/train/finetune.py</a:t>
            </a:r>
            <a:endParaRPr/>
          </a:p>
          <a:p>
            <a:pPr indent="0" lvl="0" marL="0" rtl="0" algn="l">
              <a:spcBef>
                <a:spcPts val="0"/>
              </a:spcBef>
              <a:spcAft>
                <a:spcPts val="0"/>
              </a:spcAft>
              <a:buNone/>
            </a:pPr>
            <a:r>
              <a:rPr lang="zh-CN"/>
              <a:t>https://github.com/jaredpalmer/kev/blob/84847f0a883d900f7de5b7a57eaa341ca7f9a6b4/kev/model.py</a:t>
            </a:r>
            <a:endParaRPr/>
          </a:p>
          <a:p>
            <a:pPr indent="0" lvl="0" marL="0" rtl="0" algn="l">
              <a:spcBef>
                <a:spcPts val="0"/>
              </a:spcBef>
              <a:spcAft>
                <a:spcPts val="0"/>
              </a:spcAft>
              <a:buNone/>
            </a:pPr>
            <a:r>
              <a:rPr lang="zh-CN"/>
              <a:t>https://huggingface.co/blog/ggml-org/decision-models-in-llamacpp</a:t>
            </a:r>
            <a:endParaRPr/>
          </a:p>
          <a:p>
            <a:pPr indent="0" lvl="0" marL="0" rtl="0" algn="l">
              <a:spcBef>
                <a:spcPts val="0"/>
              </a:spcBef>
              <a:spcAft>
                <a:spcPts val="0"/>
              </a:spcAft>
              <a:buNone/>
            </a:pPr>
            <a:r>
              <a:rPr lang="zh-CN"/>
              <a:t>https://github.com/ggml-org/llama.cpp/pull/29818</a:t>
            </a:r>
            <a:endParaRPr/>
          </a:p>
          <a:p>
            <a:pPr indent="0" lvl="0" marL="0" rtl="0" algn="l">
              <a:spcBef>
                <a:spcPts val="0"/>
              </a:spcBef>
              <a:spcAft>
                <a:spcPts val="0"/>
              </a:spcAft>
              <a:buNone/>
            </a:pPr>
            <a:r>
              <a:rPr lang="zh-CN"/>
              <a:t>CLM article: supplied Contrastive Language Models PDF, pages 6-8; https://contrastive-lm.notion.site/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decision_lab_performance: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decision_lab_performance: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CLM PDF page 7: a 200-token state, 15 tokens per candidate, one RTX 4090 and five trials; latency rises from 36 ms for one cached candidate to 44 ms for 1,024. Its ~13x at 1,024 candidates is versus hosted Jev, not Kev. The llama.cpp announcement reports a 12 ms median for Kev-4B on RTX PRO 6000 for one question; it is not a matched run against CLM. Never divide 36 by 12 to infer a comparative speedup. No matched Kev-vs-CLM Pac-Man benchmark was identified in the reviewed sources. Their published accuracy suites and training data differ. Our 16-board sample is only a demonstration, not evidence of general superiority.</a:t>
            </a:r>
            <a:endParaRPr/>
          </a:p>
          <a:p>
            <a:pPr indent="0" lvl="0" marL="0" rtl="0" algn="l">
              <a:spcBef>
                <a:spcPts val="0"/>
              </a:spcBef>
              <a:spcAft>
                <a:spcPts val="0"/>
              </a:spcAft>
              <a:buNone/>
            </a:pPr>
            <a:r>
              <a:rPr lang="zh-CN"/>
              <a:t>Sources: supplied CLM PDF page 7; https://huggingface.co/blog/ggml-org/decision-models-in-llamacpp ; https://github.com/jaredpalmer/kev ; https://github.com/Contrastive-LM/CLM .</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Reference URLs checked October 2, 2026:</a:t>
            </a:r>
            <a:endParaRPr/>
          </a:p>
          <a:p>
            <a:pPr indent="0" lvl="0" marL="0" rtl="0" algn="l">
              <a:spcBef>
                <a:spcPts val="0"/>
              </a:spcBef>
              <a:spcAft>
                <a:spcPts val="0"/>
              </a:spcAft>
              <a:buNone/>
            </a:pPr>
            <a:r>
              <a:rPr lang="zh-CN"/>
              <a:t>https://github.com/jaredpalmer/kev/tree/84847f0a883d900f7de5b7a57eaa341ca7f9a6b4</a:t>
            </a:r>
            <a:endParaRPr/>
          </a:p>
          <a:p>
            <a:pPr indent="0" lvl="0" marL="0" rtl="0" algn="l">
              <a:spcBef>
                <a:spcPts val="0"/>
              </a:spcBef>
              <a:spcAft>
                <a:spcPts val="0"/>
              </a:spcAft>
              <a:buNone/>
            </a:pPr>
            <a:r>
              <a:rPr lang="zh-CN"/>
              <a:t>https://github.com/Contrastive-LM/CLM/tree/bb42c6c5bf914fd449bed2f6ca65be80602cb1f7</a:t>
            </a:r>
            <a:endParaRPr/>
          </a:p>
          <a:p>
            <a:pPr indent="0" lvl="0" marL="0" rtl="0" algn="l">
              <a:spcBef>
                <a:spcPts val="0"/>
              </a:spcBef>
              <a:spcAft>
                <a:spcPts val="0"/>
              </a:spcAft>
              <a:buNone/>
            </a:pPr>
            <a:r>
              <a:rPr lang="zh-CN"/>
              <a:t>https://github.com/Contrastive-LM/CLM/blob/bb42c6c5bf914fd449bed2f6ca65be80602cb1f7/src/clm/heads.py</a:t>
            </a:r>
            <a:endParaRPr/>
          </a:p>
          <a:p>
            <a:pPr indent="0" lvl="0" marL="0" rtl="0" algn="l">
              <a:spcBef>
                <a:spcPts val="0"/>
              </a:spcBef>
              <a:spcAft>
                <a:spcPts val="0"/>
              </a:spcAft>
              <a:buNone/>
            </a:pPr>
            <a:r>
              <a:rPr lang="zh-CN"/>
              <a:t>https://github.com/Contrastive-LM/CLM/blob/bb42c6c5bf914fd449bed2f6ca65be80602cb1f7/train/finetune.py</a:t>
            </a:r>
            <a:endParaRPr/>
          </a:p>
          <a:p>
            <a:pPr indent="0" lvl="0" marL="0" rtl="0" algn="l">
              <a:spcBef>
                <a:spcPts val="0"/>
              </a:spcBef>
              <a:spcAft>
                <a:spcPts val="0"/>
              </a:spcAft>
              <a:buNone/>
            </a:pPr>
            <a:r>
              <a:rPr lang="zh-CN"/>
              <a:t>https://github.com/jaredpalmer/kev/blob/84847f0a883d900f7de5b7a57eaa341ca7f9a6b4/kev/model.py</a:t>
            </a:r>
            <a:endParaRPr/>
          </a:p>
          <a:p>
            <a:pPr indent="0" lvl="0" marL="0" rtl="0" algn="l">
              <a:spcBef>
                <a:spcPts val="0"/>
              </a:spcBef>
              <a:spcAft>
                <a:spcPts val="0"/>
              </a:spcAft>
              <a:buNone/>
            </a:pPr>
            <a:r>
              <a:rPr lang="zh-CN"/>
              <a:t>https://huggingface.co/blog/ggml-org/decision-models-in-llamacpp</a:t>
            </a:r>
            <a:endParaRPr/>
          </a:p>
          <a:p>
            <a:pPr indent="0" lvl="0" marL="0" rtl="0" algn="l">
              <a:spcBef>
                <a:spcPts val="0"/>
              </a:spcBef>
              <a:spcAft>
                <a:spcPts val="0"/>
              </a:spcAft>
              <a:buNone/>
            </a:pPr>
            <a:r>
              <a:rPr lang="zh-CN"/>
              <a:t>https://github.com/ggml-org/llama.cpp/pull/29818</a:t>
            </a:r>
            <a:endParaRPr/>
          </a:p>
          <a:p>
            <a:pPr indent="0" lvl="0" marL="0" rtl="0" algn="l">
              <a:spcBef>
                <a:spcPts val="0"/>
              </a:spcBef>
              <a:spcAft>
                <a:spcPts val="0"/>
              </a:spcAft>
              <a:buNone/>
            </a:pPr>
            <a:r>
              <a:rPr lang="zh-CN"/>
              <a:t>CLM article: supplied Contrastive Language Models PDF, pages 6-8; https://contrastive-lm.notion.site/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decision_lab_model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decision_lab_model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Supported list is the October 2, 2026 release, not an exhaustive list of decision models. Julia and Laya use the same laya-style backend in llama.cpp: ModernBERT-family encoder, two decision transformer layers, type embedding and per-option MASK-marker scorer. Julia's training pipeline and exact freezing policy are not disclosed. Laya's published root architecture fully fine-tunes ModernBERT-large. Kev's small-model recipe trains LoRA and a pointer head. lev conversion supports mode A vocabulary-label readout only, not its mode B candidate-path head. Choice is evaluated in two orders and averaged. OpenJev is an independent project, not TypeSafe's hosted Jev; its card specifies decision tuning but not exactly which components received gradients. OpenJev's llama.cpp build supports a multimodal projector, even though some earlier quantized builds in its author's card are text-only. Do not generalize multilingual Laya subfolder capabilities to the English root checkpoint.</a:t>
            </a:r>
            <a:endParaRPr/>
          </a:p>
          <a:p>
            <a:pPr indent="0" lvl="0" marL="0" rtl="0" algn="l">
              <a:spcBef>
                <a:spcPts val="0"/>
              </a:spcBef>
              <a:spcAft>
                <a:spcPts val="0"/>
              </a:spcAft>
              <a:buNone/>
            </a:pPr>
            <a:r>
              <a:rPr lang="zh-CN"/>
              <a:t>Sources: https://huggingface.co/blog/ggml-org/decision-models-in-llamacpp ; https://github.com/ggml-org/llama.cpp/pull/29818 ; https://huggingface.co/SupersonicLabs/Julia-1 ; https://huggingface.co/convaiinnovations/laya ; https://huggingface.co/interfaze-ai/lev ; https://huggingface.co/openjev/openjev .</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Reference URLs checked October 2, 2026:</a:t>
            </a:r>
            <a:endParaRPr/>
          </a:p>
          <a:p>
            <a:pPr indent="0" lvl="0" marL="0" rtl="0" algn="l">
              <a:spcBef>
                <a:spcPts val="0"/>
              </a:spcBef>
              <a:spcAft>
                <a:spcPts val="0"/>
              </a:spcAft>
              <a:buNone/>
            </a:pPr>
            <a:r>
              <a:rPr lang="zh-CN"/>
              <a:t>https://github.com/jaredpalmer/kev/tree/84847f0a883d900f7de5b7a57eaa341ca7f9a6b4</a:t>
            </a:r>
            <a:endParaRPr/>
          </a:p>
          <a:p>
            <a:pPr indent="0" lvl="0" marL="0" rtl="0" algn="l">
              <a:spcBef>
                <a:spcPts val="0"/>
              </a:spcBef>
              <a:spcAft>
                <a:spcPts val="0"/>
              </a:spcAft>
              <a:buNone/>
            </a:pPr>
            <a:r>
              <a:rPr lang="zh-CN"/>
              <a:t>https://github.com/Contrastive-LM/CLM/tree/bb42c6c5bf914fd449bed2f6ca65be80602cb1f7</a:t>
            </a:r>
            <a:endParaRPr/>
          </a:p>
          <a:p>
            <a:pPr indent="0" lvl="0" marL="0" rtl="0" algn="l">
              <a:spcBef>
                <a:spcPts val="0"/>
              </a:spcBef>
              <a:spcAft>
                <a:spcPts val="0"/>
              </a:spcAft>
              <a:buNone/>
            </a:pPr>
            <a:r>
              <a:rPr lang="zh-CN"/>
              <a:t>https://github.com/Contrastive-LM/CLM/blob/bb42c6c5bf914fd449bed2f6ca65be80602cb1f7/src/clm/heads.py</a:t>
            </a:r>
            <a:endParaRPr/>
          </a:p>
          <a:p>
            <a:pPr indent="0" lvl="0" marL="0" rtl="0" algn="l">
              <a:spcBef>
                <a:spcPts val="0"/>
              </a:spcBef>
              <a:spcAft>
                <a:spcPts val="0"/>
              </a:spcAft>
              <a:buNone/>
            </a:pPr>
            <a:r>
              <a:rPr lang="zh-CN"/>
              <a:t>https://github.com/Contrastive-LM/CLM/blob/bb42c6c5bf914fd449bed2f6ca65be80602cb1f7/train/finetune.py</a:t>
            </a:r>
            <a:endParaRPr/>
          </a:p>
          <a:p>
            <a:pPr indent="0" lvl="0" marL="0" rtl="0" algn="l">
              <a:spcBef>
                <a:spcPts val="0"/>
              </a:spcBef>
              <a:spcAft>
                <a:spcPts val="0"/>
              </a:spcAft>
              <a:buNone/>
            </a:pPr>
            <a:r>
              <a:rPr lang="zh-CN"/>
              <a:t>https://github.com/jaredpalmer/kev/blob/84847f0a883d900f7de5b7a57eaa341ca7f9a6b4/kev/model.py</a:t>
            </a:r>
            <a:endParaRPr/>
          </a:p>
          <a:p>
            <a:pPr indent="0" lvl="0" marL="0" rtl="0" algn="l">
              <a:spcBef>
                <a:spcPts val="0"/>
              </a:spcBef>
              <a:spcAft>
                <a:spcPts val="0"/>
              </a:spcAft>
              <a:buNone/>
            </a:pPr>
            <a:r>
              <a:rPr lang="zh-CN"/>
              <a:t>https://huggingface.co/blog/ggml-org/decision-models-in-llamacpp</a:t>
            </a:r>
            <a:endParaRPr/>
          </a:p>
          <a:p>
            <a:pPr indent="0" lvl="0" marL="0" rtl="0" algn="l">
              <a:spcBef>
                <a:spcPts val="0"/>
              </a:spcBef>
              <a:spcAft>
                <a:spcPts val="0"/>
              </a:spcAft>
              <a:buNone/>
            </a:pPr>
            <a:r>
              <a:rPr lang="zh-CN"/>
              <a:t>https://github.com/ggml-org/llama.cpp/pull/29818</a:t>
            </a:r>
            <a:endParaRPr/>
          </a:p>
          <a:p>
            <a:pPr indent="0" lvl="0" marL="0" rtl="0" algn="l">
              <a:spcBef>
                <a:spcPts val="0"/>
              </a:spcBef>
              <a:spcAft>
                <a:spcPts val="0"/>
              </a:spcAft>
              <a:buNone/>
            </a:pPr>
            <a:r>
              <a:rPr lang="zh-CN"/>
              <a:t>CLM article: supplied Contrastive Language Models PDF, pages 6-8; https://contrastive-lm.notion.site/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decision_lab_cp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decision_lab_cp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The merged llama.cpp PR adds decision type metadata, System One prompt templates, native score readouts and calibrated output formatting. Kev conversion merges alpha/r * B@A into floating-point base weights before later quantization, and embeds the pointer head in the GGUF. Inference weights are therefore adapted even though original matrices were fixed during LoRA training. Laya/Julia output option-marker scores; Kev outputs query/key vectors and dot products; lev/OpenJev read selected vocabulary logits. Causal tasks can share prompt prefixes. Multiple questions and lev's two choice variants can require multiple evaluations: zero output tokens is not one physical forward operation per HTTP request. This endpoint is for inference and does not supply a CLM training pipeline.</a:t>
            </a:r>
            <a:endParaRPr/>
          </a:p>
          <a:p>
            <a:pPr indent="0" lvl="0" marL="0" rtl="0" algn="l">
              <a:spcBef>
                <a:spcPts val="0"/>
              </a:spcBef>
              <a:spcAft>
                <a:spcPts val="0"/>
              </a:spcAft>
              <a:buNone/>
            </a:pPr>
            <a:r>
              <a:rPr lang="zh-CN"/>
              <a:t>Sources: https://github.com/ggml-org/llama.cpp/pull/29818 ; https://github.com/ggml-org/llama.cpp/blob/master/conversion/lev.py ; https://github.com/ggml-org/llama.cpp/blob/master/tools/server/server-decision.cpp .</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Reference URLs checked October 2, 2026:</a:t>
            </a:r>
            <a:endParaRPr/>
          </a:p>
          <a:p>
            <a:pPr indent="0" lvl="0" marL="0" rtl="0" algn="l">
              <a:spcBef>
                <a:spcPts val="0"/>
              </a:spcBef>
              <a:spcAft>
                <a:spcPts val="0"/>
              </a:spcAft>
              <a:buNone/>
            </a:pPr>
            <a:r>
              <a:rPr lang="zh-CN"/>
              <a:t>https://github.com/jaredpalmer/kev/tree/84847f0a883d900f7de5b7a57eaa341ca7f9a6b4</a:t>
            </a:r>
            <a:endParaRPr/>
          </a:p>
          <a:p>
            <a:pPr indent="0" lvl="0" marL="0" rtl="0" algn="l">
              <a:spcBef>
                <a:spcPts val="0"/>
              </a:spcBef>
              <a:spcAft>
                <a:spcPts val="0"/>
              </a:spcAft>
              <a:buNone/>
            </a:pPr>
            <a:r>
              <a:rPr lang="zh-CN"/>
              <a:t>https://github.com/Contrastive-LM/CLM/tree/bb42c6c5bf914fd449bed2f6ca65be80602cb1f7</a:t>
            </a:r>
            <a:endParaRPr/>
          </a:p>
          <a:p>
            <a:pPr indent="0" lvl="0" marL="0" rtl="0" algn="l">
              <a:spcBef>
                <a:spcPts val="0"/>
              </a:spcBef>
              <a:spcAft>
                <a:spcPts val="0"/>
              </a:spcAft>
              <a:buNone/>
            </a:pPr>
            <a:r>
              <a:rPr lang="zh-CN"/>
              <a:t>https://github.com/Contrastive-LM/CLM/blob/bb42c6c5bf914fd449bed2f6ca65be80602cb1f7/src/clm/heads.py</a:t>
            </a:r>
            <a:endParaRPr/>
          </a:p>
          <a:p>
            <a:pPr indent="0" lvl="0" marL="0" rtl="0" algn="l">
              <a:spcBef>
                <a:spcPts val="0"/>
              </a:spcBef>
              <a:spcAft>
                <a:spcPts val="0"/>
              </a:spcAft>
              <a:buNone/>
            </a:pPr>
            <a:r>
              <a:rPr lang="zh-CN"/>
              <a:t>https://github.com/Contrastive-LM/CLM/blob/bb42c6c5bf914fd449bed2f6ca65be80602cb1f7/train/finetune.py</a:t>
            </a:r>
            <a:endParaRPr/>
          </a:p>
          <a:p>
            <a:pPr indent="0" lvl="0" marL="0" rtl="0" algn="l">
              <a:spcBef>
                <a:spcPts val="0"/>
              </a:spcBef>
              <a:spcAft>
                <a:spcPts val="0"/>
              </a:spcAft>
              <a:buNone/>
            </a:pPr>
            <a:r>
              <a:rPr lang="zh-CN"/>
              <a:t>https://github.com/jaredpalmer/kev/blob/84847f0a883d900f7de5b7a57eaa341ca7f9a6b4/kev/model.py</a:t>
            </a:r>
            <a:endParaRPr/>
          </a:p>
          <a:p>
            <a:pPr indent="0" lvl="0" marL="0" rtl="0" algn="l">
              <a:spcBef>
                <a:spcPts val="0"/>
              </a:spcBef>
              <a:spcAft>
                <a:spcPts val="0"/>
              </a:spcAft>
              <a:buNone/>
            </a:pPr>
            <a:r>
              <a:rPr lang="zh-CN"/>
              <a:t>https://huggingface.co/blog/ggml-org/decision-models-in-llamacpp</a:t>
            </a:r>
            <a:endParaRPr/>
          </a:p>
          <a:p>
            <a:pPr indent="0" lvl="0" marL="0" rtl="0" algn="l">
              <a:spcBef>
                <a:spcPts val="0"/>
              </a:spcBef>
              <a:spcAft>
                <a:spcPts val="0"/>
              </a:spcAft>
              <a:buNone/>
            </a:pPr>
            <a:r>
              <a:rPr lang="zh-CN"/>
              <a:t>https://github.com/ggml-org/llama.cpp/pull/29818</a:t>
            </a:r>
            <a:endParaRPr/>
          </a:p>
          <a:p>
            <a:pPr indent="0" lvl="0" marL="0" rtl="0" algn="l">
              <a:spcBef>
                <a:spcPts val="0"/>
              </a:spcBef>
              <a:spcAft>
                <a:spcPts val="0"/>
              </a:spcAft>
              <a:buNone/>
            </a:pPr>
            <a:r>
              <a:rPr lang="zh-CN"/>
              <a:t>CLM article: supplied Contrastive Language Models PDF, pages 6-8; https://contrastive-lm.notion.site/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decision_lab_sglang: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decision_lab_sglang: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Status checked October 2, 2026. The shipped generic API requires no new decision head: chat-template prompts with thinking disabled score single-token answer labels via the shared /v1/score path. PR #41208 merged September 25; the earlier #40992 was closed into that stack. One prompt is built per question and items are batched. The generation/scoring request uses max_new_tokens=0. Ordinary Radix caching reuses token prefixes rather than separately encoded actions. Benefit: reuse a served chat model with no head training. Costs: each new state/question still needs prompt encoding and prefill, and the documentation's validated models are large. Models named on slide were validated on one H200 in BF16; this is not proof of free-GPU fit or a head-to-head latency benchmark. Label softmax is conditional on offered labels; label_mass/x_label_mass exposes full-vocabulary mass, and confidence needs task calibration. Hybrid-attention probabilities may shift across cold/warm cache and batch composition. LoRA adapter selection through the request is refused. Native Intern-Decision 0.8B/2B/4B option-marker support in #41712 (2B unverified; prerequisite #41724), and generic image input in #41922, are open proposals, not merged capabilities. Native Kev pointer-head and CLM projection-head support is not established by these docs.</a:t>
            </a:r>
            <a:endParaRPr/>
          </a:p>
          <a:p>
            <a:pPr indent="0" lvl="0" marL="0" rtl="0" algn="l">
              <a:spcBef>
                <a:spcPts val="0"/>
              </a:spcBef>
              <a:spcAft>
                <a:spcPts val="0"/>
              </a:spcAft>
              <a:buNone/>
            </a:pPr>
            <a:r>
              <a:rPr lang="zh-CN"/>
              <a:t>Sources: https://lmsysorg.mintlify.app/docs/supported-models/decision_models ; https://github.com/sgl-project/sglang/pull/41208 ; https://github.com/sgl-project/sglang/pull/41712 ; https://github.com/sgl-project/sglang/pull/41724 ; https://github.com/sgl-project/sglang/pull/41922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decision_lab_benchmark: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decision_lab_benchmark: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A product comparison can compare actual released checkpoints, but its result combines backbone size, pretraining, decision data, objective, head and runtime. An architecture experiment should match the pretrained backbone, input budget, examples, splits, training budget and hardware, and vary joint pointer/LoRA versus frozen dual-encoder heads deliberately. Include a rule-based teacher baseline. Record encoder time separately from projection/scoring and end-to-end latency; use p50/p95 over enough repeats, cache-cold and action-cache-warm runs, identical quantization where meaningful, peak allocated memory, hardware model and checkpoint IDs. A smaller Kev may cost less at inference despite CLM's reusable actions. This is a proposed protocol, not measured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Reference URLs checked October 2, 2026:</a:t>
            </a:r>
            <a:endParaRPr/>
          </a:p>
          <a:p>
            <a:pPr indent="0" lvl="0" marL="0" rtl="0" algn="l">
              <a:spcBef>
                <a:spcPts val="0"/>
              </a:spcBef>
              <a:spcAft>
                <a:spcPts val="0"/>
              </a:spcAft>
              <a:buNone/>
            </a:pPr>
            <a:r>
              <a:rPr lang="zh-CN"/>
              <a:t>https://github.com/jaredpalmer/kev/tree/84847f0a883d900f7de5b7a57eaa341ca7f9a6b4</a:t>
            </a:r>
            <a:endParaRPr/>
          </a:p>
          <a:p>
            <a:pPr indent="0" lvl="0" marL="0" rtl="0" algn="l">
              <a:spcBef>
                <a:spcPts val="0"/>
              </a:spcBef>
              <a:spcAft>
                <a:spcPts val="0"/>
              </a:spcAft>
              <a:buNone/>
            </a:pPr>
            <a:r>
              <a:rPr lang="zh-CN"/>
              <a:t>https://github.com/Contrastive-LM/CLM/tree/bb42c6c5bf914fd449bed2f6ca65be80602cb1f7</a:t>
            </a:r>
            <a:endParaRPr/>
          </a:p>
          <a:p>
            <a:pPr indent="0" lvl="0" marL="0" rtl="0" algn="l">
              <a:spcBef>
                <a:spcPts val="0"/>
              </a:spcBef>
              <a:spcAft>
                <a:spcPts val="0"/>
              </a:spcAft>
              <a:buNone/>
            </a:pPr>
            <a:r>
              <a:rPr lang="zh-CN"/>
              <a:t>https://github.com/Contrastive-LM/CLM/blob/bb42c6c5bf914fd449bed2f6ca65be80602cb1f7/src/clm/heads.py</a:t>
            </a:r>
            <a:endParaRPr/>
          </a:p>
          <a:p>
            <a:pPr indent="0" lvl="0" marL="0" rtl="0" algn="l">
              <a:spcBef>
                <a:spcPts val="0"/>
              </a:spcBef>
              <a:spcAft>
                <a:spcPts val="0"/>
              </a:spcAft>
              <a:buNone/>
            </a:pPr>
            <a:r>
              <a:rPr lang="zh-CN"/>
              <a:t>https://github.com/Contrastive-LM/CLM/blob/bb42c6c5bf914fd449bed2f6ca65be80602cb1f7/train/finetune.py</a:t>
            </a:r>
            <a:endParaRPr/>
          </a:p>
          <a:p>
            <a:pPr indent="0" lvl="0" marL="0" rtl="0" algn="l">
              <a:spcBef>
                <a:spcPts val="0"/>
              </a:spcBef>
              <a:spcAft>
                <a:spcPts val="0"/>
              </a:spcAft>
              <a:buNone/>
            </a:pPr>
            <a:r>
              <a:rPr lang="zh-CN"/>
              <a:t>https://github.com/jaredpalmer/kev/blob/84847f0a883d900f7de5b7a57eaa341ca7f9a6b4/kev/model.py</a:t>
            </a:r>
            <a:endParaRPr/>
          </a:p>
          <a:p>
            <a:pPr indent="0" lvl="0" marL="0" rtl="0" algn="l">
              <a:spcBef>
                <a:spcPts val="0"/>
              </a:spcBef>
              <a:spcAft>
                <a:spcPts val="0"/>
              </a:spcAft>
              <a:buNone/>
            </a:pPr>
            <a:r>
              <a:rPr lang="zh-CN"/>
              <a:t>https://huggingface.co/blog/ggml-org/decision-models-in-llamacpp</a:t>
            </a:r>
            <a:endParaRPr/>
          </a:p>
          <a:p>
            <a:pPr indent="0" lvl="0" marL="0" rtl="0" algn="l">
              <a:spcBef>
                <a:spcPts val="0"/>
              </a:spcBef>
              <a:spcAft>
                <a:spcPts val="0"/>
              </a:spcAft>
              <a:buNone/>
            </a:pPr>
            <a:r>
              <a:rPr lang="zh-CN"/>
              <a:t>https://github.com/ggml-org/llama.cpp/pull/29818</a:t>
            </a:r>
            <a:endParaRPr/>
          </a:p>
          <a:p>
            <a:pPr indent="0" lvl="0" marL="0" rtl="0" algn="l">
              <a:spcBef>
                <a:spcPts val="0"/>
              </a:spcBef>
              <a:spcAft>
                <a:spcPts val="0"/>
              </a:spcAft>
              <a:buNone/>
            </a:pPr>
            <a:r>
              <a:rPr lang="zh-CN"/>
              <a:t>CLM article: supplied Contrastive Language Models PDF, pages 6-8; https://contrastive-lm.notion.site/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kev_lab_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kev_lab_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The main lab uses Qwen/Qwen3.5-4B-Base@1001bb4d826a52d1f399e183466143f4da7b741b, fresh rank-16 LoRA (alpha 32) targeting all projections and a 256-dimensional pointer head. Follow the four general training stages in Kev-4B's released curriculum, each in a separate notebook cell and checkpoint. Stage 5 warm-starts the learner's skills checkpoint for Pac-Man imitation. The original base matrices remain fixed while LoRA changes effective features. Calibration is separate and is not fitted or copied from the release. A 0.8B adapter cannot initialize the 4B model. Sources: https://huggingface.co/jaredpalmer/kev-4b ; https://github.com/jaredpalmer/kev/blob/84847f0a883d900f7de5b7a57eaa341ca7f9a6b4/experiments/q35-4b-s23.json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kev_lab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kev_lab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Installation, optimized-kernel verification, downloads and all four general decision stages are prework. Keep 90 minutes in class with a mandatory 30-minute Pac-Man fine-tuning block: inspect for 5 minutes, train within a 20-minute attempt cap, inspect/save for 5 minutes. These are scheduling budgets, not measured training durations. Check the separate initial, dates, documents and skills configurations and TensorBoard curves. Source: https://github.com/yxc20089/QPlusLearning/tree/main/labs/lab-01-kev-pacman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kev_lab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kev_lab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Kev-4B retains a hybrid Gated DeltaNet/full-attention backbone. Install hash-pinned flash-linear-attention/fla-core 0.5.2, causal-conv1d 1.7.0 (cp313, Torch 2.8, CUDA 12, Linux x86_64 CXX11 ABI), einops 0.8.1 and Ninja 1.13.0 without replacing Kev's frozen Torch 2.8.0/CUDA 12.8, Triton 3.4.0, Transformers 5.17.0 and PEFT stack. Require BF16 and verify actual loss/backward/LoRA-head gradients plus fused AdamW on two suite records. Reference-kernel fallback fails the check. This checks compatibility rather than full-stage memory or timing. Default execution: batch 1 × accumulation 8, non-reentrant checkpointing, row_budget 2048; full attention uses SDPA. Inference-only Kev fusion/CUDA graphs remain disabled for training. The course has no completed GPU run of this 4B setup. Colab allocation varies, including on paid plans; arrange access and measure compute-unit cost. T4/P100 do not satisfy this optimized training contract. Sources: https://huggingface.co/docs/transformers/en/model_doc/qwen3_5 ; https://github.com/fla-org/flash-linear-attention/releases/tag/v0.5.2 ; https://github.com/Dao-AILab/causal-conv1d/releases/tag/v1.7.0 ; https://research.google.com/colaboratory/faq.html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kev_lab_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kev_lab_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Keep the established player/ghost role. Existing community adaptation has one 13-by-15 maze, two deterministic ghosts and no power pellets. Ghosts move after every second player move. The simulation waits for inference, so wall-clock survival confounds latency with skill. No screenshot encoder or ROM is used in this lab.</a:t>
            </a:r>
            <a:endParaRPr/>
          </a:p>
          <a:p>
            <a:pPr indent="0" lvl="0" marL="0" rtl="0" algn="l">
              <a:spcBef>
                <a:spcPts val="0"/>
              </a:spcBef>
              <a:spcAft>
                <a:spcPts val="0"/>
              </a:spcAft>
              <a:buNone/>
            </a:pPr>
            <a:r>
              <a:rPr lang="zh-CN"/>
              <a:t>Source: https://github.com/codaaiteam/jev-pacman/tree/8446fe74690cd61909bda91acfadbccb0f02b422 ; lab/pacman_lab.py.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Reference URLs checked October 2, 2026:</a:t>
            </a:r>
            <a:endParaRPr/>
          </a:p>
          <a:p>
            <a:pPr indent="0" lvl="0" marL="0" rtl="0" algn="l">
              <a:spcBef>
                <a:spcPts val="0"/>
              </a:spcBef>
              <a:spcAft>
                <a:spcPts val="0"/>
              </a:spcAft>
              <a:buNone/>
            </a:pPr>
            <a:r>
              <a:rPr lang="zh-CN"/>
              <a:t>https://github.com/jaredpalmer/kev/tree/84847f0a883d900f7de5b7a57eaa341ca7f9a6b4</a:t>
            </a:r>
            <a:endParaRPr/>
          </a:p>
          <a:p>
            <a:pPr indent="0" lvl="0" marL="0" rtl="0" algn="l">
              <a:spcBef>
                <a:spcPts val="0"/>
              </a:spcBef>
              <a:spcAft>
                <a:spcPts val="0"/>
              </a:spcAft>
              <a:buNone/>
            </a:pPr>
            <a:r>
              <a:rPr lang="zh-CN"/>
              <a:t>https://github.com/Contrastive-LM/CLM/tree/bb42c6c5bf914fd449bed2f6ca65be80602cb1f7</a:t>
            </a:r>
            <a:endParaRPr/>
          </a:p>
          <a:p>
            <a:pPr indent="0" lvl="0" marL="0" rtl="0" algn="l">
              <a:spcBef>
                <a:spcPts val="0"/>
              </a:spcBef>
              <a:spcAft>
                <a:spcPts val="0"/>
              </a:spcAft>
              <a:buNone/>
            </a:pPr>
            <a:r>
              <a:rPr lang="zh-CN"/>
              <a:t>https://github.com/Contrastive-LM/CLM/blob/bb42c6c5bf914fd449bed2f6ca65be80602cb1f7/src/clm/heads.py</a:t>
            </a:r>
            <a:endParaRPr/>
          </a:p>
          <a:p>
            <a:pPr indent="0" lvl="0" marL="0" rtl="0" algn="l">
              <a:spcBef>
                <a:spcPts val="0"/>
              </a:spcBef>
              <a:spcAft>
                <a:spcPts val="0"/>
              </a:spcAft>
              <a:buNone/>
            </a:pPr>
            <a:r>
              <a:rPr lang="zh-CN"/>
              <a:t>https://github.com/Contrastive-LM/CLM/blob/bb42c6c5bf914fd449bed2f6ca65be80602cb1f7/train/finetune.py</a:t>
            </a:r>
            <a:endParaRPr/>
          </a:p>
          <a:p>
            <a:pPr indent="0" lvl="0" marL="0" rtl="0" algn="l">
              <a:spcBef>
                <a:spcPts val="0"/>
              </a:spcBef>
              <a:spcAft>
                <a:spcPts val="0"/>
              </a:spcAft>
              <a:buNone/>
            </a:pPr>
            <a:r>
              <a:rPr lang="zh-CN"/>
              <a:t>https://github.com/jaredpalmer/kev/blob/84847f0a883d900f7de5b7a57eaa341ca7f9a6b4/kev/model.py</a:t>
            </a:r>
            <a:endParaRPr/>
          </a:p>
          <a:p>
            <a:pPr indent="0" lvl="0" marL="0" rtl="0" algn="l">
              <a:spcBef>
                <a:spcPts val="0"/>
              </a:spcBef>
              <a:spcAft>
                <a:spcPts val="0"/>
              </a:spcAft>
              <a:buNone/>
            </a:pPr>
            <a:r>
              <a:rPr lang="zh-CN"/>
              <a:t>https://huggingface.co/blog/ggml-org/decision-models-in-llamacpp</a:t>
            </a:r>
            <a:endParaRPr/>
          </a:p>
          <a:p>
            <a:pPr indent="0" lvl="0" marL="0" rtl="0" algn="l">
              <a:spcBef>
                <a:spcPts val="0"/>
              </a:spcBef>
              <a:spcAft>
                <a:spcPts val="0"/>
              </a:spcAft>
              <a:buNone/>
            </a:pPr>
            <a:r>
              <a:rPr lang="zh-CN"/>
              <a:t>https://github.com/ggml-org/llama.cpp/pull/29818</a:t>
            </a:r>
            <a:endParaRPr/>
          </a:p>
          <a:p>
            <a:pPr indent="0" lvl="0" marL="0" rtl="0" algn="l">
              <a:spcBef>
                <a:spcPts val="0"/>
              </a:spcBef>
              <a:spcAft>
                <a:spcPts val="0"/>
              </a:spcAft>
              <a:buNone/>
            </a:pPr>
            <a:r>
              <a:rPr lang="zh-CN"/>
              <a:t>CLM article: supplied Contrastive Language Models PDF, pages 6-8; https://contrastive-lm.notion.site/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kev_lab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kev_lab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The game constructs caller-supplied criteria containing legal directions and their destination tiles. Kev jointly encodes state, question and options. Its head has query/key Linear projections from hidden_size to 256 and computes scaled dot products, then softmax over options. Hybrid Qwen3.5 handles each question as a causal row continuing from the shared state. This is contextual option scoring, unlike CLM's independent action encodings. Legal directions come from the maze rules. Probability reflects the offered options and is not a maze-clearing probability. The notebook serves the learner's initial checkpoint through /v1/systemone and connects the game via a Colab callback.</a:t>
            </a:r>
            <a:endParaRPr/>
          </a:p>
          <a:p>
            <a:pPr indent="0" lvl="0" marL="0" rtl="0" algn="l">
              <a:spcBef>
                <a:spcPts val="0"/>
              </a:spcBef>
              <a:spcAft>
                <a:spcPts val="0"/>
              </a:spcAft>
              <a:buNone/>
            </a:pPr>
            <a:r>
              <a:rPr lang="zh-CN"/>
              <a:t>Sources: pinned Kev model.py PointerHead, rows_of and encode; lab/pacman_lab.py.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Reference URLs checked October 2, 2026:</a:t>
            </a:r>
            <a:endParaRPr/>
          </a:p>
          <a:p>
            <a:pPr indent="0" lvl="0" marL="0" rtl="0" algn="l">
              <a:spcBef>
                <a:spcPts val="0"/>
              </a:spcBef>
              <a:spcAft>
                <a:spcPts val="0"/>
              </a:spcAft>
              <a:buNone/>
            </a:pPr>
            <a:r>
              <a:rPr lang="zh-CN"/>
              <a:t>https://github.com/jaredpalmer/kev/tree/84847f0a883d900f7de5b7a57eaa341ca7f9a6b4</a:t>
            </a:r>
            <a:endParaRPr/>
          </a:p>
          <a:p>
            <a:pPr indent="0" lvl="0" marL="0" rtl="0" algn="l">
              <a:spcBef>
                <a:spcPts val="0"/>
              </a:spcBef>
              <a:spcAft>
                <a:spcPts val="0"/>
              </a:spcAft>
              <a:buNone/>
            </a:pPr>
            <a:r>
              <a:rPr lang="zh-CN"/>
              <a:t>https://github.com/Contrastive-LM/CLM/tree/bb42c6c5bf914fd449bed2f6ca65be80602cb1f7</a:t>
            </a:r>
            <a:endParaRPr/>
          </a:p>
          <a:p>
            <a:pPr indent="0" lvl="0" marL="0" rtl="0" algn="l">
              <a:spcBef>
                <a:spcPts val="0"/>
              </a:spcBef>
              <a:spcAft>
                <a:spcPts val="0"/>
              </a:spcAft>
              <a:buNone/>
            </a:pPr>
            <a:r>
              <a:rPr lang="zh-CN"/>
              <a:t>https://github.com/Contrastive-LM/CLM/blob/bb42c6c5bf914fd449bed2f6ca65be80602cb1f7/src/clm/heads.py</a:t>
            </a:r>
            <a:endParaRPr/>
          </a:p>
          <a:p>
            <a:pPr indent="0" lvl="0" marL="0" rtl="0" algn="l">
              <a:spcBef>
                <a:spcPts val="0"/>
              </a:spcBef>
              <a:spcAft>
                <a:spcPts val="0"/>
              </a:spcAft>
              <a:buNone/>
            </a:pPr>
            <a:r>
              <a:rPr lang="zh-CN"/>
              <a:t>https://github.com/Contrastive-LM/CLM/blob/bb42c6c5bf914fd449bed2f6ca65be80602cb1f7/train/finetune.py</a:t>
            </a:r>
            <a:endParaRPr/>
          </a:p>
          <a:p>
            <a:pPr indent="0" lvl="0" marL="0" rtl="0" algn="l">
              <a:spcBef>
                <a:spcPts val="0"/>
              </a:spcBef>
              <a:spcAft>
                <a:spcPts val="0"/>
              </a:spcAft>
              <a:buNone/>
            </a:pPr>
            <a:r>
              <a:rPr lang="zh-CN"/>
              <a:t>https://github.com/jaredpalmer/kev/blob/84847f0a883d900f7de5b7a57eaa341ca7f9a6b4/kev/model.py</a:t>
            </a:r>
            <a:endParaRPr/>
          </a:p>
          <a:p>
            <a:pPr indent="0" lvl="0" marL="0" rtl="0" algn="l">
              <a:spcBef>
                <a:spcPts val="0"/>
              </a:spcBef>
              <a:spcAft>
                <a:spcPts val="0"/>
              </a:spcAft>
              <a:buNone/>
            </a:pPr>
            <a:r>
              <a:rPr lang="zh-CN"/>
              <a:t>https://huggingface.co/blog/ggml-org/decision-models-in-llamacpp</a:t>
            </a:r>
            <a:endParaRPr/>
          </a:p>
          <a:p>
            <a:pPr indent="0" lvl="0" marL="0" rtl="0" algn="l">
              <a:spcBef>
                <a:spcPts val="0"/>
              </a:spcBef>
              <a:spcAft>
                <a:spcPts val="0"/>
              </a:spcAft>
              <a:buNone/>
            </a:pPr>
            <a:r>
              <a:rPr lang="zh-CN"/>
              <a:t>https://github.com/ggml-org/llama.cpp/pull/29818</a:t>
            </a:r>
            <a:endParaRPr/>
          </a:p>
          <a:p>
            <a:pPr indent="0" lvl="0" marL="0" rtl="0" algn="l">
              <a:spcBef>
                <a:spcPts val="0"/>
              </a:spcBef>
              <a:spcAft>
                <a:spcPts val="0"/>
              </a:spcAft>
              <a:buNone/>
            </a:pPr>
            <a:r>
              <a:rPr lang="zh-CN"/>
              <a:t>CLM article: supplied Contrastive Language Models PDF, pages 6-8; https://contrastive-lm.notion.site/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kev_lab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kev_lab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Temperature and confidence formulas differ across wrappers, even behind System One-compatible APIs. Fit or evaluate calibration on development data, preserve it for evaluation, and compare Brier or log loss rather than assuming one shared confidence cutoff is meaningful. A one-step teacher label is not a full-game reward target. Keep learner uncertainty discussion tied to observed paired decisions, not a guarantee of safety or optimal play.</a:t>
            </a:r>
            <a:endParaRPr/>
          </a:p>
          <a:p>
            <a:pPr indent="0" lvl="0" marL="0" rtl="0" algn="l">
              <a:spcBef>
                <a:spcPts val="0"/>
              </a:spcBef>
              <a:spcAft>
                <a:spcPts val="0"/>
              </a:spcAft>
              <a:buNone/>
            </a:pPr>
            <a:r>
              <a:rPr lang="zh-CN"/>
              <a:t>Sources: pinned Kev api.py; pinned CLM schema.py; llama.cpp tools/server/server-decision.cpp.</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Reference URLs checked October 2, 2026:</a:t>
            </a:r>
            <a:endParaRPr/>
          </a:p>
          <a:p>
            <a:pPr indent="0" lvl="0" marL="0" rtl="0" algn="l">
              <a:spcBef>
                <a:spcPts val="0"/>
              </a:spcBef>
              <a:spcAft>
                <a:spcPts val="0"/>
              </a:spcAft>
              <a:buNone/>
            </a:pPr>
            <a:r>
              <a:rPr lang="zh-CN"/>
              <a:t>https://github.com/jaredpalmer/kev/tree/84847f0a883d900f7de5b7a57eaa341ca7f9a6b4</a:t>
            </a:r>
            <a:endParaRPr/>
          </a:p>
          <a:p>
            <a:pPr indent="0" lvl="0" marL="0" rtl="0" algn="l">
              <a:spcBef>
                <a:spcPts val="0"/>
              </a:spcBef>
              <a:spcAft>
                <a:spcPts val="0"/>
              </a:spcAft>
              <a:buNone/>
            </a:pPr>
            <a:r>
              <a:rPr lang="zh-CN"/>
              <a:t>https://github.com/Contrastive-LM/CLM/tree/bb42c6c5bf914fd449bed2f6ca65be80602cb1f7</a:t>
            </a:r>
            <a:endParaRPr/>
          </a:p>
          <a:p>
            <a:pPr indent="0" lvl="0" marL="0" rtl="0" algn="l">
              <a:spcBef>
                <a:spcPts val="0"/>
              </a:spcBef>
              <a:spcAft>
                <a:spcPts val="0"/>
              </a:spcAft>
              <a:buNone/>
            </a:pPr>
            <a:r>
              <a:rPr lang="zh-CN"/>
              <a:t>https://github.com/Contrastive-LM/CLM/blob/bb42c6c5bf914fd449bed2f6ca65be80602cb1f7/src/clm/heads.py</a:t>
            </a:r>
            <a:endParaRPr/>
          </a:p>
          <a:p>
            <a:pPr indent="0" lvl="0" marL="0" rtl="0" algn="l">
              <a:spcBef>
                <a:spcPts val="0"/>
              </a:spcBef>
              <a:spcAft>
                <a:spcPts val="0"/>
              </a:spcAft>
              <a:buNone/>
            </a:pPr>
            <a:r>
              <a:rPr lang="zh-CN"/>
              <a:t>https://github.com/Contrastive-LM/CLM/blob/bb42c6c5bf914fd449bed2f6ca65be80602cb1f7/train/finetune.py</a:t>
            </a:r>
            <a:endParaRPr/>
          </a:p>
          <a:p>
            <a:pPr indent="0" lvl="0" marL="0" rtl="0" algn="l">
              <a:spcBef>
                <a:spcPts val="0"/>
              </a:spcBef>
              <a:spcAft>
                <a:spcPts val="0"/>
              </a:spcAft>
              <a:buNone/>
            </a:pPr>
            <a:r>
              <a:rPr lang="zh-CN"/>
              <a:t>https://github.com/jaredpalmer/kev/blob/84847f0a883d900f7de5b7a57eaa341ca7f9a6b4/kev/model.py</a:t>
            </a:r>
            <a:endParaRPr/>
          </a:p>
          <a:p>
            <a:pPr indent="0" lvl="0" marL="0" rtl="0" algn="l">
              <a:spcBef>
                <a:spcPts val="0"/>
              </a:spcBef>
              <a:spcAft>
                <a:spcPts val="0"/>
              </a:spcAft>
              <a:buNone/>
            </a:pPr>
            <a:r>
              <a:rPr lang="zh-CN"/>
              <a:t>https://huggingface.co/blog/ggml-org/decision-models-in-llamacpp</a:t>
            </a:r>
            <a:endParaRPr/>
          </a:p>
          <a:p>
            <a:pPr indent="0" lvl="0" marL="0" rtl="0" algn="l">
              <a:spcBef>
                <a:spcPts val="0"/>
              </a:spcBef>
              <a:spcAft>
                <a:spcPts val="0"/>
              </a:spcAft>
              <a:buNone/>
            </a:pPr>
            <a:r>
              <a:rPr lang="zh-CN"/>
              <a:t>https://github.com/ggml-org/llama.cpp/pull/29818</a:t>
            </a:r>
            <a:endParaRPr/>
          </a:p>
          <a:p>
            <a:pPr indent="0" lvl="0" marL="0" rtl="0" algn="l">
              <a:spcBef>
                <a:spcPts val="0"/>
              </a:spcBef>
              <a:spcAft>
                <a:spcPts val="0"/>
              </a:spcAft>
              <a:buNone/>
            </a:pPr>
            <a:r>
              <a:rPr lang="zh-CN"/>
              <a:t>CLM article: supplied Contrastive Language Models PDF, pages 6-8; https://contrastive-lm.notion.site/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kev_lab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kev_lab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The existing reproducible dataset is retained: immediate safety, shortest paths to dots, ghost separation and a fixed direction tie order. It is heuristic imitation on one maze, not optimal actions or human recordings. Position groups are disjoint across splits. Kev adaptation uses labelled System One JSONL with each structured state, movement question, legal criteria and correct direction. Learners can replace teacher labels only in the training partition. Do not leak labels or metadata into observations, and do not tune on the 16 evaluation boards.</a:t>
            </a:r>
            <a:endParaRPr/>
          </a:p>
          <a:p>
            <a:pPr indent="0" lvl="0" marL="0" rtl="0" algn="l">
              <a:spcBef>
                <a:spcPts val="0"/>
              </a:spcBef>
              <a:spcAft>
                <a:spcPts val="0"/>
              </a:spcAft>
              <a:buNone/>
            </a:pPr>
            <a:r>
              <a:rPr lang="zh-CN"/>
              <a:t>Source: lab/pacman_lab.py and lab/data/pacman-manifest.json.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Reference URLs checked October 2, 2026:</a:t>
            </a:r>
            <a:endParaRPr/>
          </a:p>
          <a:p>
            <a:pPr indent="0" lvl="0" marL="0" rtl="0" algn="l">
              <a:spcBef>
                <a:spcPts val="0"/>
              </a:spcBef>
              <a:spcAft>
                <a:spcPts val="0"/>
              </a:spcAft>
              <a:buNone/>
            </a:pPr>
            <a:r>
              <a:rPr lang="zh-CN"/>
              <a:t>https://github.com/jaredpalmer/kev/tree/84847f0a883d900f7de5b7a57eaa341ca7f9a6b4</a:t>
            </a:r>
            <a:endParaRPr/>
          </a:p>
          <a:p>
            <a:pPr indent="0" lvl="0" marL="0" rtl="0" algn="l">
              <a:spcBef>
                <a:spcPts val="0"/>
              </a:spcBef>
              <a:spcAft>
                <a:spcPts val="0"/>
              </a:spcAft>
              <a:buNone/>
            </a:pPr>
            <a:r>
              <a:rPr lang="zh-CN"/>
              <a:t>https://github.com/Contrastive-LM/CLM/tree/bb42c6c5bf914fd449bed2f6ca65be80602cb1f7</a:t>
            </a:r>
            <a:endParaRPr/>
          </a:p>
          <a:p>
            <a:pPr indent="0" lvl="0" marL="0" rtl="0" algn="l">
              <a:spcBef>
                <a:spcPts val="0"/>
              </a:spcBef>
              <a:spcAft>
                <a:spcPts val="0"/>
              </a:spcAft>
              <a:buNone/>
            </a:pPr>
            <a:r>
              <a:rPr lang="zh-CN"/>
              <a:t>https://github.com/Contrastive-LM/CLM/blob/bb42c6c5bf914fd449bed2f6ca65be80602cb1f7/src/clm/heads.py</a:t>
            </a:r>
            <a:endParaRPr/>
          </a:p>
          <a:p>
            <a:pPr indent="0" lvl="0" marL="0" rtl="0" algn="l">
              <a:spcBef>
                <a:spcPts val="0"/>
              </a:spcBef>
              <a:spcAft>
                <a:spcPts val="0"/>
              </a:spcAft>
              <a:buNone/>
            </a:pPr>
            <a:r>
              <a:rPr lang="zh-CN"/>
              <a:t>https://github.com/Contrastive-LM/CLM/blob/bb42c6c5bf914fd449bed2f6ca65be80602cb1f7/train/finetune.py</a:t>
            </a:r>
            <a:endParaRPr/>
          </a:p>
          <a:p>
            <a:pPr indent="0" lvl="0" marL="0" rtl="0" algn="l">
              <a:spcBef>
                <a:spcPts val="0"/>
              </a:spcBef>
              <a:spcAft>
                <a:spcPts val="0"/>
              </a:spcAft>
              <a:buNone/>
            </a:pPr>
            <a:r>
              <a:rPr lang="zh-CN"/>
              <a:t>https://github.com/jaredpalmer/kev/blob/84847f0a883d900f7de5b7a57eaa341ca7f9a6b4/kev/model.py</a:t>
            </a:r>
            <a:endParaRPr/>
          </a:p>
          <a:p>
            <a:pPr indent="0" lvl="0" marL="0" rtl="0" algn="l">
              <a:spcBef>
                <a:spcPts val="0"/>
              </a:spcBef>
              <a:spcAft>
                <a:spcPts val="0"/>
              </a:spcAft>
              <a:buNone/>
            </a:pPr>
            <a:r>
              <a:rPr lang="zh-CN"/>
              <a:t>https://huggingface.co/blog/ggml-org/decision-models-in-llamacpp</a:t>
            </a:r>
            <a:endParaRPr/>
          </a:p>
          <a:p>
            <a:pPr indent="0" lvl="0" marL="0" rtl="0" algn="l">
              <a:spcBef>
                <a:spcPts val="0"/>
              </a:spcBef>
              <a:spcAft>
                <a:spcPts val="0"/>
              </a:spcAft>
              <a:buNone/>
            </a:pPr>
            <a:r>
              <a:rPr lang="zh-CN"/>
              <a:t>https://github.com/ggml-org/llama.cpp/pull/29818</a:t>
            </a:r>
            <a:endParaRPr/>
          </a:p>
          <a:p>
            <a:pPr indent="0" lvl="0" marL="0" rtl="0" algn="l">
              <a:spcBef>
                <a:spcPts val="0"/>
              </a:spcBef>
              <a:spcAft>
                <a:spcPts val="0"/>
              </a:spcAft>
              <a:buNone/>
            </a:pPr>
            <a:r>
              <a:rPr lang="zh-CN"/>
              <a:t>CLM article: supplied Contrastive Language Models PDF, pages 6-8; https://contrastive-lm.notion.site/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kev_lab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kev_lab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Stage 1 selects seed 2 in experiments/q35-4b-s23.json: 12,576 source records, two epochs, lr 5e-5, batch 4 × accumulation 2, checkpointing, BF16 autocast over FP32 parameters, rank 16/alpha 32, head 256; no init_from. Stage 2: dates/missing evidence, 1,425 new + 2,000 replay, one epoch, lr 2e-5, batch 4 × accumulation 2, seed 1. Stage 3: documents-v1 train, 5,219 new + 2,000 replay, one epoch, lr 2e-5, batch 2 × accumulation 4, max_state 7552, seed 2. Stage 4: hard-v1 train (6,000) + devtools-v1 train (5,320) with 4,000 replay, one epoch, lr 2e-5, batch 2 × accumulation 4, max_state 7552, seed 1. Expected steps: 3144, 429, 903, 1915. All general stages preserve option/none/distractor augmentation and p_none_pair=.25. Default lab execution uses batch 1 × accumulation 8, checkpointing and row_budget 2048: same effective batch/curriculum/schedule, different grouping/dropout and kernel numerics. The skills concatenation uses verified public partitions and a course checksum; byte identity to the historical round10 joint file is not asserted. Replay uses decision-v7 train only. General attempt caps are configurable 180 minutes, not predictions. Stage 5: 64 Pac-Man train boards, two epochs, lr 2e-5, batch 1 × accumulation 8, 16 steps, no none/distractor insertion, retained option shuffling. All five output directories and backups remain separate. Sources: https://github.com/jaredpalmer/kev/blob/84847f0a883d900f7de5b7a57eaa341ca7f9a6b4/experiments/q35-4b-s23.json ; https://github.com/jaredpalmer/kev/blob/84847f0a883d900f7de5b7a57eaa341ca7f9a6b4/experiments/night2-4b-du.json ; https://huggingface.co/jaredpalmer/kev-4b/blob/957b91e762e883935830246eeb02381f9d2694b6/training_config.json ; https://huggingface.co/jaredpalmer/kev-4b/blob/6cfce5c2fa4b4bd64026336ab649c5ca78857d52/training_config.json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kev_lab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kev_lab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Warm-start the learner's Stage 4 skills/devtools checkpoint with init_from, then use reviewed Pac-Man training JSONL. Two epochs, lr 2e-5, batch 1 × accumulation 8, BF16 autocast over FP32 weights, gradient checkpointing, state budget 2048. Sixty-four accepted rows give 16 steps. Disable none/distractor augmentation to retain legal directions; option shuffling remains active. Stop inference before training and reload afterward. The 20-minute training cap is a class budget pending a full GPU run. After interruption, use RESUME_PACMAN with the same inputs/arguments and an existing recovery snapshot, or explicitly label an instructor checkpoint. Source: pinned Kev README custom-data training and course cloud_runtime.py.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kev_lab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kev_lab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Audit LoRA A/B and head as the only trainable parameters. Original matrices stay fixed while gradients pass through the encoder. Every optimizer step logs CE, learning rate, gradients, duration and peak/live allocated/reserved/free VRAM to TensorBoard/JSONL/CSV. Per-forward row counts/token shapes and record IDs remain in batches.jsonl. Save LoRA/head plus optimizer/scheduler/RNG/counters after step 1, every 100 steps or five minutes at optimizer boundaries, and the final step. Keep the latest two complete recovery snapshots. Native Kev resume is full-weight-only; the lab supplies guarded LoRA continuation. Use Drive storage or export snapshots before Colab disconnects. The older 0.8B notebook saved weights only at completion, so its failed step-2073 run had no automatic learned checkpoint. Source: course training_monitor.py and lora_recovery.py.</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kev_lab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kev_lab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Compare the learner's completed Stage 4 general checkpoint and Stage 5 Pac-Man checkpoint. Keep backbone, legal actions, ghost rules and precision fixed. Freeze the candidate before viewing evaluation. Report heuristic teacher agreement, immediate captures, unchanged decisions and regressions. The release's scores and calibration do not transfer to these runs. Source: course pacman_lab.py.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kev_lab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kev_lab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Keep the existing capped 24-turn initial/fine-tuned rollout pair and rules teacher. Two trajectories illustrate behavior, not average win rate. Save HTTP latency for paired evaluations and report enough repeats for a meaningful later p50/p95 benchmark. CUDA kernel/graph options and serving precision affect latency. Keep them identical and state this notebook disables optional fused kernels/graphs for its reference path. Record upstream peak_device_bytes and training wall_seconds, helper elapsed time including load/save, and actual Colab compute-unit use rather than inventing a fixed dollar rate. No GPU or live browser results have been collected for this revision. Broader evaluation needs multiple starts and held-out mazes.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Reference URLs checked October 2, 2026:</a:t>
            </a:r>
            <a:endParaRPr/>
          </a:p>
          <a:p>
            <a:pPr indent="0" lvl="0" marL="0" rtl="0" algn="l">
              <a:spcBef>
                <a:spcPts val="0"/>
              </a:spcBef>
              <a:spcAft>
                <a:spcPts val="0"/>
              </a:spcAft>
              <a:buNone/>
            </a:pPr>
            <a:r>
              <a:rPr lang="zh-CN"/>
              <a:t>https://github.com/jaredpalmer/kev/tree/84847f0a883d900f7de5b7a57eaa341ca7f9a6b4</a:t>
            </a:r>
            <a:endParaRPr/>
          </a:p>
          <a:p>
            <a:pPr indent="0" lvl="0" marL="0" rtl="0" algn="l">
              <a:spcBef>
                <a:spcPts val="0"/>
              </a:spcBef>
              <a:spcAft>
                <a:spcPts val="0"/>
              </a:spcAft>
              <a:buNone/>
            </a:pPr>
            <a:r>
              <a:rPr lang="zh-CN"/>
              <a:t>https://github.com/Contrastive-LM/CLM/tree/bb42c6c5bf914fd449bed2f6ca65be80602cb1f7</a:t>
            </a:r>
            <a:endParaRPr/>
          </a:p>
          <a:p>
            <a:pPr indent="0" lvl="0" marL="0" rtl="0" algn="l">
              <a:spcBef>
                <a:spcPts val="0"/>
              </a:spcBef>
              <a:spcAft>
                <a:spcPts val="0"/>
              </a:spcAft>
              <a:buNone/>
            </a:pPr>
            <a:r>
              <a:rPr lang="zh-CN"/>
              <a:t>https://github.com/Contrastive-LM/CLM/blob/bb42c6c5bf914fd449bed2f6ca65be80602cb1f7/src/clm/heads.py</a:t>
            </a:r>
            <a:endParaRPr/>
          </a:p>
          <a:p>
            <a:pPr indent="0" lvl="0" marL="0" rtl="0" algn="l">
              <a:spcBef>
                <a:spcPts val="0"/>
              </a:spcBef>
              <a:spcAft>
                <a:spcPts val="0"/>
              </a:spcAft>
              <a:buNone/>
            </a:pPr>
            <a:r>
              <a:rPr lang="zh-CN"/>
              <a:t>https://github.com/Contrastive-LM/CLM/blob/bb42c6c5bf914fd449bed2f6ca65be80602cb1f7/train/finetune.py</a:t>
            </a:r>
            <a:endParaRPr/>
          </a:p>
          <a:p>
            <a:pPr indent="0" lvl="0" marL="0" rtl="0" algn="l">
              <a:spcBef>
                <a:spcPts val="0"/>
              </a:spcBef>
              <a:spcAft>
                <a:spcPts val="0"/>
              </a:spcAft>
              <a:buNone/>
            </a:pPr>
            <a:r>
              <a:rPr lang="zh-CN"/>
              <a:t>https://github.com/jaredpalmer/kev/blob/84847f0a883d900f7de5b7a57eaa341ca7f9a6b4/kev/model.py</a:t>
            </a:r>
            <a:endParaRPr/>
          </a:p>
          <a:p>
            <a:pPr indent="0" lvl="0" marL="0" rtl="0" algn="l">
              <a:spcBef>
                <a:spcPts val="0"/>
              </a:spcBef>
              <a:spcAft>
                <a:spcPts val="0"/>
              </a:spcAft>
              <a:buNone/>
            </a:pPr>
            <a:r>
              <a:rPr lang="zh-CN"/>
              <a:t>https://huggingface.co/blog/ggml-org/decision-models-in-llamacpp</a:t>
            </a:r>
            <a:endParaRPr/>
          </a:p>
          <a:p>
            <a:pPr indent="0" lvl="0" marL="0" rtl="0" algn="l">
              <a:spcBef>
                <a:spcPts val="0"/>
              </a:spcBef>
              <a:spcAft>
                <a:spcPts val="0"/>
              </a:spcAft>
              <a:buNone/>
            </a:pPr>
            <a:r>
              <a:rPr lang="zh-CN"/>
              <a:t>https://github.com/ggml-org/llama.cpp/pull/29818</a:t>
            </a:r>
            <a:endParaRPr/>
          </a:p>
          <a:p>
            <a:pPr indent="0" lvl="0" marL="0" rtl="0" algn="l">
              <a:spcBef>
                <a:spcPts val="0"/>
              </a:spcBef>
              <a:spcAft>
                <a:spcPts val="0"/>
              </a:spcAft>
              <a:buNone/>
            </a:pPr>
            <a:r>
              <a:rPr lang="zh-CN"/>
              <a:t>CLM article: supplied Contrastive Language Models PDF, pages 6-8; https://contrastive-lm.notion.site/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kev_lab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kev_lab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Submit executed notebook, reviewed training JSONL, all five adapter/head checkpoints, every configuration/metrics file, paired predictions, raw logs and TensorBoard events, trainable-parameters.json, runtime-preflight.json and optimized-training-preflight.json. Package adapters/heads rather than foundation weights or dependencies. Record compute units and elapsed GPU time. Checkpoint ownership must identify learner versus instructor. Source: course notebook submission cell.</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kev_lab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kev_lab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This is an adaptation of the independently authored MIT Jev Pac-Man game, not an official Kev/CLM game release. Preserve the maze, renderer and license. Replace controllers so the learned model controls Pac-Man and fixed code controls ghosts. The notebook integrates the player's /v1/systemone request with a Colab callback and provides Python evaluation/rollouts. GPU training and live callback need instructor preflight. The comparison/lab slides are native editable objects. The original 30-slide lecture stays unchanged.</a:t>
            </a:r>
            <a:endParaRPr/>
          </a:p>
          <a:p>
            <a:pPr indent="0" lvl="0" marL="0" rtl="0" algn="l">
              <a:spcBef>
                <a:spcPts val="0"/>
              </a:spcBef>
              <a:spcAft>
                <a:spcPts val="0"/>
              </a:spcAft>
              <a:buNone/>
            </a:pPr>
            <a:r>
              <a:rPr lang="zh-CN"/>
              <a:t>Source: https://github.com/codaaiteam/jev-pacman/tree/8446fe74690cd61909bda91acfadbccb0f02b422 .</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Reference URLs checked October 2, 2026:</a:t>
            </a:r>
            <a:endParaRPr/>
          </a:p>
          <a:p>
            <a:pPr indent="0" lvl="0" marL="0" rtl="0" algn="l">
              <a:spcBef>
                <a:spcPts val="0"/>
              </a:spcBef>
              <a:spcAft>
                <a:spcPts val="0"/>
              </a:spcAft>
              <a:buNone/>
            </a:pPr>
            <a:r>
              <a:rPr lang="zh-CN"/>
              <a:t>https://github.com/jaredpalmer/kev/tree/84847f0a883d900f7de5b7a57eaa341ca7f9a6b4</a:t>
            </a:r>
            <a:endParaRPr/>
          </a:p>
          <a:p>
            <a:pPr indent="0" lvl="0" marL="0" rtl="0" algn="l">
              <a:spcBef>
                <a:spcPts val="0"/>
              </a:spcBef>
              <a:spcAft>
                <a:spcPts val="0"/>
              </a:spcAft>
              <a:buNone/>
            </a:pPr>
            <a:r>
              <a:rPr lang="zh-CN"/>
              <a:t>https://github.com/Contrastive-LM/CLM/tree/bb42c6c5bf914fd449bed2f6ca65be80602cb1f7</a:t>
            </a:r>
            <a:endParaRPr/>
          </a:p>
          <a:p>
            <a:pPr indent="0" lvl="0" marL="0" rtl="0" algn="l">
              <a:spcBef>
                <a:spcPts val="0"/>
              </a:spcBef>
              <a:spcAft>
                <a:spcPts val="0"/>
              </a:spcAft>
              <a:buNone/>
            </a:pPr>
            <a:r>
              <a:rPr lang="zh-CN"/>
              <a:t>https://github.com/Contrastive-LM/CLM/blob/bb42c6c5bf914fd449bed2f6ca65be80602cb1f7/src/clm/heads.py</a:t>
            </a:r>
            <a:endParaRPr/>
          </a:p>
          <a:p>
            <a:pPr indent="0" lvl="0" marL="0" rtl="0" algn="l">
              <a:spcBef>
                <a:spcPts val="0"/>
              </a:spcBef>
              <a:spcAft>
                <a:spcPts val="0"/>
              </a:spcAft>
              <a:buNone/>
            </a:pPr>
            <a:r>
              <a:rPr lang="zh-CN"/>
              <a:t>https://github.com/Contrastive-LM/CLM/blob/bb42c6c5bf914fd449bed2f6ca65be80602cb1f7/train/finetune.py</a:t>
            </a:r>
            <a:endParaRPr/>
          </a:p>
          <a:p>
            <a:pPr indent="0" lvl="0" marL="0" rtl="0" algn="l">
              <a:spcBef>
                <a:spcPts val="0"/>
              </a:spcBef>
              <a:spcAft>
                <a:spcPts val="0"/>
              </a:spcAft>
              <a:buNone/>
            </a:pPr>
            <a:r>
              <a:rPr lang="zh-CN"/>
              <a:t>https://github.com/jaredpalmer/kev/blob/84847f0a883d900f7de5b7a57eaa341ca7f9a6b4/kev/model.py</a:t>
            </a:r>
            <a:endParaRPr/>
          </a:p>
          <a:p>
            <a:pPr indent="0" lvl="0" marL="0" rtl="0" algn="l">
              <a:spcBef>
                <a:spcPts val="0"/>
              </a:spcBef>
              <a:spcAft>
                <a:spcPts val="0"/>
              </a:spcAft>
              <a:buNone/>
            </a:pPr>
            <a:r>
              <a:rPr lang="zh-CN"/>
              <a:t>https://huggingface.co/blog/ggml-org/decision-models-in-llamacpp</a:t>
            </a:r>
            <a:endParaRPr/>
          </a:p>
          <a:p>
            <a:pPr indent="0" lvl="0" marL="0" rtl="0" algn="l">
              <a:spcBef>
                <a:spcPts val="0"/>
              </a:spcBef>
              <a:spcAft>
                <a:spcPts val="0"/>
              </a:spcAft>
              <a:buNone/>
            </a:pPr>
            <a:r>
              <a:rPr lang="zh-CN"/>
              <a:t>https://github.com/ggml-org/llama.cpp/pull/29818</a:t>
            </a:r>
            <a:endParaRPr/>
          </a:p>
          <a:p>
            <a:pPr indent="0" lvl="0" marL="0" rtl="0" algn="l">
              <a:spcBef>
                <a:spcPts val="0"/>
              </a:spcBef>
              <a:spcAft>
                <a:spcPts val="0"/>
              </a:spcAft>
              <a:buNone/>
            </a:pPr>
            <a:r>
              <a:rPr lang="zh-CN"/>
              <a:t>CLM article: supplied Contrastive Language Models PDF, pages 6-8; https://contrastive-lm.notion.site/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9"/>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457200" y="317500"/>
            <a:ext cx="8229600" cy="774600"/>
          </a:xfrm>
          <a:prstGeom prst="rect">
            <a:avLst/>
          </a:prstGeom>
        </p:spPr>
        <p:txBody>
          <a:bodyPr anchorCtr="0" anchor="t" bIns="91425" lIns="91425" spcFirstLastPara="1" rIns="91425" wrap="square" tIns="91425">
            <a:noAutofit/>
          </a:bodyPr>
          <a:lstStyle/>
          <a:p>
            <a:pPr indent="0" lvl="0" marL="0" rtl="0" algn="ctr">
              <a:lnSpc>
                <a:spcPct val="112000"/>
              </a:lnSpc>
              <a:spcBef>
                <a:spcPts val="0"/>
              </a:spcBef>
              <a:spcAft>
                <a:spcPts val="800"/>
              </a:spcAft>
              <a:buNone/>
            </a:pPr>
            <a:r>
              <a:rPr b="1" lang="zh-CN" sz="3800">
                <a:solidFill>
                  <a:srgbClr val="FFFFFF"/>
                </a:solidFill>
              </a:rPr>
              <a:t>Kev and CLM</a:t>
            </a:r>
            <a:endParaRPr b="1" sz="3800">
              <a:solidFill>
                <a:srgbClr val="FFFFFF"/>
              </a:solidFill>
            </a:endParaRPr>
          </a:p>
        </p:txBody>
      </p:sp>
      <p:sp>
        <p:nvSpPr>
          <p:cNvPr id="55" name="Google Shape;55;p13"/>
          <p:cNvSpPr txBox="1"/>
          <p:nvPr>
            <p:ph idx="1" type="subTitle"/>
          </p:nvPr>
        </p:nvSpPr>
        <p:spPr>
          <a:xfrm>
            <a:off x="457200" y="4356100"/>
            <a:ext cx="8229600" cy="342900"/>
          </a:xfrm>
          <a:prstGeom prst="rect">
            <a:avLst/>
          </a:prstGeom>
        </p:spPr>
        <p:txBody>
          <a:bodyPr anchorCtr="0" anchor="t" bIns="91425" lIns="91425" spcFirstLastPara="1" rIns="91425" wrap="square" tIns="91425">
            <a:noAutofit/>
          </a:bodyPr>
          <a:lstStyle/>
          <a:p>
            <a:pPr indent="0" lvl="0" marL="0" rtl="0" algn="ctr">
              <a:lnSpc>
                <a:spcPct val="112000"/>
              </a:lnSpc>
              <a:spcBef>
                <a:spcPts val="0"/>
              </a:spcBef>
              <a:spcAft>
                <a:spcPts val="800"/>
              </a:spcAft>
              <a:buNone/>
            </a:pPr>
            <a:r>
              <a:rPr lang="zh-CN" sz="1700">
                <a:solidFill>
                  <a:srgbClr val="CCE0E8"/>
                </a:solidFill>
              </a:rPr>
              <a:t>Our lab follows Kev's LoRA + pointer-head recipe.</a:t>
            </a:r>
            <a:endParaRPr sz="1700">
              <a:solidFill>
                <a:srgbClr val="CCE0E8"/>
              </a:solidFill>
            </a:endParaRPr>
          </a:p>
        </p:txBody>
      </p:sp>
      <p:sp>
        <p:nvSpPr>
          <p:cNvPr id="56" name="Google Shape;56;p13"/>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A3BAC7"/>
                </a:solidFill>
              </a:rPr>
              <a:t>Pac-Man lab | 90 minutes | 30-minute fine-tuning block</a:t>
            </a:r>
            <a:endParaRPr sz="900">
              <a:solidFill>
                <a:srgbClr val="A3BAC7"/>
              </a:solidFill>
            </a:endParaRPr>
          </a:p>
        </p:txBody>
      </p:sp>
      <p:sp>
        <p:nvSpPr>
          <p:cNvPr id="57" name="Google Shape;57;p13"/>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A3BAC7"/>
                </a:solidFill>
              </a:rPr>
              <a:t>1</a:t>
            </a:r>
            <a:endParaRPr sz="900">
              <a:solidFill>
                <a:srgbClr val="A3BAC7"/>
              </a:solidFill>
            </a:endParaRPr>
          </a:p>
        </p:txBody>
      </p:sp>
      <p:graphicFrame>
        <p:nvGraphicFramePr>
          <p:cNvPr id="58" name="Google Shape;58;p13"/>
          <p:cNvGraphicFramePr/>
          <p:nvPr/>
        </p:nvGraphicFramePr>
        <p:xfrm>
          <a:off x="457200" y="1295400"/>
          <a:ext cx="3000000" cy="3000000"/>
        </p:xfrm>
        <a:graphic>
          <a:graphicData uri="http://schemas.openxmlformats.org/drawingml/2006/table">
            <a:tbl>
              <a:tblPr>
                <a:noFill/>
                <a:tableStyleId>{7752FCCB-C744-403B-90CA-A14BC9C0A3A7}</a:tableStyleId>
              </a:tblPr>
              <a:tblGrid>
                <a:gridCol w="1549400"/>
                <a:gridCol w="3314700"/>
                <a:gridCol w="3365500"/>
              </a:tblGrid>
              <a:tr h="431800">
                <a:tc>
                  <a:txBody>
                    <a:bodyPr/>
                    <a:lstStyle/>
                    <a:p>
                      <a:pPr indent="0" lvl="0" marL="0" rtl="0" algn="l">
                        <a:lnSpc>
                          <a:spcPct val="105000"/>
                        </a:lnSpc>
                        <a:spcBef>
                          <a:spcPts val="0"/>
                        </a:spcBef>
                        <a:spcAft>
                          <a:spcPts val="0"/>
                        </a:spcAft>
                        <a:buNone/>
                      </a:pPr>
                      <a:r>
                        <a:rPr b="1" lang="zh-CN" sz="1800">
                          <a:solidFill>
                            <a:srgbClr val="FFFFFF"/>
                          </a:solidFill>
                        </a:rPr>
                        <a:t>Difference</a:t>
                      </a:r>
                      <a:endParaRPr b="1" sz="1800">
                        <a:solidFill>
                          <a:srgbClr val="FFFFFF"/>
                        </a:solidFill>
                      </a:endParaRPr>
                    </a:p>
                  </a:txBody>
                  <a:tcPr marT="91425" marB="91425" marR="91425" marL="91425" anchor="ctr">
                    <a:lnL cap="flat" cmpd="sng" w="7625">
                      <a:solidFill>
                        <a:srgbClr val="425063"/>
                      </a:solidFill>
                      <a:prstDash val="solid"/>
                      <a:round/>
                      <a:headEnd len="sm" w="sm" type="none"/>
                      <a:tailEnd len="sm" w="sm" type="none"/>
                    </a:lnL>
                    <a:lnR cap="flat" cmpd="sng" w="7625">
                      <a:solidFill>
                        <a:srgbClr val="425063"/>
                      </a:solidFill>
                      <a:prstDash val="solid"/>
                      <a:round/>
                      <a:headEnd len="sm" w="sm" type="none"/>
                      <a:tailEnd len="sm" w="sm" type="none"/>
                    </a:lnR>
                    <a:lnT cap="flat" cmpd="sng" w="7625">
                      <a:solidFill>
                        <a:srgbClr val="425063"/>
                      </a:solidFill>
                      <a:prstDash val="solid"/>
                      <a:round/>
                      <a:headEnd len="sm" w="sm" type="none"/>
                      <a:tailEnd len="sm" w="sm" type="none"/>
                    </a:lnT>
                    <a:lnB cap="flat" cmpd="sng" w="7625">
                      <a:solidFill>
                        <a:srgbClr val="425063"/>
                      </a:solidFill>
                      <a:prstDash val="solid"/>
                      <a:round/>
                      <a:headEnd len="sm" w="sm" type="none"/>
                      <a:tailEnd len="sm" w="sm" type="none"/>
                    </a:lnB>
                    <a:solidFill>
                      <a:srgbClr val="111827"/>
                    </a:solidFill>
                  </a:tcPr>
                </a:tc>
                <a:tc>
                  <a:txBody>
                    <a:bodyPr/>
                    <a:lstStyle/>
                    <a:p>
                      <a:pPr indent="0" lvl="0" marL="0" rtl="0" algn="l">
                        <a:lnSpc>
                          <a:spcPct val="105000"/>
                        </a:lnSpc>
                        <a:spcBef>
                          <a:spcPts val="0"/>
                        </a:spcBef>
                        <a:spcAft>
                          <a:spcPts val="0"/>
                        </a:spcAft>
                        <a:buNone/>
                      </a:pPr>
                      <a:r>
                        <a:rPr b="1" lang="zh-CN" sz="1800">
                          <a:solidFill>
                            <a:srgbClr val="FFFFFF"/>
                          </a:solidFill>
                        </a:rPr>
                        <a:t>Kev (small models)</a:t>
                      </a:r>
                      <a:endParaRPr b="1" sz="1800">
                        <a:solidFill>
                          <a:srgbClr val="FFFFFF"/>
                        </a:solidFill>
                      </a:endParaRPr>
                    </a:p>
                  </a:txBody>
                  <a:tcPr marT="91425" marB="91425" marR="91425" marL="91425" anchor="ctr">
                    <a:lnL cap="flat" cmpd="sng" w="7625">
                      <a:solidFill>
                        <a:srgbClr val="425063"/>
                      </a:solidFill>
                      <a:prstDash val="solid"/>
                      <a:round/>
                      <a:headEnd len="sm" w="sm" type="none"/>
                      <a:tailEnd len="sm" w="sm" type="none"/>
                    </a:lnL>
                    <a:lnR cap="flat" cmpd="sng" w="7625">
                      <a:solidFill>
                        <a:srgbClr val="425063"/>
                      </a:solidFill>
                      <a:prstDash val="solid"/>
                      <a:round/>
                      <a:headEnd len="sm" w="sm" type="none"/>
                      <a:tailEnd len="sm" w="sm" type="none"/>
                    </a:lnR>
                    <a:lnT cap="flat" cmpd="sng" w="7625">
                      <a:solidFill>
                        <a:srgbClr val="425063"/>
                      </a:solidFill>
                      <a:prstDash val="solid"/>
                      <a:round/>
                      <a:headEnd len="sm" w="sm" type="none"/>
                      <a:tailEnd len="sm" w="sm" type="none"/>
                    </a:lnT>
                    <a:lnB cap="flat" cmpd="sng" w="7625">
                      <a:solidFill>
                        <a:srgbClr val="425063"/>
                      </a:solidFill>
                      <a:prstDash val="solid"/>
                      <a:round/>
                      <a:headEnd len="sm" w="sm" type="none"/>
                      <a:tailEnd len="sm" w="sm" type="none"/>
                    </a:lnB>
                    <a:solidFill>
                      <a:srgbClr val="111827"/>
                    </a:solidFill>
                  </a:tcPr>
                </a:tc>
                <a:tc>
                  <a:txBody>
                    <a:bodyPr/>
                    <a:lstStyle/>
                    <a:p>
                      <a:pPr indent="0" lvl="0" marL="0" rtl="0" algn="l">
                        <a:lnSpc>
                          <a:spcPct val="105000"/>
                        </a:lnSpc>
                        <a:spcBef>
                          <a:spcPts val="0"/>
                        </a:spcBef>
                        <a:spcAft>
                          <a:spcPts val="0"/>
                        </a:spcAft>
                        <a:buNone/>
                      </a:pPr>
                      <a:r>
                        <a:rPr b="1" lang="zh-CN" sz="1800">
                          <a:solidFill>
                            <a:srgbClr val="FFFFFF"/>
                          </a:solidFill>
                        </a:rPr>
                        <a:t>CLM</a:t>
                      </a:r>
                      <a:endParaRPr b="1" sz="1800">
                        <a:solidFill>
                          <a:srgbClr val="FFFFFF"/>
                        </a:solidFill>
                      </a:endParaRPr>
                    </a:p>
                  </a:txBody>
                  <a:tcPr marT="91425" marB="91425" marR="91425" marL="91425" anchor="ctr">
                    <a:lnL cap="flat" cmpd="sng" w="7625">
                      <a:solidFill>
                        <a:srgbClr val="425063"/>
                      </a:solidFill>
                      <a:prstDash val="solid"/>
                      <a:round/>
                      <a:headEnd len="sm" w="sm" type="none"/>
                      <a:tailEnd len="sm" w="sm" type="none"/>
                    </a:lnL>
                    <a:lnR cap="flat" cmpd="sng" w="7625">
                      <a:solidFill>
                        <a:srgbClr val="425063"/>
                      </a:solidFill>
                      <a:prstDash val="solid"/>
                      <a:round/>
                      <a:headEnd len="sm" w="sm" type="none"/>
                      <a:tailEnd len="sm" w="sm" type="none"/>
                    </a:lnR>
                    <a:lnT cap="flat" cmpd="sng" w="7625">
                      <a:solidFill>
                        <a:srgbClr val="425063"/>
                      </a:solidFill>
                      <a:prstDash val="solid"/>
                      <a:round/>
                      <a:headEnd len="sm" w="sm" type="none"/>
                      <a:tailEnd len="sm" w="sm" type="none"/>
                    </a:lnT>
                    <a:lnB cap="flat" cmpd="sng" w="7625">
                      <a:solidFill>
                        <a:srgbClr val="425063"/>
                      </a:solidFill>
                      <a:prstDash val="solid"/>
                      <a:round/>
                      <a:headEnd len="sm" w="sm" type="none"/>
                      <a:tailEnd len="sm" w="sm" type="none"/>
                    </a:lnB>
                    <a:solidFill>
                      <a:srgbClr val="111827"/>
                    </a:solidFill>
                  </a:tcPr>
                </a:tc>
              </a:tr>
              <a:tr h="749300">
                <a:tc>
                  <a:txBody>
                    <a:bodyPr/>
                    <a:lstStyle/>
                    <a:p>
                      <a:pPr indent="0" lvl="0" marL="0" rtl="0" algn="l">
                        <a:lnSpc>
                          <a:spcPct val="105000"/>
                        </a:lnSpc>
                        <a:spcBef>
                          <a:spcPts val="0"/>
                        </a:spcBef>
                        <a:spcAft>
                          <a:spcPts val="0"/>
                        </a:spcAft>
                        <a:buNone/>
                      </a:pPr>
                      <a:r>
                        <a:rPr b="1" lang="zh-CN" sz="1800">
                          <a:solidFill>
                            <a:srgbClr val="FFFFFF"/>
                          </a:solidFill>
                        </a:rPr>
                        <a:t>Inputs</a:t>
                      </a:r>
                      <a:endParaRPr b="1" sz="1800">
                        <a:solidFill>
                          <a:srgbClr val="FFFFFF"/>
                        </a:solidFill>
                      </a:endParaRPr>
                    </a:p>
                  </a:txBody>
                  <a:tcPr marT="91425" marB="91425" marR="91425" marL="91425" anchor="ctr">
                    <a:lnL cap="flat" cmpd="sng" w="7625">
                      <a:solidFill>
                        <a:srgbClr val="425063"/>
                      </a:solidFill>
                      <a:prstDash val="solid"/>
                      <a:round/>
                      <a:headEnd len="sm" w="sm" type="none"/>
                      <a:tailEnd len="sm" w="sm" type="none"/>
                    </a:lnL>
                    <a:lnR cap="flat" cmpd="sng" w="7625">
                      <a:solidFill>
                        <a:srgbClr val="425063"/>
                      </a:solidFill>
                      <a:prstDash val="solid"/>
                      <a:round/>
                      <a:headEnd len="sm" w="sm" type="none"/>
                      <a:tailEnd len="sm" w="sm" type="none"/>
                    </a:lnR>
                    <a:lnT cap="flat" cmpd="sng" w="7625">
                      <a:solidFill>
                        <a:srgbClr val="425063"/>
                      </a:solidFill>
                      <a:prstDash val="solid"/>
                      <a:round/>
                      <a:headEnd len="sm" w="sm" type="none"/>
                      <a:tailEnd len="sm" w="sm" type="none"/>
                    </a:lnT>
                    <a:lnB cap="flat" cmpd="sng" w="7625">
                      <a:solidFill>
                        <a:srgbClr val="425063"/>
                      </a:solidFill>
                      <a:prstDash val="solid"/>
                      <a:round/>
                      <a:headEnd len="sm" w="sm" type="none"/>
                      <a:tailEnd len="sm" w="sm" type="none"/>
                    </a:lnB>
                    <a:solidFill>
                      <a:srgbClr val="111827"/>
                    </a:solidFill>
                  </a:tcPr>
                </a:tc>
                <a:tc>
                  <a:txBody>
                    <a:bodyPr/>
                    <a:lstStyle/>
                    <a:p>
                      <a:pPr indent="0" lvl="0" marL="0" rtl="0" algn="l">
                        <a:lnSpc>
                          <a:spcPct val="105000"/>
                        </a:lnSpc>
                        <a:spcBef>
                          <a:spcPts val="0"/>
                        </a:spcBef>
                        <a:spcAft>
                          <a:spcPts val="0"/>
                        </a:spcAft>
                        <a:buNone/>
                      </a:pPr>
                      <a:r>
                        <a:rPr lang="zh-CN" sz="1800">
                          <a:solidFill>
                            <a:srgbClr val="FFFFFF"/>
                          </a:solidFill>
                        </a:rPr>
                        <a:t>State, question and</a:t>
                      </a:r>
                      <a:endParaRPr sz="1800">
                        <a:solidFill>
                          <a:srgbClr val="FFFFFF"/>
                        </a:solidFill>
                      </a:endParaRPr>
                    </a:p>
                    <a:p>
                      <a:pPr indent="0" lvl="0" marL="0" rtl="0" algn="l">
                        <a:lnSpc>
                          <a:spcPct val="105000"/>
                        </a:lnSpc>
                        <a:spcBef>
                          <a:spcPts val="0"/>
                        </a:spcBef>
                        <a:spcAft>
                          <a:spcPts val="0"/>
                        </a:spcAft>
                        <a:buNone/>
                      </a:pPr>
                      <a:r>
                        <a:rPr lang="zh-CN" sz="1800">
                          <a:solidFill>
                            <a:srgbClr val="FFFFFF"/>
                          </a:solidFill>
                        </a:rPr>
                        <a:t>options together</a:t>
                      </a:r>
                      <a:endParaRPr sz="1800">
                        <a:solidFill>
                          <a:srgbClr val="FFFFFF"/>
                        </a:solidFill>
                      </a:endParaRPr>
                    </a:p>
                  </a:txBody>
                  <a:tcPr marT="91425" marB="91425" marR="91425" marL="91425" anchor="ctr">
                    <a:lnL cap="flat" cmpd="sng" w="7625">
                      <a:solidFill>
                        <a:srgbClr val="425063"/>
                      </a:solidFill>
                      <a:prstDash val="solid"/>
                      <a:round/>
                      <a:headEnd len="sm" w="sm" type="none"/>
                      <a:tailEnd len="sm" w="sm" type="none"/>
                    </a:lnL>
                    <a:lnR cap="flat" cmpd="sng" w="7625">
                      <a:solidFill>
                        <a:srgbClr val="425063"/>
                      </a:solidFill>
                      <a:prstDash val="solid"/>
                      <a:round/>
                      <a:headEnd len="sm" w="sm" type="none"/>
                      <a:tailEnd len="sm" w="sm" type="none"/>
                    </a:lnR>
                    <a:lnT cap="flat" cmpd="sng" w="7625">
                      <a:solidFill>
                        <a:srgbClr val="425063"/>
                      </a:solidFill>
                      <a:prstDash val="solid"/>
                      <a:round/>
                      <a:headEnd len="sm" w="sm" type="none"/>
                      <a:tailEnd len="sm" w="sm" type="none"/>
                    </a:lnT>
                    <a:lnB cap="flat" cmpd="sng" w="7625">
                      <a:solidFill>
                        <a:srgbClr val="425063"/>
                      </a:solidFill>
                      <a:prstDash val="solid"/>
                      <a:round/>
                      <a:headEnd len="sm" w="sm" type="none"/>
                      <a:tailEnd len="sm" w="sm" type="none"/>
                    </a:lnB>
                    <a:solidFill>
                      <a:srgbClr val="111827"/>
                    </a:solidFill>
                  </a:tcPr>
                </a:tc>
                <a:tc>
                  <a:txBody>
                    <a:bodyPr/>
                    <a:lstStyle/>
                    <a:p>
                      <a:pPr indent="0" lvl="0" marL="0" rtl="0" algn="l">
                        <a:lnSpc>
                          <a:spcPct val="105000"/>
                        </a:lnSpc>
                        <a:spcBef>
                          <a:spcPts val="0"/>
                        </a:spcBef>
                        <a:spcAft>
                          <a:spcPts val="0"/>
                        </a:spcAft>
                        <a:buNone/>
                      </a:pPr>
                      <a:r>
                        <a:rPr lang="zh-CN" sz="1800">
                          <a:solidFill>
                            <a:srgbClr val="FFFFFF"/>
                          </a:solidFill>
                        </a:rPr>
                        <a:t>State and actions</a:t>
                      </a:r>
                      <a:endParaRPr sz="1800">
                        <a:solidFill>
                          <a:srgbClr val="FFFFFF"/>
                        </a:solidFill>
                      </a:endParaRPr>
                    </a:p>
                    <a:p>
                      <a:pPr indent="0" lvl="0" marL="0" rtl="0" algn="l">
                        <a:lnSpc>
                          <a:spcPct val="105000"/>
                        </a:lnSpc>
                        <a:spcBef>
                          <a:spcPts val="0"/>
                        </a:spcBef>
                        <a:spcAft>
                          <a:spcPts val="0"/>
                        </a:spcAft>
                        <a:buNone/>
                      </a:pPr>
                      <a:r>
                        <a:rPr lang="zh-CN" sz="1800">
                          <a:solidFill>
                            <a:srgbClr val="FFFFFF"/>
                          </a:solidFill>
                        </a:rPr>
                        <a:t>encoded separately</a:t>
                      </a:r>
                      <a:endParaRPr sz="1800">
                        <a:solidFill>
                          <a:srgbClr val="FFFFFF"/>
                        </a:solidFill>
                      </a:endParaRPr>
                    </a:p>
                  </a:txBody>
                  <a:tcPr marT="91425" marB="91425" marR="91425" marL="91425" anchor="ctr">
                    <a:lnL cap="flat" cmpd="sng" w="7625">
                      <a:solidFill>
                        <a:srgbClr val="425063"/>
                      </a:solidFill>
                      <a:prstDash val="solid"/>
                      <a:round/>
                      <a:headEnd len="sm" w="sm" type="none"/>
                      <a:tailEnd len="sm" w="sm" type="none"/>
                    </a:lnL>
                    <a:lnR cap="flat" cmpd="sng" w="7625">
                      <a:solidFill>
                        <a:srgbClr val="425063"/>
                      </a:solidFill>
                      <a:prstDash val="solid"/>
                      <a:round/>
                      <a:headEnd len="sm" w="sm" type="none"/>
                      <a:tailEnd len="sm" w="sm" type="none"/>
                    </a:lnR>
                    <a:lnT cap="flat" cmpd="sng" w="7625">
                      <a:solidFill>
                        <a:srgbClr val="425063"/>
                      </a:solidFill>
                      <a:prstDash val="solid"/>
                      <a:round/>
                      <a:headEnd len="sm" w="sm" type="none"/>
                      <a:tailEnd len="sm" w="sm" type="none"/>
                    </a:lnT>
                    <a:lnB cap="flat" cmpd="sng" w="7625">
                      <a:solidFill>
                        <a:srgbClr val="425063"/>
                      </a:solidFill>
                      <a:prstDash val="solid"/>
                      <a:round/>
                      <a:headEnd len="sm" w="sm" type="none"/>
                      <a:tailEnd len="sm" w="sm" type="none"/>
                    </a:lnB>
                    <a:solidFill>
                      <a:srgbClr val="111827"/>
                    </a:solidFill>
                  </a:tcPr>
                </a:tc>
              </a:tr>
              <a:tr h="749300">
                <a:tc>
                  <a:txBody>
                    <a:bodyPr/>
                    <a:lstStyle/>
                    <a:p>
                      <a:pPr indent="0" lvl="0" marL="0" rtl="0" algn="l">
                        <a:lnSpc>
                          <a:spcPct val="105000"/>
                        </a:lnSpc>
                        <a:spcBef>
                          <a:spcPts val="0"/>
                        </a:spcBef>
                        <a:spcAft>
                          <a:spcPts val="0"/>
                        </a:spcAft>
                        <a:buNone/>
                      </a:pPr>
                      <a:r>
                        <a:rPr b="1" lang="zh-CN" sz="1800">
                          <a:solidFill>
                            <a:srgbClr val="FFFFFF"/>
                          </a:solidFill>
                        </a:rPr>
                        <a:t>Trainable</a:t>
                      </a:r>
                      <a:endParaRPr b="1" sz="1800">
                        <a:solidFill>
                          <a:srgbClr val="FFFFFF"/>
                        </a:solidFill>
                      </a:endParaRPr>
                    </a:p>
                  </a:txBody>
                  <a:tcPr marT="91425" marB="91425" marR="91425" marL="91425" anchor="ctr">
                    <a:lnL cap="flat" cmpd="sng" w="7625">
                      <a:solidFill>
                        <a:srgbClr val="425063"/>
                      </a:solidFill>
                      <a:prstDash val="solid"/>
                      <a:round/>
                      <a:headEnd len="sm" w="sm" type="none"/>
                      <a:tailEnd len="sm" w="sm" type="none"/>
                    </a:lnL>
                    <a:lnR cap="flat" cmpd="sng" w="7625">
                      <a:solidFill>
                        <a:srgbClr val="425063"/>
                      </a:solidFill>
                      <a:prstDash val="solid"/>
                      <a:round/>
                      <a:headEnd len="sm" w="sm" type="none"/>
                      <a:tailEnd len="sm" w="sm" type="none"/>
                    </a:lnR>
                    <a:lnT cap="flat" cmpd="sng" w="7625">
                      <a:solidFill>
                        <a:srgbClr val="425063"/>
                      </a:solidFill>
                      <a:prstDash val="solid"/>
                      <a:round/>
                      <a:headEnd len="sm" w="sm" type="none"/>
                      <a:tailEnd len="sm" w="sm" type="none"/>
                    </a:lnT>
                    <a:lnB cap="flat" cmpd="sng" w="7625">
                      <a:solidFill>
                        <a:srgbClr val="425063"/>
                      </a:solidFill>
                      <a:prstDash val="solid"/>
                      <a:round/>
                      <a:headEnd len="sm" w="sm" type="none"/>
                      <a:tailEnd len="sm" w="sm" type="none"/>
                    </a:lnB>
                    <a:solidFill>
                      <a:srgbClr val="111827"/>
                    </a:solidFill>
                  </a:tcPr>
                </a:tc>
                <a:tc>
                  <a:txBody>
                    <a:bodyPr/>
                    <a:lstStyle/>
                    <a:p>
                      <a:pPr indent="0" lvl="0" marL="0" rtl="0" algn="l">
                        <a:lnSpc>
                          <a:spcPct val="105000"/>
                        </a:lnSpc>
                        <a:spcBef>
                          <a:spcPts val="0"/>
                        </a:spcBef>
                        <a:spcAft>
                          <a:spcPts val="0"/>
                        </a:spcAft>
                        <a:buNone/>
                      </a:pPr>
                      <a:r>
                        <a:rPr lang="zh-CN" sz="1800">
                          <a:solidFill>
                            <a:srgbClr val="FFFFFF"/>
                          </a:solidFill>
                        </a:rPr>
                        <a:t>LoRA + pointer head</a:t>
                      </a:r>
                      <a:endParaRPr sz="1800">
                        <a:solidFill>
                          <a:srgbClr val="FFFFFF"/>
                        </a:solidFill>
                      </a:endParaRPr>
                    </a:p>
                  </a:txBody>
                  <a:tcPr marT="91425" marB="91425" marR="91425" marL="91425" anchor="ctr">
                    <a:lnL cap="flat" cmpd="sng" w="7625">
                      <a:solidFill>
                        <a:srgbClr val="425063"/>
                      </a:solidFill>
                      <a:prstDash val="solid"/>
                      <a:round/>
                      <a:headEnd len="sm" w="sm" type="none"/>
                      <a:tailEnd len="sm" w="sm" type="none"/>
                    </a:lnL>
                    <a:lnR cap="flat" cmpd="sng" w="7625">
                      <a:solidFill>
                        <a:srgbClr val="425063"/>
                      </a:solidFill>
                      <a:prstDash val="solid"/>
                      <a:round/>
                      <a:headEnd len="sm" w="sm" type="none"/>
                      <a:tailEnd len="sm" w="sm" type="none"/>
                    </a:lnR>
                    <a:lnT cap="flat" cmpd="sng" w="7625">
                      <a:solidFill>
                        <a:srgbClr val="425063"/>
                      </a:solidFill>
                      <a:prstDash val="solid"/>
                      <a:round/>
                      <a:headEnd len="sm" w="sm" type="none"/>
                      <a:tailEnd len="sm" w="sm" type="none"/>
                    </a:lnT>
                    <a:lnB cap="flat" cmpd="sng" w="7625">
                      <a:solidFill>
                        <a:srgbClr val="425063"/>
                      </a:solidFill>
                      <a:prstDash val="solid"/>
                      <a:round/>
                      <a:headEnd len="sm" w="sm" type="none"/>
                      <a:tailEnd len="sm" w="sm" type="none"/>
                    </a:lnB>
                    <a:solidFill>
                      <a:srgbClr val="111827"/>
                    </a:solidFill>
                  </a:tcPr>
                </a:tc>
                <a:tc>
                  <a:txBody>
                    <a:bodyPr/>
                    <a:lstStyle/>
                    <a:p>
                      <a:pPr indent="0" lvl="0" marL="0" rtl="0" algn="l">
                        <a:lnSpc>
                          <a:spcPct val="105000"/>
                        </a:lnSpc>
                        <a:spcBef>
                          <a:spcPts val="0"/>
                        </a:spcBef>
                        <a:spcAft>
                          <a:spcPts val="0"/>
                        </a:spcAft>
                        <a:buNone/>
                      </a:pPr>
                      <a:r>
                        <a:rPr lang="zh-CN" sz="1800">
                          <a:solidFill>
                            <a:srgbClr val="FFFFFF"/>
                          </a:solidFill>
                        </a:rPr>
                        <a:t>Projection heads only</a:t>
                      </a:r>
                      <a:endParaRPr sz="1800">
                        <a:solidFill>
                          <a:srgbClr val="FFFFFF"/>
                        </a:solidFill>
                      </a:endParaRPr>
                    </a:p>
                  </a:txBody>
                  <a:tcPr marT="91425" marB="91425" marR="91425" marL="91425" anchor="ctr">
                    <a:lnL cap="flat" cmpd="sng" w="7625">
                      <a:solidFill>
                        <a:srgbClr val="425063"/>
                      </a:solidFill>
                      <a:prstDash val="solid"/>
                      <a:round/>
                      <a:headEnd len="sm" w="sm" type="none"/>
                      <a:tailEnd len="sm" w="sm" type="none"/>
                    </a:lnL>
                    <a:lnR cap="flat" cmpd="sng" w="7625">
                      <a:solidFill>
                        <a:srgbClr val="425063"/>
                      </a:solidFill>
                      <a:prstDash val="solid"/>
                      <a:round/>
                      <a:headEnd len="sm" w="sm" type="none"/>
                      <a:tailEnd len="sm" w="sm" type="none"/>
                    </a:lnR>
                    <a:lnT cap="flat" cmpd="sng" w="7625">
                      <a:solidFill>
                        <a:srgbClr val="425063"/>
                      </a:solidFill>
                      <a:prstDash val="solid"/>
                      <a:round/>
                      <a:headEnd len="sm" w="sm" type="none"/>
                      <a:tailEnd len="sm" w="sm" type="none"/>
                    </a:lnT>
                    <a:lnB cap="flat" cmpd="sng" w="7625">
                      <a:solidFill>
                        <a:srgbClr val="425063"/>
                      </a:solidFill>
                      <a:prstDash val="solid"/>
                      <a:round/>
                      <a:headEnd len="sm" w="sm" type="none"/>
                      <a:tailEnd len="sm" w="sm" type="none"/>
                    </a:lnB>
                    <a:solidFill>
                      <a:srgbClr val="111827"/>
                    </a:solidFill>
                  </a:tcPr>
                </a:tc>
              </a:tr>
              <a:tr h="749300">
                <a:tc>
                  <a:txBody>
                    <a:bodyPr/>
                    <a:lstStyle/>
                    <a:p>
                      <a:pPr indent="0" lvl="0" marL="0" rtl="0" algn="l">
                        <a:lnSpc>
                          <a:spcPct val="105000"/>
                        </a:lnSpc>
                        <a:spcBef>
                          <a:spcPts val="0"/>
                        </a:spcBef>
                        <a:spcAft>
                          <a:spcPts val="0"/>
                        </a:spcAft>
                        <a:buNone/>
                      </a:pPr>
                      <a:r>
                        <a:rPr b="1" lang="zh-CN" sz="1800">
                          <a:solidFill>
                            <a:srgbClr val="FFFFFF"/>
                          </a:solidFill>
                        </a:rPr>
                        <a:t>Features</a:t>
                      </a:r>
                      <a:endParaRPr b="1" sz="1800">
                        <a:solidFill>
                          <a:srgbClr val="FFFFFF"/>
                        </a:solidFill>
                      </a:endParaRPr>
                    </a:p>
                  </a:txBody>
                  <a:tcPr marT="91425" marB="91425" marR="91425" marL="91425" anchor="ctr">
                    <a:lnL cap="flat" cmpd="sng" w="7625">
                      <a:solidFill>
                        <a:srgbClr val="425063"/>
                      </a:solidFill>
                      <a:prstDash val="solid"/>
                      <a:round/>
                      <a:headEnd len="sm" w="sm" type="none"/>
                      <a:tailEnd len="sm" w="sm" type="none"/>
                    </a:lnL>
                    <a:lnR cap="flat" cmpd="sng" w="7625">
                      <a:solidFill>
                        <a:srgbClr val="425063"/>
                      </a:solidFill>
                      <a:prstDash val="solid"/>
                      <a:round/>
                      <a:headEnd len="sm" w="sm" type="none"/>
                      <a:tailEnd len="sm" w="sm" type="none"/>
                    </a:lnR>
                    <a:lnT cap="flat" cmpd="sng" w="7625">
                      <a:solidFill>
                        <a:srgbClr val="425063"/>
                      </a:solidFill>
                      <a:prstDash val="solid"/>
                      <a:round/>
                      <a:headEnd len="sm" w="sm" type="none"/>
                      <a:tailEnd len="sm" w="sm" type="none"/>
                    </a:lnT>
                    <a:lnB cap="flat" cmpd="sng" w="7625">
                      <a:solidFill>
                        <a:srgbClr val="425063"/>
                      </a:solidFill>
                      <a:prstDash val="solid"/>
                      <a:round/>
                      <a:headEnd len="sm" w="sm" type="none"/>
                      <a:tailEnd len="sm" w="sm" type="none"/>
                    </a:lnB>
                    <a:solidFill>
                      <a:srgbClr val="111827"/>
                    </a:solidFill>
                  </a:tcPr>
                </a:tc>
                <a:tc>
                  <a:txBody>
                    <a:bodyPr/>
                    <a:lstStyle/>
                    <a:p>
                      <a:pPr indent="0" lvl="0" marL="0" rtl="0" algn="l">
                        <a:lnSpc>
                          <a:spcPct val="105000"/>
                        </a:lnSpc>
                        <a:spcBef>
                          <a:spcPts val="0"/>
                        </a:spcBef>
                        <a:spcAft>
                          <a:spcPts val="0"/>
                        </a:spcAft>
                        <a:buNone/>
                      </a:pPr>
                      <a:r>
                        <a:rPr lang="zh-CN" sz="1800">
                          <a:solidFill>
                            <a:srgbClr val="FFFFFF"/>
                          </a:solidFill>
                        </a:rPr>
                        <a:t>Encoder behavior</a:t>
                      </a:r>
                      <a:endParaRPr sz="1800">
                        <a:solidFill>
                          <a:srgbClr val="FFFFFF"/>
                        </a:solidFill>
                      </a:endParaRPr>
                    </a:p>
                    <a:p>
                      <a:pPr indent="0" lvl="0" marL="0" rtl="0" algn="l">
                        <a:lnSpc>
                          <a:spcPct val="105000"/>
                        </a:lnSpc>
                        <a:spcBef>
                          <a:spcPts val="0"/>
                        </a:spcBef>
                        <a:spcAft>
                          <a:spcPts val="0"/>
                        </a:spcAft>
                        <a:buNone/>
                      </a:pPr>
                      <a:r>
                        <a:rPr lang="zh-CN" sz="1800">
                          <a:solidFill>
                            <a:srgbClr val="FFFFFF"/>
                          </a:solidFill>
                        </a:rPr>
                        <a:t>changes</a:t>
                      </a:r>
                      <a:endParaRPr sz="1800">
                        <a:solidFill>
                          <a:srgbClr val="FFFFFF"/>
                        </a:solidFill>
                      </a:endParaRPr>
                    </a:p>
                  </a:txBody>
                  <a:tcPr marT="91425" marB="91425" marR="91425" marL="91425" anchor="ctr">
                    <a:lnL cap="flat" cmpd="sng" w="7625">
                      <a:solidFill>
                        <a:srgbClr val="425063"/>
                      </a:solidFill>
                      <a:prstDash val="solid"/>
                      <a:round/>
                      <a:headEnd len="sm" w="sm" type="none"/>
                      <a:tailEnd len="sm" w="sm" type="none"/>
                    </a:lnL>
                    <a:lnR cap="flat" cmpd="sng" w="7625">
                      <a:solidFill>
                        <a:srgbClr val="425063"/>
                      </a:solidFill>
                      <a:prstDash val="solid"/>
                      <a:round/>
                      <a:headEnd len="sm" w="sm" type="none"/>
                      <a:tailEnd len="sm" w="sm" type="none"/>
                    </a:lnR>
                    <a:lnT cap="flat" cmpd="sng" w="7625">
                      <a:solidFill>
                        <a:srgbClr val="425063"/>
                      </a:solidFill>
                      <a:prstDash val="solid"/>
                      <a:round/>
                      <a:headEnd len="sm" w="sm" type="none"/>
                      <a:tailEnd len="sm" w="sm" type="none"/>
                    </a:lnT>
                    <a:lnB cap="flat" cmpd="sng" w="7625">
                      <a:solidFill>
                        <a:srgbClr val="425063"/>
                      </a:solidFill>
                      <a:prstDash val="solid"/>
                      <a:round/>
                      <a:headEnd len="sm" w="sm" type="none"/>
                      <a:tailEnd len="sm" w="sm" type="none"/>
                    </a:lnB>
                    <a:solidFill>
                      <a:srgbClr val="111827"/>
                    </a:solidFill>
                  </a:tcPr>
                </a:tc>
                <a:tc>
                  <a:txBody>
                    <a:bodyPr/>
                    <a:lstStyle/>
                    <a:p>
                      <a:pPr indent="0" lvl="0" marL="0" rtl="0" algn="l">
                        <a:lnSpc>
                          <a:spcPct val="105000"/>
                        </a:lnSpc>
                        <a:spcBef>
                          <a:spcPts val="0"/>
                        </a:spcBef>
                        <a:spcAft>
                          <a:spcPts val="0"/>
                        </a:spcAft>
                        <a:buNone/>
                      </a:pPr>
                      <a:r>
                        <a:rPr lang="zh-CN" sz="1800">
                          <a:solidFill>
                            <a:srgbClr val="FFFFFF"/>
                          </a:solidFill>
                        </a:rPr>
                        <a:t>LLM features</a:t>
                      </a:r>
                      <a:endParaRPr sz="1800">
                        <a:solidFill>
                          <a:srgbClr val="FFFFFF"/>
                        </a:solidFill>
                      </a:endParaRPr>
                    </a:p>
                    <a:p>
                      <a:pPr indent="0" lvl="0" marL="0" rtl="0" algn="l">
                        <a:lnSpc>
                          <a:spcPct val="105000"/>
                        </a:lnSpc>
                        <a:spcBef>
                          <a:spcPts val="0"/>
                        </a:spcBef>
                        <a:spcAft>
                          <a:spcPts val="0"/>
                        </a:spcAft>
                        <a:buNone/>
                      </a:pPr>
                      <a:r>
                        <a:rPr lang="zh-CN" sz="1800">
                          <a:solidFill>
                            <a:srgbClr val="FFFFFF"/>
                          </a:solidFill>
                        </a:rPr>
                        <a:t>stay fixed</a:t>
                      </a:r>
                      <a:endParaRPr sz="1800">
                        <a:solidFill>
                          <a:srgbClr val="FFFFFF"/>
                        </a:solidFill>
                      </a:endParaRPr>
                    </a:p>
                  </a:txBody>
                  <a:tcPr marT="91425" marB="91425" marR="91425" marL="91425" anchor="ctr">
                    <a:lnL cap="flat" cmpd="sng" w="7625">
                      <a:solidFill>
                        <a:srgbClr val="425063"/>
                      </a:solidFill>
                      <a:prstDash val="solid"/>
                      <a:round/>
                      <a:headEnd len="sm" w="sm" type="none"/>
                      <a:tailEnd len="sm" w="sm" type="none"/>
                    </a:lnL>
                    <a:lnR cap="flat" cmpd="sng" w="7625">
                      <a:solidFill>
                        <a:srgbClr val="425063"/>
                      </a:solidFill>
                      <a:prstDash val="solid"/>
                      <a:round/>
                      <a:headEnd len="sm" w="sm" type="none"/>
                      <a:tailEnd len="sm" w="sm" type="none"/>
                    </a:lnR>
                    <a:lnT cap="flat" cmpd="sng" w="7625">
                      <a:solidFill>
                        <a:srgbClr val="425063"/>
                      </a:solidFill>
                      <a:prstDash val="solid"/>
                      <a:round/>
                      <a:headEnd len="sm" w="sm" type="none"/>
                      <a:tailEnd len="sm" w="sm" type="none"/>
                    </a:lnT>
                    <a:lnB cap="flat" cmpd="sng" w="7625">
                      <a:solidFill>
                        <a:srgbClr val="425063"/>
                      </a:solidFill>
                      <a:prstDash val="solid"/>
                      <a:round/>
                      <a:headEnd len="sm" w="sm" type="none"/>
                      <a:tailEnd len="sm" w="sm" type="none"/>
                    </a:lnB>
                    <a:solidFill>
                      <a:srgbClr val="111827"/>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 name="Shape 62"/>
        <p:cNvGrpSpPr/>
        <p:nvPr/>
      </p:nvGrpSpPr>
      <p:grpSpPr>
        <a:xfrm>
          <a:off x="0" y="0"/>
          <a:ext cx="0" cy="0"/>
          <a:chOff x="0" y="0"/>
          <a:chExt cx="0" cy="0"/>
        </a:xfrm>
      </p:grpSpPr>
      <p:sp>
        <p:nvSpPr>
          <p:cNvPr id="63" name="Google Shape;63;p14"/>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Kev and CLM: pros and cons</a:t>
            </a:r>
            <a:endParaRPr b="1" sz="3000">
              <a:solidFill>
                <a:srgbClr val="111829"/>
              </a:solidFill>
            </a:endParaRPr>
          </a:p>
        </p:txBody>
      </p:sp>
      <p:sp>
        <p:nvSpPr>
          <p:cNvPr id="64" name="Google Shape;64;p14"/>
          <p:cNvSpPr txBox="1"/>
          <p:nvPr/>
        </p:nvSpPr>
        <p:spPr>
          <a:xfrm>
            <a:off x="457200" y="4356100"/>
            <a:ext cx="8229600" cy="342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1700">
                <a:solidFill>
                  <a:srgbClr val="1A2433"/>
                </a:solidFill>
              </a:rPr>
              <a:t>Accuracy depends on the backbone, data and task.</a:t>
            </a:r>
            <a:endParaRPr sz="1700">
              <a:solidFill>
                <a:srgbClr val="1A2433"/>
              </a:solidFill>
            </a:endParaRPr>
          </a:p>
        </p:txBody>
      </p:sp>
      <p:sp>
        <p:nvSpPr>
          <p:cNvPr id="65" name="Google Shape;65;p14"/>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Architectural tradeoffs; neither approach is always better</a:t>
            </a:r>
            <a:endParaRPr sz="900">
              <a:solidFill>
                <a:srgbClr val="5E6E80"/>
              </a:solidFill>
            </a:endParaRPr>
          </a:p>
        </p:txBody>
      </p:sp>
      <p:sp>
        <p:nvSpPr>
          <p:cNvPr id="66" name="Google Shape;66;p14"/>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2</a:t>
            </a:r>
            <a:endParaRPr sz="900">
              <a:solidFill>
                <a:srgbClr val="5E6E80"/>
              </a:solidFill>
            </a:endParaRPr>
          </a:p>
        </p:txBody>
      </p:sp>
      <p:graphicFrame>
        <p:nvGraphicFramePr>
          <p:cNvPr id="67" name="Google Shape;67;p14"/>
          <p:cNvGraphicFramePr/>
          <p:nvPr/>
        </p:nvGraphicFramePr>
        <p:xfrm>
          <a:off x="457200" y="1295400"/>
          <a:ext cx="3000000" cy="3000000"/>
        </p:xfrm>
        <a:graphic>
          <a:graphicData uri="http://schemas.openxmlformats.org/drawingml/2006/table">
            <a:tbl>
              <a:tblPr>
                <a:noFill/>
                <a:tableStyleId>{7752FCCB-C744-403B-90CA-A14BC9C0A3A7}</a:tableStyleId>
              </a:tblPr>
              <a:tblGrid>
                <a:gridCol w="1346200"/>
                <a:gridCol w="3441700"/>
                <a:gridCol w="3441700"/>
              </a:tblGrid>
              <a:tr h="431800">
                <a:tc>
                  <a:txBody>
                    <a:bodyPr/>
                    <a:lstStyle/>
                    <a:p>
                      <a:pPr indent="0" lvl="0" marL="0" rtl="0" algn="l">
                        <a:lnSpc>
                          <a:spcPct val="105000"/>
                        </a:lnSpc>
                        <a:spcBef>
                          <a:spcPts val="0"/>
                        </a:spcBef>
                        <a:spcAft>
                          <a:spcPts val="0"/>
                        </a:spcAft>
                        <a:buNone/>
                      </a:pPr>
                      <a:r>
                        <a:rPr b="1" lang="zh-CN" sz="1800">
                          <a:solidFill>
                            <a:srgbClr val="1A2433"/>
                          </a:solidFill>
                        </a:rPr>
                        <a:t>Criterion</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c>
                  <a:txBody>
                    <a:bodyPr/>
                    <a:lstStyle/>
                    <a:p>
                      <a:pPr indent="0" lvl="0" marL="0" rtl="0" algn="l">
                        <a:lnSpc>
                          <a:spcPct val="105000"/>
                        </a:lnSpc>
                        <a:spcBef>
                          <a:spcPts val="0"/>
                        </a:spcBef>
                        <a:spcAft>
                          <a:spcPts val="0"/>
                        </a:spcAft>
                        <a:buNone/>
                      </a:pPr>
                      <a:r>
                        <a:rPr b="1" lang="zh-CN" sz="1800">
                          <a:solidFill>
                            <a:srgbClr val="1A2433"/>
                          </a:solidFill>
                        </a:rPr>
                        <a:t>Kev</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c>
                  <a:txBody>
                    <a:bodyPr/>
                    <a:lstStyle/>
                    <a:p>
                      <a:pPr indent="0" lvl="0" marL="0" rtl="0" algn="l">
                        <a:lnSpc>
                          <a:spcPct val="105000"/>
                        </a:lnSpc>
                        <a:spcBef>
                          <a:spcPts val="0"/>
                        </a:spcBef>
                        <a:spcAft>
                          <a:spcPts val="0"/>
                        </a:spcAft>
                        <a:buNone/>
                      </a:pPr>
                      <a:r>
                        <a:rPr b="1" lang="zh-CN" sz="1800">
                          <a:solidFill>
                            <a:srgbClr val="1A2433"/>
                          </a:solidFill>
                        </a:rPr>
                        <a:t>CLM</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r>
              <a:tr h="749300">
                <a:tc>
                  <a:txBody>
                    <a:bodyPr/>
                    <a:lstStyle/>
                    <a:p>
                      <a:pPr indent="0" lvl="0" marL="0" rtl="0" algn="l">
                        <a:lnSpc>
                          <a:spcPct val="105000"/>
                        </a:lnSpc>
                        <a:spcBef>
                          <a:spcPts val="0"/>
                        </a:spcBef>
                        <a:spcAft>
                          <a:spcPts val="0"/>
                        </a:spcAft>
                        <a:buNone/>
                      </a:pPr>
                      <a:r>
                        <a:rPr b="1" lang="zh-CN" sz="1800">
                          <a:solidFill>
                            <a:srgbClr val="1A2433"/>
                          </a:solidFill>
                        </a:rPr>
                        <a:t>Strength</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Adapts encoder features</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Small released models</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Reuses action embeddings</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Cheap repeated head training</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r h="749300">
                <a:tc>
                  <a:txBody>
                    <a:bodyPr/>
                    <a:lstStyle/>
                    <a:p>
                      <a:pPr indent="0" lvl="0" marL="0" rtl="0" algn="l">
                        <a:lnSpc>
                          <a:spcPct val="105000"/>
                        </a:lnSpc>
                        <a:spcBef>
                          <a:spcPts val="0"/>
                        </a:spcBef>
                        <a:spcAft>
                          <a:spcPts val="0"/>
                        </a:spcAft>
                        <a:buNone/>
                      </a:pPr>
                      <a:r>
                        <a:rPr b="1" lang="zh-CN" sz="1800">
                          <a:solidFill>
                            <a:srgbClr val="1A2433"/>
                          </a:solidFill>
                        </a:rPr>
                        <a:t>Tradeoff</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Backpropagates through</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the encoder for LoRA</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Depends on fixed features</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No joint token interaction</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r h="749300">
                <a:tc>
                  <a:txBody>
                    <a:bodyPr/>
                    <a:lstStyle/>
                    <a:p>
                      <a:pPr indent="0" lvl="0" marL="0" rtl="0" algn="l">
                        <a:lnSpc>
                          <a:spcPct val="105000"/>
                        </a:lnSpc>
                        <a:spcBef>
                          <a:spcPts val="0"/>
                        </a:spcBef>
                        <a:spcAft>
                          <a:spcPts val="0"/>
                        </a:spcAft>
                        <a:buNone/>
                      </a:pPr>
                      <a:r>
                        <a:rPr b="1" lang="zh-CN" sz="1800">
                          <a:solidFill>
                            <a:srgbClr val="1A2433"/>
                          </a:solidFill>
                        </a:rPr>
                        <a:t>Lab fit</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marR="0" rtl="0" algn="l">
                        <a:lnSpc>
                          <a:spcPct val="105000"/>
                        </a:lnSpc>
                        <a:spcBef>
                          <a:spcPts val="0"/>
                        </a:spcBef>
                        <a:spcAft>
                          <a:spcPts val="0"/>
                        </a:spcAft>
                        <a:buNone/>
                      </a:pPr>
                      <a:r>
                        <a:rPr lang="zh-CN" sz="1800">
                          <a:solidFill>
                            <a:srgbClr val="1A2433"/>
                          </a:solidFill>
                        </a:rPr>
                        <a:t>Main lab recipe</a:t>
                      </a:r>
                      <a:endParaRPr sz="1800">
                        <a:solidFill>
                          <a:srgbClr val="1A2433"/>
                        </a:solidFill>
                      </a:endParaRPr>
                    </a:p>
                    <a:p>
                      <a:pPr indent="0" lvl="0" marL="0" marR="0" rtl="0" algn="l">
                        <a:lnSpc>
                          <a:spcPct val="105000"/>
                        </a:lnSpc>
                        <a:spcBef>
                          <a:spcPts val="0"/>
                        </a:spcBef>
                        <a:spcAft>
                          <a:spcPts val="0"/>
                        </a:spcAft>
                        <a:buNone/>
                      </a:pPr>
                      <a:r>
                        <a:rPr lang="zh-CN" sz="1800">
                          <a:solidFill>
                            <a:srgbClr val="1A2433"/>
                          </a:solidFill>
                        </a:rPr>
                        <a:t>Full base stage is public</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marR="0" rtl="0" algn="l">
                        <a:lnSpc>
                          <a:spcPct val="105000"/>
                        </a:lnSpc>
                        <a:spcBef>
                          <a:spcPts val="0"/>
                        </a:spcBef>
                        <a:spcAft>
                          <a:spcPts val="0"/>
                        </a:spcAft>
                        <a:buNone/>
                      </a:pPr>
                      <a:r>
                        <a:rPr lang="zh-CN" sz="1800">
                          <a:solidFill>
                            <a:srgbClr val="1A2433"/>
                          </a:solidFill>
                        </a:rPr>
                        <a:t>Useful comparison</a:t>
                      </a:r>
                      <a:endParaRPr sz="1800">
                        <a:solidFill>
                          <a:srgbClr val="1A2433"/>
                        </a:solidFill>
                      </a:endParaRPr>
                    </a:p>
                    <a:p>
                      <a:pPr indent="0" lvl="0" marL="0" marR="0" rtl="0" algn="l">
                        <a:lnSpc>
                          <a:spcPct val="105000"/>
                        </a:lnSpc>
                        <a:spcBef>
                          <a:spcPts val="0"/>
                        </a:spcBef>
                        <a:spcAft>
                          <a:spcPts val="0"/>
                        </a:spcAft>
                        <a:buNone/>
                      </a:pPr>
                      <a:r>
                        <a:rPr lang="zh-CN" sz="1800">
                          <a:solidFill>
                            <a:srgbClr val="1A2433"/>
                          </a:solidFill>
                        </a:rPr>
                        <a:t>Fixed-feature head training</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 name="Shape 71"/>
        <p:cNvGrpSpPr/>
        <p:nvPr/>
      </p:nvGrpSpPr>
      <p:grpSpPr>
        <a:xfrm>
          <a:off x="0" y="0"/>
          <a:ext cx="0" cy="0"/>
          <a:chOff x="0" y="0"/>
          <a:chExt cx="0" cy="0"/>
        </a:xfrm>
      </p:grpSpPr>
      <p:sp>
        <p:nvSpPr>
          <p:cNvPr id="72" name="Google Shape;72;p15"/>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Training cost</a:t>
            </a:r>
            <a:endParaRPr b="1" sz="3000">
              <a:solidFill>
                <a:srgbClr val="111829"/>
              </a:solidFill>
            </a:endParaRPr>
          </a:p>
        </p:txBody>
      </p:sp>
      <p:sp>
        <p:nvSpPr>
          <p:cNvPr id="73" name="Google Shape;73;p15"/>
          <p:cNvSpPr txBox="1"/>
          <p:nvPr/>
        </p:nvSpPr>
        <p:spPr>
          <a:xfrm>
            <a:off x="457200" y="4356100"/>
            <a:ext cx="8229600" cy="342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1700">
                <a:solidFill>
                  <a:srgbClr val="1A2433"/>
                </a:solidFill>
              </a:rPr>
              <a:t>Compare total cost: feature extraction + all training runs.</a:t>
            </a:r>
            <a:endParaRPr sz="1700">
              <a:solidFill>
                <a:srgbClr val="1A2433"/>
              </a:solidFill>
            </a:endParaRPr>
          </a:p>
        </p:txBody>
      </p:sp>
      <p:sp>
        <p:nvSpPr>
          <p:cNvPr id="74" name="Google Shape;74;p15"/>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CLM's reported ~1-hour run assumes precomputed embeddings</a:t>
            </a:r>
            <a:endParaRPr sz="900">
              <a:solidFill>
                <a:srgbClr val="5E6E80"/>
              </a:solidFill>
            </a:endParaRPr>
          </a:p>
        </p:txBody>
      </p:sp>
      <p:sp>
        <p:nvSpPr>
          <p:cNvPr id="75" name="Google Shape;75;p15"/>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3</a:t>
            </a:r>
            <a:endParaRPr sz="900">
              <a:solidFill>
                <a:srgbClr val="5E6E80"/>
              </a:solidFill>
            </a:endParaRPr>
          </a:p>
        </p:txBody>
      </p:sp>
      <p:graphicFrame>
        <p:nvGraphicFramePr>
          <p:cNvPr id="76" name="Google Shape;76;p15"/>
          <p:cNvGraphicFramePr/>
          <p:nvPr/>
        </p:nvGraphicFramePr>
        <p:xfrm>
          <a:off x="457200" y="1295400"/>
          <a:ext cx="3000000" cy="3000000"/>
        </p:xfrm>
        <a:graphic>
          <a:graphicData uri="http://schemas.openxmlformats.org/drawingml/2006/table">
            <a:tbl>
              <a:tblPr>
                <a:noFill/>
                <a:tableStyleId>{7752FCCB-C744-403B-90CA-A14BC9C0A3A7}</a:tableStyleId>
              </a:tblPr>
              <a:tblGrid>
                <a:gridCol w="1346200"/>
                <a:gridCol w="3441700"/>
                <a:gridCol w="3441700"/>
              </a:tblGrid>
              <a:tr h="431800">
                <a:tc>
                  <a:txBody>
                    <a:bodyPr/>
                    <a:lstStyle/>
                    <a:p>
                      <a:pPr indent="0" lvl="0" marL="0" rtl="0" algn="l">
                        <a:lnSpc>
                          <a:spcPct val="105000"/>
                        </a:lnSpc>
                        <a:spcBef>
                          <a:spcPts val="0"/>
                        </a:spcBef>
                        <a:spcAft>
                          <a:spcPts val="0"/>
                        </a:spcAft>
                        <a:buNone/>
                      </a:pPr>
                      <a:r>
                        <a:rPr b="1" lang="zh-CN" sz="1800">
                          <a:solidFill>
                            <a:srgbClr val="1A2433"/>
                          </a:solidFill>
                        </a:rPr>
                        <a:t>Work</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c>
                  <a:txBody>
                    <a:bodyPr/>
                    <a:lstStyle/>
                    <a:p>
                      <a:pPr indent="0" lvl="0" marL="0" rtl="0" algn="l">
                        <a:lnSpc>
                          <a:spcPct val="105000"/>
                        </a:lnSpc>
                        <a:spcBef>
                          <a:spcPts val="0"/>
                        </a:spcBef>
                        <a:spcAft>
                          <a:spcPts val="0"/>
                        </a:spcAft>
                        <a:buNone/>
                      </a:pPr>
                      <a:r>
                        <a:rPr b="1" lang="zh-CN" sz="1800">
                          <a:solidFill>
                            <a:srgbClr val="1A2433"/>
                          </a:solidFill>
                        </a:rPr>
                        <a:t>Kev LoRA</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c>
                  <a:txBody>
                    <a:bodyPr/>
                    <a:lstStyle/>
                    <a:p>
                      <a:pPr indent="0" lvl="0" marL="0" rtl="0" algn="l">
                        <a:lnSpc>
                          <a:spcPct val="105000"/>
                        </a:lnSpc>
                        <a:spcBef>
                          <a:spcPts val="0"/>
                        </a:spcBef>
                        <a:spcAft>
                          <a:spcPts val="0"/>
                        </a:spcAft>
                        <a:buNone/>
                      </a:pPr>
                      <a:r>
                        <a:rPr b="1" lang="zh-CN" sz="1800">
                          <a:solidFill>
                            <a:srgbClr val="1A2433"/>
                          </a:solidFill>
                        </a:rPr>
                        <a:t>CLM heads</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r>
              <a:tr h="749300">
                <a:tc>
                  <a:txBody>
                    <a:bodyPr/>
                    <a:lstStyle/>
                    <a:p>
                      <a:pPr indent="0" lvl="0" marL="0" rtl="0" algn="l">
                        <a:lnSpc>
                          <a:spcPct val="105000"/>
                        </a:lnSpc>
                        <a:spcBef>
                          <a:spcPts val="0"/>
                        </a:spcBef>
                        <a:spcAft>
                          <a:spcPts val="0"/>
                        </a:spcAft>
                        <a:buNone/>
                      </a:pPr>
                      <a:r>
                        <a:rPr b="1" lang="zh-CN" sz="1800">
                          <a:solidFill>
                            <a:srgbClr val="1A2433"/>
                          </a:solidFill>
                        </a:rPr>
                        <a:t>Encoder</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Forward + backward</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during each training run</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Extract fixed features</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once for each text</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r h="749300">
                <a:tc>
                  <a:txBody>
                    <a:bodyPr/>
                    <a:lstStyle/>
                    <a:p>
                      <a:pPr indent="0" lvl="0" marL="0" rtl="0" algn="l">
                        <a:lnSpc>
                          <a:spcPct val="105000"/>
                        </a:lnSpc>
                        <a:spcBef>
                          <a:spcPts val="0"/>
                        </a:spcBef>
                        <a:spcAft>
                          <a:spcPts val="0"/>
                        </a:spcAft>
                        <a:buNone/>
                      </a:pPr>
                      <a:r>
                        <a:rPr b="1" lang="zh-CN" sz="1800">
                          <a:solidFill>
                            <a:srgbClr val="1A2433"/>
                          </a:solidFill>
                        </a:rPr>
                        <a:t>Repeat runs</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Repeat encoder compute</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for every experiment</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Reuse feature cache</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Train heads only</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r h="749300">
                <a:tc>
                  <a:txBody>
                    <a:bodyPr/>
                    <a:lstStyle/>
                    <a:p>
                      <a:pPr indent="0" lvl="0" marL="0" rtl="0" algn="l">
                        <a:lnSpc>
                          <a:spcPct val="105000"/>
                        </a:lnSpc>
                        <a:spcBef>
                          <a:spcPts val="0"/>
                        </a:spcBef>
                        <a:spcAft>
                          <a:spcPts val="0"/>
                        </a:spcAft>
                        <a:buNone/>
                      </a:pPr>
                      <a:r>
                        <a:rPr b="1" lang="zh-CN" sz="1800">
                          <a:solidFill>
                            <a:srgbClr val="1A2433"/>
                          </a:solidFill>
                        </a:rPr>
                        <a:t>Budget</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Encoder activations</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plus adapter optimizer</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Feature extraction cost</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plus head optimizer</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16"/>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Serving cost and model size</a:t>
            </a:r>
            <a:endParaRPr b="1" sz="3000">
              <a:solidFill>
                <a:srgbClr val="111829"/>
              </a:solidFill>
            </a:endParaRPr>
          </a:p>
        </p:txBody>
      </p:sp>
      <p:sp>
        <p:nvSpPr>
          <p:cNvPr id="82" name="Google Shape;82;p16"/>
          <p:cNvSpPr txBox="1"/>
          <p:nvPr/>
        </p:nvSpPr>
        <p:spPr>
          <a:xfrm>
            <a:off x="457200" y="4356100"/>
            <a:ext cx="8229600" cy="342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1700">
                <a:solidFill>
                  <a:srgbClr val="1A2433"/>
                </a:solidFill>
              </a:rPr>
              <a:t>*Parameter count × 2 bytes; excludes heads, cache and runtime.</a:t>
            </a:r>
            <a:endParaRPr sz="1700">
              <a:solidFill>
                <a:srgbClr val="1A2433"/>
              </a:solidFill>
            </a:endParaRPr>
          </a:p>
        </p:txBody>
      </p:sp>
      <p:sp>
        <p:nvSpPr>
          <p:cNvPr id="83" name="Google Shape;83;p16"/>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Raw weight arithmetic is not a measured VRAM requirement</a:t>
            </a:r>
            <a:endParaRPr sz="900">
              <a:solidFill>
                <a:srgbClr val="5E6E80"/>
              </a:solidFill>
            </a:endParaRPr>
          </a:p>
        </p:txBody>
      </p:sp>
      <p:sp>
        <p:nvSpPr>
          <p:cNvPr id="84" name="Google Shape;84;p16"/>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4</a:t>
            </a:r>
            <a:endParaRPr sz="900">
              <a:solidFill>
                <a:srgbClr val="5E6E80"/>
              </a:solidFill>
            </a:endParaRPr>
          </a:p>
        </p:txBody>
      </p:sp>
      <p:graphicFrame>
        <p:nvGraphicFramePr>
          <p:cNvPr id="85" name="Google Shape;85;p16"/>
          <p:cNvGraphicFramePr/>
          <p:nvPr/>
        </p:nvGraphicFramePr>
        <p:xfrm>
          <a:off x="457200" y="1295400"/>
          <a:ext cx="3000000" cy="3000000"/>
        </p:xfrm>
        <a:graphic>
          <a:graphicData uri="http://schemas.openxmlformats.org/drawingml/2006/table">
            <a:tbl>
              <a:tblPr>
                <a:noFill/>
                <a:tableStyleId>{7752FCCB-C744-403B-90CA-A14BC9C0A3A7}</a:tableStyleId>
              </a:tblPr>
              <a:tblGrid>
                <a:gridCol w="1346200"/>
                <a:gridCol w="3441700"/>
                <a:gridCol w="3441700"/>
              </a:tblGrid>
              <a:tr h="431800">
                <a:tc>
                  <a:txBody>
                    <a:bodyPr/>
                    <a:lstStyle/>
                    <a:p>
                      <a:pPr indent="0" lvl="0" marL="0" rtl="0" algn="l">
                        <a:lnSpc>
                          <a:spcPct val="105000"/>
                        </a:lnSpc>
                        <a:spcBef>
                          <a:spcPts val="0"/>
                        </a:spcBef>
                        <a:spcAft>
                          <a:spcPts val="0"/>
                        </a:spcAft>
                        <a:buNone/>
                      </a:pPr>
                      <a:r>
                        <a:rPr b="1" lang="zh-CN" sz="1800">
                          <a:solidFill>
                            <a:srgbClr val="1A2433"/>
                          </a:solidFill>
                        </a:rPr>
                        <a:t>Factor</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c>
                  <a:txBody>
                    <a:bodyPr/>
                    <a:lstStyle/>
                    <a:p>
                      <a:pPr indent="0" lvl="0" marL="0" rtl="0" algn="l">
                        <a:lnSpc>
                          <a:spcPct val="105000"/>
                        </a:lnSpc>
                        <a:spcBef>
                          <a:spcPts val="0"/>
                        </a:spcBef>
                        <a:spcAft>
                          <a:spcPts val="0"/>
                        </a:spcAft>
                        <a:buNone/>
                      </a:pPr>
                      <a:r>
                        <a:rPr b="1" lang="zh-CN" sz="1800">
                          <a:solidFill>
                            <a:srgbClr val="1A2433"/>
                          </a:solidFill>
                        </a:rPr>
                        <a:t>Kev</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c>
                  <a:txBody>
                    <a:bodyPr/>
                    <a:lstStyle/>
                    <a:p>
                      <a:pPr indent="0" lvl="0" marL="0" rtl="0" algn="l">
                        <a:lnSpc>
                          <a:spcPct val="105000"/>
                        </a:lnSpc>
                        <a:spcBef>
                          <a:spcPts val="0"/>
                        </a:spcBef>
                        <a:spcAft>
                          <a:spcPts val="0"/>
                        </a:spcAft>
                        <a:buNone/>
                      </a:pPr>
                      <a:r>
                        <a:rPr b="1" lang="zh-CN" sz="1800">
                          <a:solidFill>
                            <a:srgbClr val="1A2433"/>
                          </a:solidFill>
                        </a:rPr>
                        <a:t>CLM</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r>
              <a:tr h="749300">
                <a:tc>
                  <a:txBody>
                    <a:bodyPr/>
                    <a:lstStyle/>
                    <a:p>
                      <a:pPr indent="0" lvl="0" marL="0" rtl="0" algn="l">
                        <a:lnSpc>
                          <a:spcPct val="105000"/>
                        </a:lnSpc>
                        <a:spcBef>
                          <a:spcPts val="0"/>
                        </a:spcBef>
                        <a:spcAft>
                          <a:spcPts val="0"/>
                        </a:spcAft>
                        <a:buNone/>
                      </a:pPr>
                      <a:r>
                        <a:rPr b="1" lang="zh-CN" sz="1800">
                          <a:solidFill>
                            <a:srgbClr val="1A2433"/>
                          </a:solidFill>
                        </a:rPr>
                        <a:t>Each new state</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Encode state and options</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Score pointer outputs</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Encode state + question</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Score cached actions</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r h="749300">
                <a:tc>
                  <a:txBody>
                    <a:bodyPr/>
                    <a:lstStyle/>
                    <a:p>
                      <a:pPr indent="0" lvl="0" marL="0" rtl="0" algn="l">
                        <a:lnSpc>
                          <a:spcPct val="105000"/>
                        </a:lnSpc>
                        <a:spcBef>
                          <a:spcPts val="0"/>
                        </a:spcBef>
                        <a:spcAft>
                          <a:spcPts val="0"/>
                        </a:spcAft>
                        <a:buNone/>
                      </a:pPr>
                      <a:r>
                        <a:rPr b="1" lang="zh-CN" sz="1800">
                          <a:solidFill>
                            <a:srgbClr val="1A2433"/>
                          </a:solidFill>
                        </a:rPr>
                        <a:t>Useful cache</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Shared state prefix</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across questions</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Independent action vectors</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across changing states</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r h="749300">
                <a:tc>
                  <a:txBody>
                    <a:bodyPr/>
                    <a:lstStyle/>
                    <a:p>
                      <a:pPr indent="0" lvl="0" marL="0" rtl="0" algn="l">
                        <a:lnSpc>
                          <a:spcPct val="105000"/>
                        </a:lnSpc>
                        <a:spcBef>
                          <a:spcPts val="0"/>
                        </a:spcBef>
                        <a:spcAft>
                          <a:spcPts val="0"/>
                        </a:spcAft>
                        <a:buNone/>
                      </a:pPr>
                      <a:r>
                        <a:rPr b="1" lang="zh-CN" sz="1800">
                          <a:solidFill>
                            <a:srgbClr val="1A2433"/>
                          </a:solidFill>
                        </a:rPr>
                        <a:t>BF16 weights*</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0.8B: ~1.6 GB</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4B: ~8 GB</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8B reference: ~16 GB</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Two paths can share weights</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17"/>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Performance evidence</a:t>
            </a:r>
            <a:endParaRPr b="1" sz="3000">
              <a:solidFill>
                <a:srgbClr val="111829"/>
              </a:solidFill>
            </a:endParaRPr>
          </a:p>
        </p:txBody>
      </p:sp>
      <p:sp>
        <p:nvSpPr>
          <p:cNvPr id="91" name="Google Shape;91;p17"/>
          <p:cNvSpPr txBox="1"/>
          <p:nvPr/>
        </p:nvSpPr>
        <p:spPr>
          <a:xfrm>
            <a:off x="457200" y="4356100"/>
            <a:ext cx="8229600" cy="342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1700">
                <a:solidFill>
                  <a:srgbClr val="1A2433"/>
                </a:solidFill>
              </a:rPr>
              <a:t>These reports do not establish a Kev-versus-CLM speed ranking.</a:t>
            </a:r>
            <a:endParaRPr sz="1700">
              <a:solidFill>
                <a:srgbClr val="1A2433"/>
              </a:solidFill>
            </a:endParaRPr>
          </a:p>
        </p:txBody>
      </p:sp>
      <p:sp>
        <p:nvSpPr>
          <p:cNvPr id="92" name="Google Shape;92;p17"/>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Different hardware and workloads; use a paired lab benchmark</a:t>
            </a:r>
            <a:endParaRPr sz="900">
              <a:solidFill>
                <a:srgbClr val="5E6E80"/>
              </a:solidFill>
            </a:endParaRPr>
          </a:p>
        </p:txBody>
      </p:sp>
      <p:sp>
        <p:nvSpPr>
          <p:cNvPr id="93" name="Google Shape;93;p17"/>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5</a:t>
            </a:r>
            <a:endParaRPr sz="900">
              <a:solidFill>
                <a:srgbClr val="5E6E80"/>
              </a:solidFill>
            </a:endParaRPr>
          </a:p>
        </p:txBody>
      </p:sp>
      <p:graphicFrame>
        <p:nvGraphicFramePr>
          <p:cNvPr id="94" name="Google Shape;94;p17"/>
          <p:cNvGraphicFramePr/>
          <p:nvPr/>
        </p:nvGraphicFramePr>
        <p:xfrm>
          <a:off x="457200" y="1295400"/>
          <a:ext cx="3000000" cy="3000000"/>
        </p:xfrm>
        <a:graphic>
          <a:graphicData uri="http://schemas.openxmlformats.org/drawingml/2006/table">
            <a:tbl>
              <a:tblPr>
                <a:noFill/>
                <a:tableStyleId>{7752FCCB-C744-403B-90CA-A14BC9C0A3A7}</a:tableStyleId>
              </a:tblPr>
              <a:tblGrid>
                <a:gridCol w="2146300"/>
                <a:gridCol w="3048000"/>
                <a:gridCol w="3035300"/>
              </a:tblGrid>
              <a:tr h="431800">
                <a:tc>
                  <a:txBody>
                    <a:bodyPr/>
                    <a:lstStyle/>
                    <a:p>
                      <a:pPr indent="0" lvl="0" marL="0" rtl="0" algn="l">
                        <a:lnSpc>
                          <a:spcPct val="105000"/>
                        </a:lnSpc>
                        <a:spcBef>
                          <a:spcPts val="0"/>
                        </a:spcBef>
                        <a:spcAft>
                          <a:spcPts val="0"/>
                        </a:spcAft>
                        <a:buNone/>
                      </a:pPr>
                      <a:r>
                        <a:rPr b="1" lang="zh-CN" sz="1800">
                          <a:solidFill>
                            <a:srgbClr val="1A2433"/>
                          </a:solidFill>
                        </a:rPr>
                        <a:t>Published result</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c>
                  <a:txBody>
                    <a:bodyPr/>
                    <a:lstStyle/>
                    <a:p>
                      <a:pPr indent="0" lvl="0" marL="0" rtl="0" algn="l">
                        <a:lnSpc>
                          <a:spcPct val="105000"/>
                        </a:lnSpc>
                        <a:spcBef>
                          <a:spcPts val="0"/>
                        </a:spcBef>
                        <a:spcAft>
                          <a:spcPts val="0"/>
                        </a:spcAft>
                        <a:buNone/>
                      </a:pPr>
                      <a:r>
                        <a:rPr b="1" lang="zh-CN" sz="1800">
                          <a:solidFill>
                            <a:srgbClr val="1A2433"/>
                          </a:solidFill>
                        </a:rPr>
                        <a:t>Setup</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c>
                  <a:txBody>
                    <a:bodyPr/>
                    <a:lstStyle/>
                    <a:p>
                      <a:pPr indent="0" lvl="0" marL="0" rtl="0" algn="l">
                        <a:lnSpc>
                          <a:spcPct val="105000"/>
                        </a:lnSpc>
                        <a:spcBef>
                          <a:spcPts val="0"/>
                        </a:spcBef>
                        <a:spcAft>
                          <a:spcPts val="0"/>
                        </a:spcAft>
                        <a:buNone/>
                      </a:pPr>
                      <a:r>
                        <a:rPr b="1" lang="zh-CN" sz="1800">
                          <a:solidFill>
                            <a:srgbClr val="1A2433"/>
                          </a:solidFill>
                        </a:rPr>
                        <a:t>What it supports</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r>
              <a:tr h="749300">
                <a:tc>
                  <a:txBody>
                    <a:bodyPr/>
                    <a:lstStyle/>
                    <a:p>
                      <a:pPr indent="0" lvl="0" marL="0" rtl="0" algn="l">
                        <a:lnSpc>
                          <a:spcPct val="105000"/>
                        </a:lnSpc>
                        <a:spcBef>
                          <a:spcPts val="0"/>
                        </a:spcBef>
                        <a:spcAft>
                          <a:spcPts val="0"/>
                        </a:spcAft>
                        <a:buNone/>
                      </a:pPr>
                      <a:r>
                        <a:rPr b="1" lang="zh-CN" sz="1800">
                          <a:solidFill>
                            <a:srgbClr val="1A2433"/>
                          </a:solidFill>
                        </a:rPr>
                        <a:t>CLM: 36-44 ms</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RTX 4090; cached actions</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1-1,024 candidates</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Low added cost as the</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action set grows</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r h="749300">
                <a:tc>
                  <a:txBody>
                    <a:bodyPr/>
                    <a:lstStyle/>
                    <a:p>
                      <a:pPr indent="0" lvl="0" marL="0" rtl="0" algn="l">
                        <a:lnSpc>
                          <a:spcPct val="105000"/>
                        </a:lnSpc>
                        <a:spcBef>
                          <a:spcPts val="0"/>
                        </a:spcBef>
                        <a:spcAft>
                          <a:spcPts val="0"/>
                        </a:spcAft>
                        <a:buNone/>
                      </a:pPr>
                      <a:r>
                        <a:rPr b="1" lang="zh-CN" sz="1800">
                          <a:solidFill>
                            <a:srgbClr val="1A2433"/>
                          </a:solidFill>
                        </a:rPr>
                        <a:t>Kev-4B: 12 ms</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RTX PRO 6000</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One question; median</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Fast serving in that</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llama.cpp setup</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r h="749300">
                <a:tc>
                  <a:txBody>
                    <a:bodyPr/>
                    <a:lstStyle/>
                    <a:p>
                      <a:pPr indent="0" lvl="0" marL="0" rtl="0" algn="l">
                        <a:lnSpc>
                          <a:spcPct val="105000"/>
                        </a:lnSpc>
                        <a:spcBef>
                          <a:spcPts val="0"/>
                        </a:spcBef>
                        <a:spcAft>
                          <a:spcPts val="0"/>
                        </a:spcAft>
                        <a:buNone/>
                      </a:pPr>
                      <a:r>
                        <a:rPr b="1" lang="zh-CN" sz="1800">
                          <a:solidFill>
                            <a:srgbClr val="1A2433"/>
                          </a:solidFill>
                        </a:rPr>
                        <a:t>Kev vs CLM</a:t>
                      </a:r>
                      <a:endParaRPr b="1"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No matched Pac-Man</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comparison established</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800">
                          <a:solidFill>
                            <a:srgbClr val="1A2433"/>
                          </a:solidFill>
                        </a:rPr>
                        <a:t>Measure skill, latency</a:t>
                      </a:r>
                      <a:endParaRPr sz="1800">
                        <a:solidFill>
                          <a:srgbClr val="1A2433"/>
                        </a:solidFill>
                      </a:endParaRPr>
                    </a:p>
                    <a:p>
                      <a:pPr indent="0" lvl="0" marL="0" rtl="0" algn="l">
                        <a:lnSpc>
                          <a:spcPct val="105000"/>
                        </a:lnSpc>
                        <a:spcBef>
                          <a:spcPts val="0"/>
                        </a:spcBef>
                        <a:spcAft>
                          <a:spcPts val="0"/>
                        </a:spcAft>
                        <a:buNone/>
                      </a:pPr>
                      <a:r>
                        <a:rPr lang="zh-CN" sz="1800">
                          <a:solidFill>
                            <a:srgbClr val="1A2433"/>
                          </a:solidFill>
                        </a:rPr>
                        <a:t>and memory together</a:t>
                      </a:r>
                      <a:endParaRPr sz="18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18"/>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Models supported by llama.cpp</a:t>
            </a:r>
            <a:endParaRPr b="1" sz="3000">
              <a:solidFill>
                <a:srgbClr val="111829"/>
              </a:solidFill>
            </a:endParaRPr>
          </a:p>
        </p:txBody>
      </p:sp>
      <p:sp>
        <p:nvSpPr>
          <p:cNvPr id="100" name="Google Shape;100;p18"/>
          <p:cNvSpPr txBox="1"/>
          <p:nvPr/>
        </p:nvSpPr>
        <p:spPr>
          <a:xfrm>
            <a:off x="457200" y="4470400"/>
            <a:ext cx="8229600" cy="2793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1500">
                <a:solidFill>
                  <a:srgbClr val="1A2433"/>
                </a:solidFill>
              </a:rPr>
              <a:t>CLM is outside this release's five supported models.</a:t>
            </a:r>
            <a:endParaRPr sz="1500">
              <a:solidFill>
                <a:srgbClr val="1A2433"/>
              </a:solidFill>
            </a:endParaRPr>
          </a:p>
        </p:txBody>
      </p:sp>
      <p:sp>
        <p:nvSpPr>
          <p:cNvPr id="101" name="Google Shape;101;p18"/>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Julia, Laya, Kev and lev: Apache 2.0 | OpenJev: CC BY-NC 4.0</a:t>
            </a:r>
            <a:endParaRPr sz="900">
              <a:solidFill>
                <a:srgbClr val="5E6E80"/>
              </a:solidFill>
            </a:endParaRPr>
          </a:p>
        </p:txBody>
      </p:sp>
      <p:sp>
        <p:nvSpPr>
          <p:cNvPr id="102" name="Google Shape;102;p18"/>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6</a:t>
            </a:r>
            <a:endParaRPr sz="900">
              <a:solidFill>
                <a:srgbClr val="5E6E80"/>
              </a:solidFill>
            </a:endParaRPr>
          </a:p>
        </p:txBody>
      </p:sp>
      <p:graphicFrame>
        <p:nvGraphicFramePr>
          <p:cNvPr id="103" name="Google Shape;103;p18"/>
          <p:cNvGraphicFramePr/>
          <p:nvPr/>
        </p:nvGraphicFramePr>
        <p:xfrm>
          <a:off x="457200" y="1193800"/>
          <a:ext cx="3000000" cy="3000000"/>
        </p:xfrm>
        <a:graphic>
          <a:graphicData uri="http://schemas.openxmlformats.org/drawingml/2006/table">
            <a:tbl>
              <a:tblPr>
                <a:noFill/>
                <a:tableStyleId>{7752FCCB-C744-403B-90CA-A14BC9C0A3A7}</a:tableStyleId>
              </a:tblPr>
              <a:tblGrid>
                <a:gridCol w="1041400"/>
                <a:gridCol w="1435100"/>
                <a:gridCol w="2451100"/>
                <a:gridCol w="3302000"/>
              </a:tblGrid>
              <a:tr h="381000">
                <a:tc>
                  <a:txBody>
                    <a:bodyPr/>
                    <a:lstStyle/>
                    <a:p>
                      <a:pPr indent="0" lvl="0" marL="0" rtl="0" algn="l">
                        <a:lnSpc>
                          <a:spcPct val="105000"/>
                        </a:lnSpc>
                        <a:spcBef>
                          <a:spcPts val="0"/>
                        </a:spcBef>
                        <a:spcAft>
                          <a:spcPts val="0"/>
                        </a:spcAft>
                        <a:buNone/>
                      </a:pPr>
                      <a:r>
                        <a:rPr b="1" lang="zh-CN" sz="1500">
                          <a:solidFill>
                            <a:srgbClr val="1A2433"/>
                          </a:solidFill>
                        </a:rPr>
                        <a:t>Model</a:t>
                      </a:r>
                      <a:endParaRPr b="1"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c>
                  <a:txBody>
                    <a:bodyPr/>
                    <a:lstStyle/>
                    <a:p>
                      <a:pPr indent="0" lvl="0" marL="0" rtl="0" algn="l">
                        <a:lnSpc>
                          <a:spcPct val="105000"/>
                        </a:lnSpc>
                        <a:spcBef>
                          <a:spcPts val="0"/>
                        </a:spcBef>
                        <a:spcAft>
                          <a:spcPts val="0"/>
                        </a:spcAft>
                        <a:buNone/>
                      </a:pPr>
                      <a:r>
                        <a:rPr b="1" lang="zh-CN" sz="1500">
                          <a:solidFill>
                            <a:srgbClr val="1A2433"/>
                          </a:solidFill>
                        </a:rPr>
                        <a:t>Readout</a:t>
                      </a:r>
                      <a:endParaRPr b="1"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c>
                  <a:txBody>
                    <a:bodyPr/>
                    <a:lstStyle/>
                    <a:p>
                      <a:pPr indent="0" lvl="0" marL="0" rtl="0" algn="l">
                        <a:lnSpc>
                          <a:spcPct val="105000"/>
                        </a:lnSpc>
                        <a:spcBef>
                          <a:spcPts val="0"/>
                        </a:spcBef>
                        <a:spcAft>
                          <a:spcPts val="0"/>
                        </a:spcAft>
                        <a:buNone/>
                      </a:pPr>
                      <a:r>
                        <a:rPr b="1" lang="zh-CN" sz="1500">
                          <a:solidFill>
                            <a:srgbClr val="1A2433"/>
                          </a:solidFill>
                        </a:rPr>
                        <a:t>Useful strength</a:t>
                      </a:r>
                      <a:endParaRPr b="1"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c>
                  <a:txBody>
                    <a:bodyPr/>
                    <a:lstStyle/>
                    <a:p>
                      <a:pPr indent="0" lvl="0" marL="0" rtl="0" algn="l">
                        <a:lnSpc>
                          <a:spcPct val="105000"/>
                        </a:lnSpc>
                        <a:spcBef>
                          <a:spcPts val="0"/>
                        </a:spcBef>
                        <a:spcAft>
                          <a:spcPts val="0"/>
                        </a:spcAft>
                        <a:buNone/>
                      </a:pPr>
                      <a:r>
                        <a:rPr b="1" lang="zh-CN" sz="1500">
                          <a:solidFill>
                            <a:srgbClr val="1A2433"/>
                          </a:solidFill>
                        </a:rPr>
                        <a:t>Main tradeoff</a:t>
                      </a:r>
                      <a:endParaRPr b="1"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E8EDF3"/>
                    </a:solidFill>
                  </a:tcPr>
                </a:tc>
              </a:tr>
              <a:tr h="546100">
                <a:tc>
                  <a:txBody>
                    <a:bodyPr/>
                    <a:lstStyle/>
                    <a:p>
                      <a:pPr indent="0" lvl="0" marL="0" rtl="0" algn="l">
                        <a:lnSpc>
                          <a:spcPct val="105000"/>
                        </a:lnSpc>
                        <a:spcBef>
                          <a:spcPts val="0"/>
                        </a:spcBef>
                        <a:spcAft>
                          <a:spcPts val="0"/>
                        </a:spcAft>
                        <a:buNone/>
                      </a:pPr>
                      <a:r>
                        <a:rPr b="1" lang="zh-CN" sz="1500">
                          <a:solidFill>
                            <a:srgbClr val="1A2433"/>
                          </a:solidFill>
                        </a:rPr>
                        <a:t>Julia-1</a:t>
                      </a:r>
                      <a:endParaRPr b="1" sz="1500">
                        <a:solidFill>
                          <a:srgbClr val="1A2433"/>
                        </a:solidFill>
                      </a:endParaRPr>
                    </a:p>
                    <a:p>
                      <a:pPr indent="0" lvl="0" marL="0" rtl="0" algn="l">
                        <a:lnSpc>
                          <a:spcPct val="105000"/>
                        </a:lnSpc>
                        <a:spcBef>
                          <a:spcPts val="0"/>
                        </a:spcBef>
                        <a:spcAft>
                          <a:spcPts val="0"/>
                        </a:spcAft>
                        <a:buNone/>
                      </a:pPr>
                      <a:r>
                        <a:rPr b="1" lang="zh-CN" sz="1500">
                          <a:solidFill>
                            <a:srgbClr val="1A2433"/>
                          </a:solidFill>
                        </a:rPr>
                        <a:t>144M</a:t>
                      </a:r>
                      <a:endParaRPr b="1"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500">
                          <a:solidFill>
                            <a:srgbClr val="1A2433"/>
                          </a:solidFill>
                        </a:rPr>
                        <a:t>Option-marker</a:t>
                      </a:r>
                      <a:endParaRPr sz="1500">
                        <a:solidFill>
                          <a:srgbClr val="1A2433"/>
                        </a:solidFill>
                      </a:endParaRPr>
                    </a:p>
                    <a:p>
                      <a:pPr indent="0" lvl="0" marL="0" rtl="0" algn="l">
                        <a:lnSpc>
                          <a:spcPct val="105000"/>
                        </a:lnSpc>
                        <a:spcBef>
                          <a:spcPts val="0"/>
                        </a:spcBef>
                        <a:spcAft>
                          <a:spcPts val="0"/>
                        </a:spcAft>
                        <a:buNone/>
                      </a:pPr>
                      <a:r>
                        <a:rPr lang="zh-CN" sz="1500">
                          <a:solidFill>
                            <a:srgbClr val="1A2433"/>
                          </a:solidFill>
                        </a:rPr>
                        <a:t>head</a:t>
                      </a:r>
                      <a:endParaRPr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500">
                          <a:solidFill>
                            <a:srgbClr val="1A2433"/>
                          </a:solidFill>
                        </a:rPr>
                        <a:t>Small; multilingual</a:t>
                      </a:r>
                      <a:endParaRPr sz="1500">
                        <a:solidFill>
                          <a:srgbClr val="1A2433"/>
                        </a:solidFill>
                      </a:endParaRPr>
                    </a:p>
                    <a:p>
                      <a:pPr indent="0" lvl="0" marL="0" rtl="0" algn="l">
                        <a:lnSpc>
                          <a:spcPct val="105000"/>
                        </a:lnSpc>
                        <a:spcBef>
                          <a:spcPts val="0"/>
                        </a:spcBef>
                        <a:spcAft>
                          <a:spcPts val="0"/>
                        </a:spcAft>
                        <a:buNone/>
                      </a:pPr>
                      <a:r>
                        <a:rPr lang="zh-CN" sz="1500">
                          <a:solidFill>
                            <a:srgbClr val="1A2433"/>
                          </a:solidFill>
                        </a:rPr>
                        <a:t>50+ languages</a:t>
                      </a:r>
                      <a:endParaRPr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500">
                          <a:solidFill>
                            <a:srgbClr val="1A2433"/>
                          </a:solidFill>
                        </a:rPr>
                        <a:t>Limited knowledge/reasoning</a:t>
                      </a:r>
                      <a:endParaRPr sz="1500">
                        <a:solidFill>
                          <a:srgbClr val="1A2433"/>
                        </a:solidFill>
                      </a:endParaRPr>
                    </a:p>
                    <a:p>
                      <a:pPr indent="0" lvl="0" marL="0" rtl="0" algn="l">
                        <a:lnSpc>
                          <a:spcPct val="105000"/>
                        </a:lnSpc>
                        <a:spcBef>
                          <a:spcPts val="0"/>
                        </a:spcBef>
                        <a:spcAft>
                          <a:spcPts val="0"/>
                        </a:spcAft>
                        <a:buNone/>
                      </a:pPr>
                      <a:r>
                        <a:rPr lang="zh-CN" sz="1500">
                          <a:solidFill>
                            <a:srgbClr val="1A2433"/>
                          </a:solidFill>
                        </a:rPr>
                        <a:t>Private training pipeline</a:t>
                      </a:r>
                      <a:endParaRPr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r h="546100">
                <a:tc>
                  <a:txBody>
                    <a:bodyPr/>
                    <a:lstStyle/>
                    <a:p>
                      <a:pPr indent="0" lvl="0" marL="0" rtl="0" algn="l">
                        <a:lnSpc>
                          <a:spcPct val="105000"/>
                        </a:lnSpc>
                        <a:spcBef>
                          <a:spcPts val="0"/>
                        </a:spcBef>
                        <a:spcAft>
                          <a:spcPts val="0"/>
                        </a:spcAft>
                        <a:buNone/>
                      </a:pPr>
                      <a:r>
                        <a:rPr b="1" lang="zh-CN" sz="1500">
                          <a:solidFill>
                            <a:srgbClr val="1A2433"/>
                          </a:solidFill>
                        </a:rPr>
                        <a:t>Laya</a:t>
                      </a:r>
                      <a:endParaRPr b="1" sz="1500">
                        <a:solidFill>
                          <a:srgbClr val="1A2433"/>
                        </a:solidFill>
                      </a:endParaRPr>
                    </a:p>
                    <a:p>
                      <a:pPr indent="0" lvl="0" marL="0" rtl="0" algn="l">
                        <a:lnSpc>
                          <a:spcPct val="105000"/>
                        </a:lnSpc>
                        <a:spcBef>
                          <a:spcPts val="0"/>
                        </a:spcBef>
                        <a:spcAft>
                          <a:spcPts val="0"/>
                        </a:spcAft>
                        <a:buNone/>
                      </a:pPr>
                      <a:r>
                        <a:rPr b="1" lang="zh-CN" sz="1500">
                          <a:solidFill>
                            <a:srgbClr val="1A2433"/>
                          </a:solidFill>
                        </a:rPr>
                        <a:t>421M</a:t>
                      </a:r>
                      <a:endParaRPr b="1"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500">
                          <a:solidFill>
                            <a:srgbClr val="1A2433"/>
                          </a:solidFill>
                        </a:rPr>
                        <a:t>Option-marker</a:t>
                      </a:r>
                      <a:endParaRPr sz="1500">
                        <a:solidFill>
                          <a:srgbClr val="1A2433"/>
                        </a:solidFill>
                      </a:endParaRPr>
                    </a:p>
                    <a:p>
                      <a:pPr indent="0" lvl="0" marL="0" rtl="0" algn="l">
                        <a:lnSpc>
                          <a:spcPct val="105000"/>
                        </a:lnSpc>
                        <a:spcBef>
                          <a:spcPts val="0"/>
                        </a:spcBef>
                        <a:spcAft>
                          <a:spcPts val="0"/>
                        </a:spcAft>
                        <a:buNone/>
                      </a:pPr>
                      <a:r>
                        <a:rPr lang="zh-CN" sz="1500">
                          <a:solidFill>
                            <a:srgbClr val="1A2433"/>
                          </a:solidFill>
                        </a:rPr>
                        <a:t>head</a:t>
                      </a:r>
                      <a:endParaRPr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500">
                          <a:solidFill>
                            <a:srgbClr val="1A2433"/>
                          </a:solidFill>
                        </a:rPr>
                        <a:t>Small; designed</a:t>
                      </a:r>
                      <a:endParaRPr sz="1500">
                        <a:solidFill>
                          <a:srgbClr val="1A2433"/>
                        </a:solidFill>
                      </a:endParaRPr>
                    </a:p>
                    <a:p>
                      <a:pPr indent="0" lvl="0" marL="0" rtl="0" algn="l">
                        <a:lnSpc>
                          <a:spcPct val="105000"/>
                        </a:lnSpc>
                        <a:spcBef>
                          <a:spcPts val="0"/>
                        </a:spcBef>
                        <a:spcAft>
                          <a:spcPts val="0"/>
                        </a:spcAft>
                        <a:buNone/>
                      </a:pPr>
                      <a:r>
                        <a:rPr lang="zh-CN" sz="1500">
                          <a:solidFill>
                            <a:srgbClr val="1A2433"/>
                          </a:solidFill>
                        </a:rPr>
                        <a:t>for specialization</a:t>
                      </a:r>
                      <a:endParaRPr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500">
                          <a:solidFill>
                            <a:srgbClr val="1A2433"/>
                          </a:solidFill>
                        </a:rPr>
                        <a:t>Fully fine-tuned encoder</a:t>
                      </a:r>
                      <a:endParaRPr sz="1500">
                        <a:solidFill>
                          <a:srgbClr val="1A2433"/>
                        </a:solidFill>
                      </a:endParaRPr>
                    </a:p>
                    <a:p>
                      <a:pPr indent="0" lvl="0" marL="0" rtl="0" algn="l">
                        <a:lnSpc>
                          <a:spcPct val="105000"/>
                        </a:lnSpc>
                        <a:spcBef>
                          <a:spcPts val="0"/>
                        </a:spcBef>
                        <a:spcAft>
                          <a:spcPts val="0"/>
                        </a:spcAft>
                        <a:buNone/>
                      </a:pPr>
                      <a:r>
                        <a:rPr lang="zh-CN" sz="1500">
                          <a:solidFill>
                            <a:srgbClr val="1A2433"/>
                          </a:solidFill>
                        </a:rPr>
                        <a:t>English root: 512 tokens</a:t>
                      </a:r>
                      <a:endParaRPr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r h="546100">
                <a:tc>
                  <a:txBody>
                    <a:bodyPr/>
                    <a:lstStyle/>
                    <a:p>
                      <a:pPr indent="0" lvl="0" marL="0" rtl="0" algn="l">
                        <a:lnSpc>
                          <a:spcPct val="105000"/>
                        </a:lnSpc>
                        <a:spcBef>
                          <a:spcPts val="0"/>
                        </a:spcBef>
                        <a:spcAft>
                          <a:spcPts val="0"/>
                        </a:spcAft>
                        <a:buNone/>
                      </a:pPr>
                      <a:r>
                        <a:rPr b="1" lang="zh-CN" sz="1500">
                          <a:solidFill>
                            <a:srgbClr val="1A2433"/>
                          </a:solidFill>
                        </a:rPr>
                        <a:t>Kev-4B</a:t>
                      </a:r>
                      <a:endParaRPr b="1"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500">
                          <a:solidFill>
                            <a:srgbClr val="1A2433"/>
                          </a:solidFill>
                        </a:rPr>
                        <a:t>Pointer</a:t>
                      </a:r>
                      <a:endParaRPr sz="1500">
                        <a:solidFill>
                          <a:srgbClr val="1A2433"/>
                        </a:solidFill>
                      </a:endParaRPr>
                    </a:p>
                    <a:p>
                      <a:pPr indent="0" lvl="0" marL="0" rtl="0" algn="l">
                        <a:lnSpc>
                          <a:spcPct val="105000"/>
                        </a:lnSpc>
                        <a:spcBef>
                          <a:spcPts val="0"/>
                        </a:spcBef>
                        <a:spcAft>
                          <a:spcPts val="0"/>
                        </a:spcAft>
                        <a:buNone/>
                      </a:pPr>
                      <a:r>
                        <a:rPr lang="zh-CN" sz="1500">
                          <a:solidFill>
                            <a:srgbClr val="1A2433"/>
                          </a:solidFill>
                        </a:rPr>
                        <a:t>head</a:t>
                      </a:r>
                      <a:endParaRPr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500">
                          <a:solidFill>
                            <a:srgbClr val="1A2433"/>
                          </a:solidFill>
                        </a:rPr>
                        <a:t>Adaptable features</a:t>
                      </a:r>
                      <a:endParaRPr sz="1500">
                        <a:solidFill>
                          <a:srgbClr val="1A2433"/>
                        </a:solidFill>
                      </a:endParaRPr>
                    </a:p>
                    <a:p>
                      <a:pPr indent="0" lvl="0" marL="0" rtl="0" algn="l">
                        <a:lnSpc>
                          <a:spcPct val="105000"/>
                        </a:lnSpc>
                        <a:spcBef>
                          <a:spcPts val="0"/>
                        </a:spcBef>
                        <a:spcAft>
                          <a:spcPts val="0"/>
                        </a:spcAft>
                        <a:buNone/>
                      </a:pPr>
                      <a:r>
                        <a:rPr lang="zh-CN" sz="1500">
                          <a:solidFill>
                            <a:srgbClr val="1A2433"/>
                          </a:solidFill>
                        </a:rPr>
                        <a:t>Open training code</a:t>
                      </a:r>
                      <a:endParaRPr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500">
                          <a:solidFill>
                            <a:srgbClr val="1A2433"/>
                          </a:solidFill>
                        </a:rPr>
                        <a:t>LoRA changes features</a:t>
                      </a:r>
                      <a:endParaRPr sz="1500">
                        <a:solidFill>
                          <a:srgbClr val="1A2433"/>
                        </a:solidFill>
                      </a:endParaRPr>
                    </a:p>
                    <a:p>
                      <a:pPr indent="0" lvl="0" marL="0" rtl="0" algn="l">
                        <a:lnSpc>
                          <a:spcPct val="105000"/>
                        </a:lnSpc>
                        <a:spcBef>
                          <a:spcPts val="0"/>
                        </a:spcBef>
                        <a:spcAft>
                          <a:spcPts val="0"/>
                        </a:spcAft>
                        <a:buNone/>
                      </a:pPr>
                      <a:r>
                        <a:rPr lang="zh-CN" sz="1500">
                          <a:solidFill>
                            <a:srgbClr val="1A2433"/>
                          </a:solidFill>
                        </a:rPr>
                        <a:t>Options encoded each step</a:t>
                      </a:r>
                      <a:endParaRPr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r h="546100">
                <a:tc>
                  <a:txBody>
                    <a:bodyPr/>
                    <a:lstStyle/>
                    <a:p>
                      <a:pPr indent="0" lvl="0" marL="0" rtl="0" algn="l">
                        <a:lnSpc>
                          <a:spcPct val="105000"/>
                        </a:lnSpc>
                        <a:spcBef>
                          <a:spcPts val="0"/>
                        </a:spcBef>
                        <a:spcAft>
                          <a:spcPts val="0"/>
                        </a:spcAft>
                        <a:buNone/>
                      </a:pPr>
                      <a:r>
                        <a:rPr b="1" lang="zh-CN" sz="1500">
                          <a:solidFill>
                            <a:srgbClr val="1A2433"/>
                          </a:solidFill>
                        </a:rPr>
                        <a:t>lev</a:t>
                      </a:r>
                      <a:endParaRPr b="1" sz="1500">
                        <a:solidFill>
                          <a:srgbClr val="1A2433"/>
                        </a:solidFill>
                      </a:endParaRPr>
                    </a:p>
                    <a:p>
                      <a:pPr indent="0" lvl="0" marL="0" rtl="0" algn="l">
                        <a:lnSpc>
                          <a:spcPct val="105000"/>
                        </a:lnSpc>
                        <a:spcBef>
                          <a:spcPts val="0"/>
                        </a:spcBef>
                        <a:spcAft>
                          <a:spcPts val="0"/>
                        </a:spcAft>
                        <a:buNone/>
                      </a:pPr>
                      <a:r>
                        <a:rPr b="1" lang="zh-CN" sz="1500">
                          <a:solidFill>
                            <a:srgbClr val="1A2433"/>
                          </a:solidFill>
                        </a:rPr>
                        <a:t>4B</a:t>
                      </a:r>
                      <a:endParaRPr b="1"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500">
                          <a:solidFill>
                            <a:srgbClr val="1A2433"/>
                          </a:solidFill>
                        </a:rPr>
                        <a:t>Vocabulary</a:t>
                      </a:r>
                      <a:endParaRPr sz="1500">
                        <a:solidFill>
                          <a:srgbClr val="1A2433"/>
                        </a:solidFill>
                      </a:endParaRPr>
                    </a:p>
                    <a:p>
                      <a:pPr indent="0" lvl="0" marL="0" rtl="0" algn="l">
                        <a:lnSpc>
                          <a:spcPct val="105000"/>
                        </a:lnSpc>
                        <a:spcBef>
                          <a:spcPts val="0"/>
                        </a:spcBef>
                        <a:spcAft>
                          <a:spcPts val="0"/>
                        </a:spcAft>
                        <a:buNone/>
                      </a:pPr>
                      <a:r>
                        <a:rPr lang="zh-CN" sz="1500">
                          <a:solidFill>
                            <a:srgbClr val="1A2433"/>
                          </a:solidFill>
                        </a:rPr>
                        <a:t>label logits</a:t>
                      </a:r>
                      <a:endParaRPr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500">
                          <a:solidFill>
                            <a:srgbClr val="1A2433"/>
                          </a:solidFill>
                        </a:rPr>
                        <a:t>Existing LM readout</a:t>
                      </a:r>
                      <a:endParaRPr sz="1500">
                        <a:solidFill>
                          <a:srgbClr val="1A2433"/>
                        </a:solidFill>
                      </a:endParaRPr>
                    </a:p>
                    <a:p>
                      <a:pPr indent="0" lvl="0" marL="0" rtl="0" algn="l">
                        <a:lnSpc>
                          <a:spcPct val="105000"/>
                        </a:lnSpc>
                        <a:spcBef>
                          <a:spcPts val="0"/>
                        </a:spcBef>
                        <a:spcAft>
                          <a:spcPts val="0"/>
                        </a:spcAft>
                        <a:buNone/>
                      </a:pPr>
                      <a:r>
                        <a:rPr lang="zh-CN" sz="1500">
                          <a:solidFill>
                            <a:srgbClr val="1A2433"/>
                          </a:solidFill>
                        </a:rPr>
                        <a:t>Many label codes</a:t>
                      </a:r>
                      <a:endParaRPr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500">
                          <a:solidFill>
                            <a:srgbClr val="1A2433"/>
                          </a:solidFill>
                        </a:rPr>
                        <a:t>LoRA; two choice orders</a:t>
                      </a:r>
                      <a:endParaRPr sz="1500">
                        <a:solidFill>
                          <a:srgbClr val="1A2433"/>
                        </a:solidFill>
                      </a:endParaRPr>
                    </a:p>
                    <a:p>
                      <a:pPr indent="0" lvl="0" marL="0" rtl="0" algn="l">
                        <a:lnSpc>
                          <a:spcPct val="105000"/>
                        </a:lnSpc>
                        <a:spcBef>
                          <a:spcPts val="0"/>
                        </a:spcBef>
                        <a:spcAft>
                          <a:spcPts val="0"/>
                        </a:spcAft>
                        <a:buNone/>
                      </a:pPr>
                      <a:r>
                        <a:rPr lang="zh-CN" sz="1500">
                          <a:solidFill>
                            <a:srgbClr val="1A2433"/>
                          </a:solidFill>
                        </a:rPr>
                        <a:t>Extra head not converted</a:t>
                      </a:r>
                      <a:endParaRPr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r h="546100">
                <a:tc>
                  <a:txBody>
                    <a:bodyPr/>
                    <a:lstStyle/>
                    <a:p>
                      <a:pPr indent="0" lvl="0" marL="0" rtl="0" algn="l">
                        <a:lnSpc>
                          <a:spcPct val="105000"/>
                        </a:lnSpc>
                        <a:spcBef>
                          <a:spcPts val="0"/>
                        </a:spcBef>
                        <a:spcAft>
                          <a:spcPts val="0"/>
                        </a:spcAft>
                        <a:buNone/>
                      </a:pPr>
                      <a:r>
                        <a:rPr b="1" lang="zh-CN" sz="1500">
                          <a:solidFill>
                            <a:srgbClr val="1A2433"/>
                          </a:solidFill>
                        </a:rPr>
                        <a:t>OpenJev</a:t>
                      </a:r>
                      <a:endParaRPr b="1" sz="1500">
                        <a:solidFill>
                          <a:srgbClr val="1A2433"/>
                        </a:solidFill>
                      </a:endParaRPr>
                    </a:p>
                    <a:p>
                      <a:pPr indent="0" lvl="0" marL="0" rtl="0" algn="l">
                        <a:lnSpc>
                          <a:spcPct val="105000"/>
                        </a:lnSpc>
                        <a:spcBef>
                          <a:spcPts val="0"/>
                        </a:spcBef>
                        <a:spcAft>
                          <a:spcPts val="0"/>
                        </a:spcAft>
                        <a:buNone/>
                      </a:pPr>
                      <a:r>
                        <a:rPr b="1" lang="zh-CN" sz="1500">
                          <a:solidFill>
                            <a:srgbClr val="1A2433"/>
                          </a:solidFill>
                        </a:rPr>
                        <a:t>27B</a:t>
                      </a:r>
                      <a:endParaRPr b="1"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500">
                          <a:solidFill>
                            <a:srgbClr val="1A2433"/>
                          </a:solidFill>
                        </a:rPr>
                        <a:t>Vocabulary</a:t>
                      </a:r>
                      <a:endParaRPr sz="1500">
                        <a:solidFill>
                          <a:srgbClr val="1A2433"/>
                        </a:solidFill>
                      </a:endParaRPr>
                    </a:p>
                    <a:p>
                      <a:pPr indent="0" lvl="0" marL="0" rtl="0" algn="l">
                        <a:lnSpc>
                          <a:spcPct val="105000"/>
                        </a:lnSpc>
                        <a:spcBef>
                          <a:spcPts val="0"/>
                        </a:spcBef>
                        <a:spcAft>
                          <a:spcPts val="0"/>
                        </a:spcAft>
                        <a:buNone/>
                      </a:pPr>
                      <a:r>
                        <a:rPr lang="zh-CN" sz="1500">
                          <a:solidFill>
                            <a:srgbClr val="1A2433"/>
                          </a:solidFill>
                        </a:rPr>
                        <a:t>label logits</a:t>
                      </a:r>
                      <a:endParaRPr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500">
                          <a:solidFill>
                            <a:srgbClr val="1A2433"/>
                          </a:solidFill>
                        </a:rPr>
                        <a:t>Text and images</a:t>
                      </a:r>
                      <a:endParaRPr sz="1500">
                        <a:solidFill>
                          <a:srgbClr val="1A2433"/>
                        </a:solidFill>
                      </a:endParaRPr>
                    </a:p>
                    <a:p>
                      <a:pPr indent="0" lvl="0" marL="0" rtl="0" algn="l">
                        <a:lnSpc>
                          <a:spcPct val="105000"/>
                        </a:lnSpc>
                        <a:spcBef>
                          <a:spcPts val="0"/>
                        </a:spcBef>
                        <a:spcAft>
                          <a:spcPts val="0"/>
                        </a:spcAft>
                        <a:buNone/>
                      </a:pPr>
                      <a:r>
                        <a:rPr lang="zh-CN" sz="1500">
                          <a:solidFill>
                            <a:srgbClr val="1A2433"/>
                          </a:solidFill>
                        </a:rPr>
                        <a:t>Agent decisions</a:t>
                      </a:r>
                      <a:endParaRPr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c>
                  <a:txBody>
                    <a:bodyPr/>
                    <a:lstStyle/>
                    <a:p>
                      <a:pPr indent="0" lvl="0" marL="0" rtl="0" algn="l">
                        <a:lnSpc>
                          <a:spcPct val="105000"/>
                        </a:lnSpc>
                        <a:spcBef>
                          <a:spcPts val="0"/>
                        </a:spcBef>
                        <a:spcAft>
                          <a:spcPts val="0"/>
                        </a:spcAft>
                        <a:buNone/>
                      </a:pPr>
                      <a:r>
                        <a:rPr lang="zh-CN" sz="1500">
                          <a:solidFill>
                            <a:srgbClr val="1A2433"/>
                          </a:solidFill>
                        </a:rPr>
                        <a:t>Larger model</a:t>
                      </a:r>
                      <a:endParaRPr sz="1500">
                        <a:solidFill>
                          <a:srgbClr val="1A2433"/>
                        </a:solidFill>
                      </a:endParaRPr>
                    </a:p>
                    <a:p>
                      <a:pPr indent="0" lvl="0" marL="0" rtl="0" algn="l">
                        <a:lnSpc>
                          <a:spcPct val="105000"/>
                        </a:lnSpc>
                        <a:spcBef>
                          <a:spcPts val="0"/>
                        </a:spcBef>
                        <a:spcAft>
                          <a:spcPts val="0"/>
                        </a:spcAft>
                        <a:buNone/>
                      </a:pPr>
                      <a:r>
                        <a:rPr lang="zh-CN" sz="1500">
                          <a:solidFill>
                            <a:srgbClr val="1A2433"/>
                          </a:solidFill>
                        </a:rPr>
                        <a:t>Non-commercial weights</a:t>
                      </a:r>
                      <a:endParaRPr sz="1500">
                        <a:solidFill>
                          <a:srgbClr val="1A2433"/>
                        </a:solidFill>
                      </a:endParaRPr>
                    </a:p>
                  </a:txBody>
                  <a:tcPr marT="91425" marB="91425" marR="91425" marL="91425" anchor="ctr">
                    <a:lnL cap="flat" cmpd="sng" w="7625">
                      <a:solidFill>
                        <a:srgbClr val="CBD4DF"/>
                      </a:solidFill>
                      <a:prstDash val="solid"/>
                      <a:round/>
                      <a:headEnd len="sm" w="sm" type="none"/>
                      <a:tailEnd len="sm" w="sm" type="none"/>
                    </a:lnL>
                    <a:lnR cap="flat" cmpd="sng" w="7625">
                      <a:solidFill>
                        <a:srgbClr val="CBD4DF"/>
                      </a:solidFill>
                      <a:prstDash val="solid"/>
                      <a:round/>
                      <a:headEnd len="sm" w="sm" type="none"/>
                      <a:tailEnd len="sm" w="sm" type="none"/>
                    </a:lnR>
                    <a:lnT cap="flat" cmpd="sng" w="7625">
                      <a:solidFill>
                        <a:srgbClr val="CBD4DF"/>
                      </a:solidFill>
                      <a:prstDash val="solid"/>
                      <a:round/>
                      <a:headEnd len="sm" w="sm" type="none"/>
                      <a:tailEnd len="sm" w="sm" type="none"/>
                    </a:lnT>
                    <a:lnB cap="flat" cmpd="sng" w="7625">
                      <a:solidFill>
                        <a:srgbClr val="CBD4DF"/>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19"/>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How llama.cpp scores decisions</a:t>
            </a:r>
            <a:endParaRPr b="1" sz="3000">
              <a:solidFill>
                <a:srgbClr val="111829"/>
              </a:solidFill>
            </a:endParaRPr>
          </a:p>
        </p:txBody>
      </p:sp>
      <p:sp>
        <p:nvSpPr>
          <p:cNvPr id="109" name="Google Shape;109;p19"/>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zh-CN" sz="2300">
                <a:solidFill>
                  <a:srgbClr val="1A2433"/>
                </a:solidFill>
              </a:rPr>
              <a:t>POST /v1/systemone: Choice, Score and Noul</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GGUF metadata selects the model's readout</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Kev's LoRA is merged before quantization</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No generated answer tokens to parse</a:t>
            </a:r>
            <a:endParaRPr sz="2300">
              <a:solidFill>
                <a:srgbClr val="1A2433"/>
              </a:solidFill>
            </a:endParaRPr>
          </a:p>
          <a:p>
            <a:pPr indent="0" lvl="0" marL="0" rtl="0" algn="l">
              <a:lnSpc>
                <a:spcPct val="112000"/>
              </a:lnSpc>
              <a:spcBef>
                <a:spcPts val="800"/>
              </a:spcBef>
              <a:spcAft>
                <a:spcPts val="800"/>
              </a:spcAft>
              <a:buNone/>
            </a:pPr>
            <a:r>
              <a:rPr lang="zh-CN" sz="2300">
                <a:solidFill>
                  <a:srgbClr val="1A2433"/>
                </a:solidFill>
              </a:rPr>
              <a:t>CLM needs its own serving implementation</a:t>
            </a:r>
            <a:endParaRPr sz="2300">
              <a:solidFill>
                <a:srgbClr val="1A2433"/>
              </a:solidFill>
            </a:endParaRPr>
          </a:p>
        </p:txBody>
      </p:sp>
      <p:sp>
        <p:nvSpPr>
          <p:cNvPr id="110" name="Google Shape;110;p19"/>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API compatibility does not mean architectural equivalence</a:t>
            </a:r>
            <a:endParaRPr sz="900">
              <a:solidFill>
                <a:srgbClr val="5E6E80"/>
              </a:solidFill>
            </a:endParaRPr>
          </a:p>
        </p:txBody>
      </p:sp>
      <p:sp>
        <p:nvSpPr>
          <p:cNvPr id="111" name="Google Shape;111;p19"/>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7</a:t>
            </a:r>
            <a:endParaRPr sz="900">
              <a:solidFill>
                <a:srgbClr val="5E6E8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20"/>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How SGLang scores decisions</a:t>
            </a:r>
            <a:endParaRPr b="1" sz="3000">
              <a:solidFill>
                <a:srgbClr val="111829"/>
              </a:solidFill>
            </a:endParaRPr>
          </a:p>
        </p:txBody>
      </p:sp>
      <p:sp>
        <p:nvSpPr>
          <p:cNvPr id="117" name="Google Shape;117;p20"/>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zh-CN" sz="2300">
                <a:solidFill>
                  <a:srgbClr val="1A2433"/>
                </a:solidFill>
              </a:rPr>
              <a:t>/v1/decisions and /v1/systemone are merged</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Chat-model label logits; no generated tokens</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One prompt per question; normal prefix caching</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Checked: Qwen3.8-27B and Qwen3.5-35B-A3B</a:t>
            </a:r>
            <a:endParaRPr sz="2300">
              <a:solidFill>
                <a:srgbClr val="1A2433"/>
              </a:solidFill>
            </a:endParaRPr>
          </a:p>
          <a:p>
            <a:pPr indent="0" lvl="0" marL="0" rtl="0" algn="l">
              <a:lnSpc>
                <a:spcPct val="112000"/>
              </a:lnSpc>
              <a:spcBef>
                <a:spcPts val="800"/>
              </a:spcBef>
              <a:spcAft>
                <a:spcPts val="800"/>
              </a:spcAft>
              <a:buNone/>
            </a:pPr>
            <a:r>
              <a:rPr lang="zh-CN" sz="2300">
                <a:solidFill>
                  <a:srgbClr val="1A2433"/>
                </a:solidFill>
              </a:rPr>
              <a:t>Native Intern-Decision support is an open PR</a:t>
            </a:r>
            <a:endParaRPr sz="2300">
              <a:solidFill>
                <a:srgbClr val="1A2433"/>
              </a:solidFill>
            </a:endParaRPr>
          </a:p>
        </p:txBody>
      </p:sp>
      <p:sp>
        <p:nvSpPr>
          <p:cNvPr id="118" name="Google Shape;118;p20"/>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Vocabulary scoring differs from Kev and CLM heads</a:t>
            </a:r>
            <a:endParaRPr sz="900">
              <a:solidFill>
                <a:srgbClr val="5E6E80"/>
              </a:solidFill>
            </a:endParaRPr>
          </a:p>
        </p:txBody>
      </p:sp>
      <p:sp>
        <p:nvSpPr>
          <p:cNvPr id="119" name="Google Shape;119;p20"/>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8</a:t>
            </a:r>
            <a:endParaRPr sz="900">
              <a:solidFill>
                <a:srgbClr val="5E6E8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21"/>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A fair Kev-versus-CLM comparison</a:t>
            </a:r>
            <a:endParaRPr b="1" sz="3000">
              <a:solidFill>
                <a:srgbClr val="111829"/>
              </a:solidFill>
            </a:endParaRPr>
          </a:p>
        </p:txBody>
      </p:sp>
      <p:sp>
        <p:nvSpPr>
          <p:cNvPr id="125" name="Google Shape;125;p21"/>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zh-CN" sz="2300">
                <a:solidFill>
                  <a:srgbClr val="1A2433"/>
                </a:solidFill>
              </a:rPr>
              <a:t>Use the same boards, labels and legal actions</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Time cold and warm caches on one device</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Measure accuracy, captures, dots and latency</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Record training time and peak memory</a:t>
            </a:r>
            <a:endParaRPr sz="2300">
              <a:solidFill>
                <a:srgbClr val="1A2433"/>
              </a:solidFill>
            </a:endParaRPr>
          </a:p>
          <a:p>
            <a:pPr indent="0" lvl="0" marL="0" rtl="0" algn="l">
              <a:lnSpc>
                <a:spcPct val="112000"/>
              </a:lnSpc>
              <a:spcBef>
                <a:spcPts val="800"/>
              </a:spcBef>
              <a:spcAft>
                <a:spcPts val="800"/>
              </a:spcAft>
              <a:buNone/>
            </a:pPr>
            <a:r>
              <a:rPr lang="zh-CN" sz="2300">
                <a:solidFill>
                  <a:srgbClr val="1A2433"/>
                </a:solidFill>
              </a:rPr>
              <a:t>Match backbones to isolate the architecture</a:t>
            </a:r>
            <a:endParaRPr sz="2300">
              <a:solidFill>
                <a:srgbClr val="1A2433"/>
              </a:solidFill>
            </a:endParaRPr>
          </a:p>
        </p:txBody>
      </p:sp>
      <p:sp>
        <p:nvSpPr>
          <p:cNvPr id="126" name="Google Shape;126;p21"/>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Released-model comparisons also include size and data effects</a:t>
            </a:r>
            <a:endParaRPr sz="900">
              <a:solidFill>
                <a:srgbClr val="5E6E80"/>
              </a:solidFill>
            </a:endParaRPr>
          </a:p>
        </p:txBody>
      </p:sp>
      <p:sp>
        <p:nvSpPr>
          <p:cNvPr id="127" name="Google Shape;127;p21"/>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9</a:t>
            </a:r>
            <a:endParaRPr sz="900">
              <a:solidFill>
                <a:srgbClr val="5E6E8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22"/>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Our Kev-4B Pac-Man lab</a:t>
            </a:r>
            <a:endParaRPr b="1" sz="3000">
              <a:solidFill>
                <a:srgbClr val="111829"/>
              </a:solidFill>
            </a:endParaRPr>
          </a:p>
        </p:txBody>
      </p:sp>
      <p:sp>
        <p:nvSpPr>
          <p:cNvPr id="133" name="Google Shape;133;p22"/>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zh-CN" sz="2300">
                <a:solidFill>
                  <a:srgbClr val="1A2433"/>
                </a:solidFill>
              </a:rPr>
              <a:t>Train Pac-Man with fixed-code ghosts</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Start from Qwen3.5-4B-Base</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Train fresh LoRA and a pointer head</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Complete four general stages before class</a:t>
            </a:r>
            <a:endParaRPr sz="2300">
              <a:solidFill>
                <a:srgbClr val="1A2433"/>
              </a:solidFill>
            </a:endParaRPr>
          </a:p>
          <a:p>
            <a:pPr indent="0" lvl="0" marL="0" marR="0" rtl="0" algn="l">
              <a:lnSpc>
                <a:spcPct val="112000"/>
              </a:lnSpc>
              <a:spcBef>
                <a:spcPts val="800"/>
              </a:spcBef>
              <a:spcAft>
                <a:spcPts val="800"/>
              </a:spcAft>
              <a:buNone/>
            </a:pPr>
            <a:r>
              <a:rPr lang="zh-CN" sz="2300">
                <a:solidFill>
                  <a:srgbClr val="1A2433"/>
                </a:solidFill>
              </a:rPr>
              <a:t>Fine-tune your own checkpoint for moves</a:t>
            </a:r>
            <a:endParaRPr sz="2300">
              <a:solidFill>
                <a:srgbClr val="1A2433"/>
              </a:solidFill>
            </a:endParaRPr>
          </a:p>
        </p:txBody>
      </p:sp>
      <p:sp>
        <p:nvSpPr>
          <p:cNvPr id="134" name="Google Shape;134;p22"/>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800"/>
              </a:spcAft>
              <a:buNone/>
            </a:pPr>
            <a:r>
              <a:rPr lang="zh-CN" sz="900">
                <a:solidFill>
                  <a:srgbClr val="5E6E80"/>
                </a:solidFill>
              </a:rPr>
              <a:t>Published Kev base recipe, followed by our Pac-Man adaptation</a:t>
            </a:r>
            <a:endParaRPr sz="900">
              <a:solidFill>
                <a:srgbClr val="5E6E80"/>
              </a:solidFill>
            </a:endParaRPr>
          </a:p>
        </p:txBody>
      </p:sp>
      <p:sp>
        <p:nvSpPr>
          <p:cNvPr id="135" name="Google Shape;135;p22"/>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10</a:t>
            </a:r>
            <a:endParaRPr sz="900">
              <a:solidFill>
                <a:srgbClr val="5E6E8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23"/>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Our 90-minute route</a:t>
            </a:r>
            <a:endParaRPr b="1" sz="3000">
              <a:solidFill>
                <a:srgbClr val="111829"/>
              </a:solidFill>
            </a:endParaRPr>
          </a:p>
        </p:txBody>
      </p:sp>
      <p:sp>
        <p:nvSpPr>
          <p:cNvPr id="141" name="Google Shape;141;p23"/>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zh-CN" sz="2300">
                <a:solidFill>
                  <a:srgbClr val="1A2433"/>
                </a:solidFill>
              </a:rPr>
              <a:t>0-10    Compare architectures and play</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10-20  Inspect the four general training stages</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20-30  Review Pac-Man player labels</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30-60  Fine-tune LoRA and the pointer head</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60-80  Compare cost and player decisions</a:t>
            </a:r>
            <a:endParaRPr sz="2300">
              <a:solidFill>
                <a:srgbClr val="1A2433"/>
              </a:solidFill>
            </a:endParaRPr>
          </a:p>
          <a:p>
            <a:pPr indent="0" lvl="0" marL="0" marR="0" rtl="0" algn="l">
              <a:lnSpc>
                <a:spcPct val="112000"/>
              </a:lnSpc>
              <a:spcBef>
                <a:spcPts val="800"/>
              </a:spcBef>
              <a:spcAft>
                <a:spcPts val="800"/>
              </a:spcAft>
              <a:buNone/>
            </a:pPr>
            <a:r>
              <a:rPr lang="zh-CN" sz="2300">
                <a:solidFill>
                  <a:srgbClr val="1A2433"/>
                </a:solidFill>
              </a:rPr>
              <a:t>80-90  Explain and submit</a:t>
            </a:r>
            <a:endParaRPr sz="2300">
              <a:solidFill>
                <a:srgbClr val="1A2433"/>
              </a:solidFill>
            </a:endParaRPr>
          </a:p>
        </p:txBody>
      </p:sp>
      <p:sp>
        <p:nvSpPr>
          <p:cNvPr id="142" name="Google Shape;142;p23"/>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800"/>
              </a:spcAft>
              <a:buNone/>
            </a:pPr>
            <a:r>
              <a:rPr lang="zh-CN" sz="900">
                <a:solidFill>
                  <a:srgbClr val="5E6E80"/>
                </a:solidFill>
              </a:rPr>
              <a:t>Four general stages are prework. Fine-tuning takes 30 class minutes.</a:t>
            </a:r>
            <a:endParaRPr sz="900">
              <a:solidFill>
                <a:srgbClr val="5E6E80"/>
              </a:solidFill>
            </a:endParaRPr>
          </a:p>
        </p:txBody>
      </p:sp>
      <p:sp>
        <p:nvSpPr>
          <p:cNvPr id="143" name="Google Shape;143;p23"/>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11</a:t>
            </a:r>
            <a:endParaRPr sz="900">
              <a:solidFill>
                <a:srgbClr val="5E6E8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24"/>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Colab runtime for this lab</a:t>
            </a:r>
            <a:endParaRPr b="1" sz="3000">
              <a:solidFill>
                <a:srgbClr val="111829"/>
              </a:solidFill>
            </a:endParaRPr>
          </a:p>
        </p:txBody>
      </p:sp>
      <p:sp>
        <p:nvSpPr>
          <p:cNvPr id="149" name="Google Shape;149;p24"/>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zh-CN" sz="2300">
                <a:solidFill>
                  <a:srgbClr val="1A2433"/>
                </a:solidFill>
              </a:rPr>
              <a:t>Target: RTX PRO 6000 Blackwell, 96 GB</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PyTorch 2.8 / CUDA 12.8 with BF16</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Required: FLA and CUDA causal convolution</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Verify Kev loss and backward before training</a:t>
            </a:r>
            <a:endParaRPr sz="2300">
              <a:solidFill>
                <a:srgbClr val="1A2433"/>
              </a:solidFill>
            </a:endParaRPr>
          </a:p>
          <a:p>
            <a:pPr indent="0" lvl="0" marL="0" marR="0" rtl="0" algn="l">
              <a:lnSpc>
                <a:spcPct val="112000"/>
              </a:lnSpc>
              <a:spcBef>
                <a:spcPts val="800"/>
              </a:spcBef>
              <a:spcAft>
                <a:spcPts val="800"/>
              </a:spcAft>
              <a:buNone/>
            </a:pPr>
            <a:r>
              <a:rPr lang="zh-CN" sz="2300">
                <a:solidFill>
                  <a:srgbClr val="1A2433"/>
                </a:solidFill>
              </a:rPr>
              <a:t>Use checkpointing and fused AdamW</a:t>
            </a:r>
            <a:endParaRPr sz="2300">
              <a:solidFill>
                <a:srgbClr val="1A2433"/>
              </a:solidFill>
            </a:endParaRPr>
          </a:p>
        </p:txBody>
      </p:sp>
      <p:sp>
        <p:nvSpPr>
          <p:cNvPr id="150" name="Google Shape;150;p24"/>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800"/>
              </a:spcAft>
              <a:buNone/>
            </a:pPr>
            <a:r>
              <a:rPr lang="zh-CN" sz="900">
                <a:solidFill>
                  <a:srgbClr val="5E6E80"/>
                </a:solidFill>
              </a:rPr>
              <a:t>Colab GPU availability varies. The target is not a free-compute promise.</a:t>
            </a:r>
            <a:endParaRPr sz="900">
              <a:solidFill>
                <a:srgbClr val="5E6E80"/>
              </a:solidFill>
            </a:endParaRPr>
          </a:p>
        </p:txBody>
      </p:sp>
      <p:sp>
        <p:nvSpPr>
          <p:cNvPr id="151" name="Google Shape;151;p24"/>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12</a:t>
            </a:r>
            <a:endParaRPr sz="900">
              <a:solidFill>
                <a:srgbClr val="5E6E8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p25"/>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CP0: what Pac-Man can observe</a:t>
            </a:r>
            <a:endParaRPr b="1" sz="3000">
              <a:solidFill>
                <a:srgbClr val="111829"/>
              </a:solidFill>
            </a:endParaRPr>
          </a:p>
        </p:txBody>
      </p:sp>
      <p:sp>
        <p:nvSpPr>
          <p:cNvPr id="157" name="Google Shape;157;p25"/>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zh-CN" sz="2300">
                <a:solidFill>
                  <a:srgbClr val="1A2433"/>
                </a:solidFill>
              </a:rPr>
              <a:t>Maze walls and remaining dots</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Player position and heading</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Ghost positions and headings</a:t>
            </a:r>
            <a:endParaRPr sz="2300">
              <a:solidFill>
                <a:srgbClr val="1A2433"/>
              </a:solidFill>
            </a:endParaRPr>
          </a:p>
          <a:p>
            <a:pPr indent="0" lvl="0" marL="0" rtl="0" algn="l">
              <a:lnSpc>
                <a:spcPct val="112000"/>
              </a:lnSpc>
              <a:spcBef>
                <a:spcPts val="800"/>
              </a:spcBef>
              <a:spcAft>
                <a:spcPts val="800"/>
              </a:spcAft>
              <a:buNone/>
            </a:pPr>
            <a:r>
              <a:rPr lang="zh-CN" sz="2300">
                <a:solidFill>
                  <a:srgbClr val="1A2433"/>
                </a:solidFill>
              </a:rPr>
              <a:t>Turn number and ghost movement rule</a:t>
            </a:r>
            <a:endParaRPr sz="2300">
              <a:solidFill>
                <a:srgbClr val="1A2433"/>
              </a:solidFill>
            </a:endParaRPr>
          </a:p>
        </p:txBody>
      </p:sp>
      <p:sp>
        <p:nvSpPr>
          <p:cNvPr id="158" name="Google Shape;158;p25"/>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Structured state; the model controls the player</a:t>
            </a:r>
            <a:endParaRPr sz="900">
              <a:solidFill>
                <a:srgbClr val="5E6E80"/>
              </a:solidFill>
            </a:endParaRPr>
          </a:p>
        </p:txBody>
      </p:sp>
      <p:sp>
        <p:nvSpPr>
          <p:cNvPr id="159" name="Google Shape;159;p25"/>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13</a:t>
            </a:r>
            <a:endParaRPr sz="900">
              <a:solidFill>
                <a:srgbClr val="5E6E8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26"/>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CP1: score a legal player move</a:t>
            </a:r>
            <a:endParaRPr b="1" sz="3000">
              <a:solidFill>
                <a:srgbClr val="111829"/>
              </a:solidFill>
            </a:endParaRPr>
          </a:p>
        </p:txBody>
      </p:sp>
      <p:sp>
        <p:nvSpPr>
          <p:cNvPr id="165" name="Google Shape;165;p26"/>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zh-CN" sz="2300">
                <a:solidFill>
                  <a:srgbClr val="1A2433"/>
                </a:solidFill>
              </a:rPr>
              <a:t>Pack state, question and legal options</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Read decision-token and option-token features</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Score each option with the pointer head</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Read probabilities by direction name</a:t>
            </a:r>
            <a:endParaRPr sz="2300">
              <a:solidFill>
                <a:srgbClr val="1A2433"/>
              </a:solidFill>
            </a:endParaRPr>
          </a:p>
          <a:p>
            <a:pPr indent="0" lvl="0" marL="0" marR="0" rtl="0" algn="l">
              <a:lnSpc>
                <a:spcPct val="112000"/>
              </a:lnSpc>
              <a:spcBef>
                <a:spcPts val="800"/>
              </a:spcBef>
              <a:spcAft>
                <a:spcPts val="800"/>
              </a:spcAft>
              <a:buNone/>
            </a:pPr>
            <a:r>
              <a:rPr lang="zh-CN" sz="2300">
                <a:solidFill>
                  <a:srgbClr val="1A2433"/>
                </a:solidFill>
              </a:rPr>
              <a:t>Apply the move through the game code</a:t>
            </a:r>
            <a:endParaRPr sz="2300">
              <a:solidFill>
                <a:srgbClr val="1A2433"/>
              </a:solidFill>
            </a:endParaRPr>
          </a:p>
        </p:txBody>
      </p:sp>
      <p:sp>
        <p:nvSpPr>
          <p:cNvPr id="166" name="Google Shape;166;p26"/>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800"/>
              </a:spcAft>
              <a:buNone/>
            </a:pPr>
            <a:r>
              <a:rPr lang="zh-CN" sz="900">
                <a:solidFill>
                  <a:srgbClr val="5E6E80"/>
                </a:solidFill>
              </a:rPr>
              <a:t>The model chooses Pac-Man's move. Game code advances the ghosts.</a:t>
            </a:r>
            <a:endParaRPr sz="900">
              <a:solidFill>
                <a:srgbClr val="5E6E80"/>
              </a:solidFill>
            </a:endParaRPr>
          </a:p>
        </p:txBody>
      </p:sp>
      <p:sp>
        <p:nvSpPr>
          <p:cNvPr id="167" name="Google Shape;167;p26"/>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14</a:t>
            </a:r>
            <a:endParaRPr sz="900">
              <a:solidFill>
                <a:srgbClr val="5E6E8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sp>
        <p:nvSpPr>
          <p:cNvPr id="172" name="Google Shape;172;p27"/>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What a probability tells us</a:t>
            </a:r>
            <a:endParaRPr b="1" sz="3000">
              <a:solidFill>
                <a:srgbClr val="111829"/>
              </a:solidFill>
            </a:endParaRPr>
          </a:p>
        </p:txBody>
      </p:sp>
      <p:sp>
        <p:nvSpPr>
          <p:cNvPr id="173" name="Google Shape;173;p27"/>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zh-CN" sz="2300">
                <a:solidFill>
                  <a:srgbClr val="1A2433"/>
                </a:solidFill>
              </a:rPr>
              <a:t>Select the highest-scoring legal action</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Inspect competing directions</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Compare calibration on labelled examples</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Confidence is not maze success</a:t>
            </a:r>
            <a:endParaRPr sz="2300">
              <a:solidFill>
                <a:srgbClr val="1A2433"/>
              </a:solidFill>
            </a:endParaRPr>
          </a:p>
          <a:p>
            <a:pPr indent="0" lvl="0" marL="0" rtl="0" algn="l">
              <a:lnSpc>
                <a:spcPct val="112000"/>
              </a:lnSpc>
              <a:spcBef>
                <a:spcPts val="800"/>
              </a:spcBef>
              <a:spcAft>
                <a:spcPts val="800"/>
              </a:spcAft>
              <a:buNone/>
            </a:pPr>
            <a:r>
              <a:rPr lang="zh-CN" sz="2300">
                <a:solidFill>
                  <a:srgbClr val="1A2433"/>
                </a:solidFill>
              </a:rPr>
              <a:t>A legal move can still be strategically poor</a:t>
            </a:r>
            <a:endParaRPr sz="2300">
              <a:solidFill>
                <a:srgbClr val="1A2433"/>
              </a:solidFill>
            </a:endParaRPr>
          </a:p>
        </p:txBody>
      </p:sp>
      <p:sp>
        <p:nvSpPr>
          <p:cNvPr id="174" name="Google Shape;174;p27"/>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Use the same actions and calibration protocol when comparing models</a:t>
            </a:r>
            <a:endParaRPr sz="900">
              <a:solidFill>
                <a:srgbClr val="5E6E80"/>
              </a:solidFill>
            </a:endParaRPr>
          </a:p>
        </p:txBody>
      </p:sp>
      <p:sp>
        <p:nvSpPr>
          <p:cNvPr id="175" name="Google Shape;175;p27"/>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15</a:t>
            </a:r>
            <a:endParaRPr sz="900">
              <a:solidFill>
                <a:srgbClr val="5E6E8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 name="Shape 179"/>
        <p:cNvGrpSpPr/>
        <p:nvPr/>
      </p:nvGrpSpPr>
      <p:grpSpPr>
        <a:xfrm>
          <a:off x="0" y="0"/>
          <a:ext cx="0" cy="0"/>
          <a:chOff x="0" y="0"/>
          <a:chExt cx="0" cy="0"/>
        </a:xfrm>
      </p:grpSpPr>
      <p:sp>
        <p:nvSpPr>
          <p:cNvPr id="180" name="Google Shape;180;p28"/>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CP2: prepare player labels</a:t>
            </a:r>
            <a:endParaRPr b="1" sz="3000">
              <a:solidFill>
                <a:srgbClr val="111829"/>
              </a:solidFill>
            </a:endParaRPr>
          </a:p>
        </p:txBody>
      </p:sp>
      <p:sp>
        <p:nvSpPr>
          <p:cNvPr id="181" name="Google Shape;181;p28"/>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zh-CN" sz="2300">
                <a:solidFill>
                  <a:srgbClr val="1A2433"/>
                </a:solidFill>
              </a:rPr>
              <a:t>64 train, 16 development, 16 evaluation</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Inspect three boards and annotate legal moves</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Starter labels follow a stated heuristic</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Keep all edits in the training partition</a:t>
            </a:r>
            <a:endParaRPr sz="2300">
              <a:solidFill>
                <a:srgbClr val="1A2433"/>
              </a:solidFill>
            </a:endParaRPr>
          </a:p>
          <a:p>
            <a:pPr indent="0" lvl="0" marL="0" rtl="0" algn="l">
              <a:lnSpc>
                <a:spcPct val="112000"/>
              </a:lnSpc>
              <a:spcBef>
                <a:spcPts val="800"/>
              </a:spcBef>
              <a:spcAft>
                <a:spcPts val="800"/>
              </a:spcAft>
              <a:buNone/>
            </a:pPr>
            <a:r>
              <a:rPr lang="zh-CN" sz="2300">
                <a:solidFill>
                  <a:srgbClr val="1A2433"/>
                </a:solidFill>
              </a:rPr>
              <a:t>Keep evaluation closed until the model is fixed</a:t>
            </a:r>
            <a:endParaRPr sz="2300">
              <a:solidFill>
                <a:srgbClr val="1A2433"/>
              </a:solidFill>
            </a:endParaRPr>
          </a:p>
        </p:txBody>
      </p:sp>
      <p:sp>
        <p:nvSpPr>
          <p:cNvPr id="182" name="Google Shape;182;p28"/>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Synthetic teacher labels are not human demonstrations</a:t>
            </a:r>
            <a:endParaRPr sz="900">
              <a:solidFill>
                <a:srgbClr val="5E6E80"/>
              </a:solidFill>
            </a:endParaRPr>
          </a:p>
        </p:txBody>
      </p:sp>
      <p:sp>
        <p:nvSpPr>
          <p:cNvPr id="183" name="Google Shape;183;p28"/>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16</a:t>
            </a:r>
            <a:endParaRPr sz="900">
              <a:solidFill>
                <a:srgbClr val="5E6E8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29"/>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Kev-4B training stages</a:t>
            </a:r>
            <a:endParaRPr b="1" sz="3000">
              <a:solidFill>
                <a:srgbClr val="111829"/>
              </a:solidFill>
            </a:endParaRPr>
          </a:p>
        </p:txBody>
      </p:sp>
      <p:sp>
        <p:nvSpPr>
          <p:cNvPr id="189" name="Google Shape;189;p29"/>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zh-CN" sz="2300">
                <a:solidFill>
                  <a:srgbClr val="1A2433"/>
                </a:solidFill>
              </a:rPr>
              <a:t>1  Decisions: 12,576 records × 2 epochs</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2  Dates/evidence: 1,425 + 2,000 replay</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3  Documents: 5,219 + 2,000 replay</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4  Skills/devtools: 11,320 + 4,000 replay</a:t>
            </a:r>
            <a:endParaRPr sz="2300">
              <a:solidFill>
                <a:srgbClr val="1A2433"/>
              </a:solidFill>
            </a:endParaRPr>
          </a:p>
          <a:p>
            <a:pPr indent="0" lvl="0" marL="0" marR="0" rtl="0" algn="l">
              <a:lnSpc>
                <a:spcPct val="112000"/>
              </a:lnSpc>
              <a:spcBef>
                <a:spcPts val="800"/>
              </a:spcBef>
              <a:spcAft>
                <a:spcPts val="800"/>
              </a:spcAft>
              <a:buNone/>
            </a:pPr>
            <a:r>
              <a:rPr lang="zh-CN" sz="2300">
                <a:solidFill>
                  <a:srgbClr val="1A2433"/>
                </a:solidFill>
              </a:rPr>
              <a:t>5  Pac-Man: 64 labelled boards × 2 epochs</a:t>
            </a:r>
            <a:endParaRPr sz="2300">
              <a:solidFill>
                <a:srgbClr val="1A2433"/>
              </a:solidFill>
            </a:endParaRPr>
          </a:p>
        </p:txBody>
      </p:sp>
      <p:sp>
        <p:nvSpPr>
          <p:cNvPr id="190" name="Google Shape;190;p29"/>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800"/>
              </a:spcAft>
              <a:buNone/>
            </a:pPr>
            <a:r>
              <a:rPr lang="zh-CN" sz="900">
                <a:solidFill>
                  <a:srgbClr val="5E6E80"/>
                </a:solidFill>
              </a:rPr>
              <a:t>Stages 1–4 are prework. Stage 5 is the mandatory class adaptation.</a:t>
            </a:r>
            <a:endParaRPr sz="900">
              <a:solidFill>
                <a:srgbClr val="5E6E80"/>
              </a:solidFill>
            </a:endParaRPr>
          </a:p>
        </p:txBody>
      </p:sp>
      <p:sp>
        <p:nvSpPr>
          <p:cNvPr id="191" name="Google Shape;191;p29"/>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17</a:t>
            </a:r>
            <a:endParaRPr sz="900">
              <a:solidFill>
                <a:srgbClr val="5E6E8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sp>
        <p:nvSpPr>
          <p:cNvPr id="196" name="Google Shape;196;p30"/>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CP3: 30 minutes of fine-tuning</a:t>
            </a:r>
            <a:endParaRPr b="1" sz="3000">
              <a:solidFill>
                <a:srgbClr val="111829"/>
              </a:solidFill>
            </a:endParaRPr>
          </a:p>
        </p:txBody>
      </p:sp>
      <p:sp>
        <p:nvSpPr>
          <p:cNvPr id="197" name="Google Shape;197;p30"/>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zh-CN" sz="2300">
                <a:solidFill>
                  <a:srgbClr val="1A2433"/>
                </a:solidFill>
              </a:rPr>
              <a:t>5 min    Inspect labelled moves and the loss</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20 min  Fine-tune your skills checkpoint</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5 min    Inspect and save the adapter/head</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Update LoRA and the pointer head together</a:t>
            </a:r>
            <a:endParaRPr sz="2300">
              <a:solidFill>
                <a:srgbClr val="1A2433"/>
              </a:solidFill>
            </a:endParaRPr>
          </a:p>
          <a:p>
            <a:pPr indent="0" lvl="0" marL="0" marR="0" rtl="0" algn="l">
              <a:lnSpc>
                <a:spcPct val="112000"/>
              </a:lnSpc>
              <a:spcBef>
                <a:spcPts val="800"/>
              </a:spcBef>
              <a:spcAft>
                <a:spcPts val="800"/>
              </a:spcAft>
              <a:buNone/>
            </a:pPr>
            <a:r>
              <a:rPr lang="zh-CN" sz="2300">
                <a:solidFill>
                  <a:srgbClr val="1A2433"/>
                </a:solidFill>
              </a:rPr>
              <a:t>Keep original base matrices unchanged</a:t>
            </a:r>
            <a:endParaRPr sz="2300">
              <a:solidFill>
                <a:srgbClr val="1A2433"/>
              </a:solidFill>
            </a:endParaRPr>
          </a:p>
        </p:txBody>
      </p:sp>
      <p:sp>
        <p:nvSpPr>
          <p:cNvPr id="198" name="Google Shape;198;p30"/>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800"/>
              </a:spcAft>
              <a:buNone/>
            </a:pPr>
            <a:r>
              <a:rPr lang="zh-CN" sz="900">
                <a:solidFill>
                  <a:srgbClr val="5E6E80"/>
                </a:solidFill>
              </a:rPr>
              <a:t>Mandatory domain adaptation, warm-started with --init_from</a:t>
            </a:r>
            <a:endParaRPr sz="900">
              <a:solidFill>
                <a:srgbClr val="5E6E80"/>
              </a:solidFill>
            </a:endParaRPr>
          </a:p>
        </p:txBody>
      </p:sp>
      <p:sp>
        <p:nvSpPr>
          <p:cNvPr id="199" name="Google Shape;199;p30"/>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18</a:t>
            </a:r>
            <a:endParaRPr sz="900">
              <a:solidFill>
                <a:srgbClr val="5E6E8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 name="Shape 203"/>
        <p:cNvGrpSpPr/>
        <p:nvPr/>
      </p:nvGrpSpPr>
      <p:grpSpPr>
        <a:xfrm>
          <a:off x="0" y="0"/>
          <a:ext cx="0" cy="0"/>
          <a:chOff x="0" y="0"/>
          <a:chExt cx="0" cy="0"/>
        </a:xfrm>
      </p:grpSpPr>
      <p:sp>
        <p:nvSpPr>
          <p:cNvPr id="204" name="Google Shape;204;p31"/>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Check what training changed</a:t>
            </a:r>
            <a:endParaRPr b="1" sz="3000">
              <a:solidFill>
                <a:srgbClr val="111829"/>
              </a:solidFill>
            </a:endParaRPr>
          </a:p>
        </p:txBody>
      </p:sp>
      <p:sp>
        <p:nvSpPr>
          <p:cNvPr id="205" name="Google Shape;205;p31"/>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zh-CN" sz="2300">
                <a:solidFill>
                  <a:srgbClr val="1A2433"/>
                </a:solidFill>
              </a:rPr>
              <a:t>Trainable: LoRA and pointer-head parameters</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Original base matrices remain fixed</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Encoder features change through LoRA</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Track loss and live memory in TensorBoard</a:t>
            </a:r>
            <a:endParaRPr sz="2300">
              <a:solidFill>
                <a:srgbClr val="1A2433"/>
              </a:solidFill>
            </a:endParaRPr>
          </a:p>
          <a:p>
            <a:pPr indent="0" lvl="0" marL="0" marR="0" rtl="0" algn="l">
              <a:lnSpc>
                <a:spcPct val="112000"/>
              </a:lnSpc>
              <a:spcBef>
                <a:spcPts val="800"/>
              </a:spcBef>
              <a:spcAft>
                <a:spcPts val="800"/>
              </a:spcAft>
              <a:buNone/>
            </a:pPr>
            <a:r>
              <a:rPr lang="zh-CN" sz="2300">
                <a:solidFill>
                  <a:srgbClr val="1A2433"/>
                </a:solidFill>
              </a:rPr>
              <a:t>Save recovery weights during every stage</a:t>
            </a:r>
            <a:endParaRPr sz="2300">
              <a:solidFill>
                <a:srgbClr val="1A2433"/>
              </a:solidFill>
            </a:endParaRPr>
          </a:p>
        </p:txBody>
      </p:sp>
      <p:sp>
        <p:nvSpPr>
          <p:cNvPr id="206" name="Google Shape;206;p31"/>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800"/>
              </a:spcAft>
              <a:buNone/>
            </a:pPr>
            <a:r>
              <a:rPr lang="zh-CN" sz="900">
                <a:solidFill>
                  <a:srgbClr val="5E6E80"/>
                </a:solidFill>
              </a:rPr>
              <a:t>Fixed base matrices still allow gradients through the encoder</a:t>
            </a:r>
            <a:endParaRPr sz="900">
              <a:solidFill>
                <a:srgbClr val="5E6E80"/>
              </a:solidFill>
            </a:endParaRPr>
          </a:p>
        </p:txBody>
      </p:sp>
      <p:sp>
        <p:nvSpPr>
          <p:cNvPr id="207" name="Google Shape;207;p31"/>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19</a:t>
            </a:r>
            <a:endParaRPr sz="900">
              <a:solidFill>
                <a:srgbClr val="5E6E8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32"/>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CP4: compare the same boards</a:t>
            </a:r>
            <a:endParaRPr b="1" sz="3000">
              <a:solidFill>
                <a:srgbClr val="111829"/>
              </a:solidFill>
            </a:endParaRPr>
          </a:p>
        </p:txBody>
      </p:sp>
      <p:sp>
        <p:nvSpPr>
          <p:cNvPr id="213" name="Google Shape;213;p32"/>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zh-CN" sz="2300">
                <a:solidFill>
                  <a:srgbClr val="1A2433"/>
                </a:solidFill>
              </a:rPr>
              <a:t>Fix skills and Pac-Man checkpoints</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Score the same 16 evaluation boards</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Compare teacher accuracy and captures</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Save paired predictions by board ID</a:t>
            </a:r>
            <a:endParaRPr sz="2300">
              <a:solidFill>
                <a:srgbClr val="1A2433"/>
              </a:solidFill>
            </a:endParaRPr>
          </a:p>
          <a:p>
            <a:pPr indent="0" lvl="0" marL="0" marR="0" rtl="0" algn="l">
              <a:lnSpc>
                <a:spcPct val="112000"/>
              </a:lnSpc>
              <a:spcBef>
                <a:spcPts val="800"/>
              </a:spcBef>
              <a:spcAft>
                <a:spcPts val="800"/>
              </a:spcAft>
              <a:buNone/>
            </a:pPr>
            <a:r>
              <a:rPr lang="zh-CN" sz="2300">
                <a:solidFill>
                  <a:srgbClr val="1A2433"/>
                </a:solidFill>
              </a:rPr>
              <a:t>Include a deterministic rules baseline</a:t>
            </a:r>
            <a:endParaRPr sz="2300">
              <a:solidFill>
                <a:srgbClr val="1A2433"/>
              </a:solidFill>
            </a:endParaRPr>
          </a:p>
        </p:txBody>
      </p:sp>
      <p:sp>
        <p:nvSpPr>
          <p:cNvPr id="214" name="Google Shape;214;p32"/>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One maze and 16 boards do not establish general game skill</a:t>
            </a:r>
            <a:endParaRPr sz="900">
              <a:solidFill>
                <a:srgbClr val="5E6E80"/>
              </a:solidFill>
            </a:endParaRPr>
          </a:p>
        </p:txBody>
      </p:sp>
      <p:sp>
        <p:nvSpPr>
          <p:cNvPr id="215" name="Google Shape;215;p32"/>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20</a:t>
            </a:r>
            <a:endParaRPr sz="900">
              <a:solidFill>
                <a:srgbClr val="5E6E8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33"/>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CP4: compare cost and gameplay</a:t>
            </a:r>
            <a:endParaRPr b="1" sz="3000">
              <a:solidFill>
                <a:srgbClr val="111829"/>
              </a:solidFill>
            </a:endParaRPr>
          </a:p>
        </p:txBody>
      </p:sp>
      <p:sp>
        <p:nvSpPr>
          <p:cNvPr id="221" name="Google Shape;221;p33"/>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zh-CN" sz="2300">
                <a:solidFill>
                  <a:srgbClr val="1A2433"/>
                </a:solidFill>
              </a:rPr>
              <a:t>Use identical starts and fixed-code ghosts</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Compare dots collected and game turns</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Measure end-to-end decision latency</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Record actual training time and peak memory</a:t>
            </a:r>
            <a:endParaRPr sz="2300">
              <a:solidFill>
                <a:srgbClr val="1A2433"/>
              </a:solidFill>
            </a:endParaRPr>
          </a:p>
          <a:p>
            <a:pPr indent="0" lvl="0" marL="0" marR="0" rtl="0" algn="l">
              <a:lnSpc>
                <a:spcPct val="112000"/>
              </a:lnSpc>
              <a:spcBef>
                <a:spcPts val="800"/>
              </a:spcBef>
              <a:spcAft>
                <a:spcPts val="800"/>
              </a:spcAft>
              <a:buNone/>
            </a:pPr>
            <a:r>
              <a:rPr lang="zh-CN" sz="2300">
                <a:solidFill>
                  <a:srgbClr val="1A2433"/>
                </a:solidFill>
              </a:rPr>
              <a:t>Record Colab compute units consumed</a:t>
            </a:r>
            <a:endParaRPr sz="2300">
              <a:solidFill>
                <a:srgbClr val="1A2433"/>
              </a:solidFill>
            </a:endParaRPr>
          </a:p>
        </p:txBody>
      </p:sp>
      <p:sp>
        <p:nvSpPr>
          <p:cNvPr id="222" name="Google Shape;222;p33"/>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Gameplay quality and inference speed are separate outcomes</a:t>
            </a:r>
            <a:endParaRPr sz="900">
              <a:solidFill>
                <a:srgbClr val="5E6E80"/>
              </a:solidFill>
            </a:endParaRPr>
          </a:p>
        </p:txBody>
      </p:sp>
      <p:sp>
        <p:nvSpPr>
          <p:cNvPr id="223" name="Google Shape;223;p33"/>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21</a:t>
            </a:r>
            <a:endParaRPr sz="900">
              <a:solidFill>
                <a:srgbClr val="5E6E8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34"/>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CP5: explain and submit</a:t>
            </a:r>
            <a:endParaRPr b="1" sz="3000">
              <a:solidFill>
                <a:srgbClr val="111829"/>
              </a:solidFill>
            </a:endParaRPr>
          </a:p>
        </p:txBody>
      </p:sp>
      <p:sp>
        <p:nvSpPr>
          <p:cNvPr id="229" name="Google Shape;229;p34"/>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zh-CN" sz="2300">
                <a:solidFill>
                  <a:srgbClr val="1A2433"/>
                </a:solidFill>
              </a:rPr>
              <a:t>Explain one changed move and one mistake</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Show which parameters received gradients</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Save all five adapters and pointer heads</a:t>
            </a:r>
            <a:endParaRPr sz="2300">
              <a:solidFill>
                <a:srgbClr val="1A2433"/>
              </a:solidFill>
            </a:endParaRPr>
          </a:p>
          <a:p>
            <a:pPr indent="0" lvl="0" marL="0" marR="0" rtl="0" algn="l">
              <a:lnSpc>
                <a:spcPct val="112000"/>
              </a:lnSpc>
              <a:spcBef>
                <a:spcPts val="800"/>
              </a:spcBef>
              <a:spcAft>
                <a:spcPts val="0"/>
              </a:spcAft>
              <a:buNone/>
            </a:pPr>
            <a:r>
              <a:rPr lang="zh-CN" sz="2300">
                <a:solidFill>
                  <a:srgbClr val="1A2433"/>
                </a:solidFill>
              </a:rPr>
              <a:t>Submit paired predictions and training curves</a:t>
            </a:r>
            <a:endParaRPr sz="2300">
              <a:solidFill>
                <a:srgbClr val="1A2433"/>
              </a:solidFill>
            </a:endParaRPr>
          </a:p>
          <a:p>
            <a:pPr indent="0" lvl="0" marL="0" marR="0" rtl="0" algn="l">
              <a:lnSpc>
                <a:spcPct val="112000"/>
              </a:lnSpc>
              <a:spcBef>
                <a:spcPts val="800"/>
              </a:spcBef>
              <a:spcAft>
                <a:spcPts val="800"/>
              </a:spcAft>
              <a:buNone/>
            </a:pPr>
            <a:r>
              <a:rPr lang="zh-CN" sz="2300">
                <a:solidFill>
                  <a:srgbClr val="1A2433"/>
                </a:solidFill>
              </a:rPr>
              <a:t>Record runtime and actual compute-unit use</a:t>
            </a:r>
            <a:endParaRPr sz="2300">
              <a:solidFill>
                <a:srgbClr val="1A2433"/>
              </a:solidFill>
            </a:endParaRPr>
          </a:p>
        </p:txBody>
      </p:sp>
      <p:sp>
        <p:nvSpPr>
          <p:cNvPr id="230" name="Google Shape;230;p34"/>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800"/>
              </a:spcAft>
              <a:buNone/>
            </a:pPr>
            <a:r>
              <a:rPr lang="zh-CN" sz="900">
                <a:solidFill>
                  <a:srgbClr val="5E6E80"/>
                </a:solidFill>
              </a:rPr>
              <a:t>Evidence: four general stages, Pac-Man adaptation, paired evaluation</a:t>
            </a:r>
            <a:endParaRPr sz="900">
              <a:solidFill>
                <a:srgbClr val="5E6E80"/>
              </a:solidFill>
            </a:endParaRPr>
          </a:p>
        </p:txBody>
      </p:sp>
      <p:sp>
        <p:nvSpPr>
          <p:cNvPr id="231" name="Google Shape;231;p34"/>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22</a:t>
            </a:r>
            <a:endParaRPr sz="900">
              <a:solidFill>
                <a:srgbClr val="5E6E8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 name="Shape 235"/>
        <p:cNvGrpSpPr/>
        <p:nvPr/>
      </p:nvGrpSpPr>
      <p:grpSpPr>
        <a:xfrm>
          <a:off x="0" y="0"/>
          <a:ext cx="0" cy="0"/>
          <a:chOff x="0" y="0"/>
          <a:chExt cx="0" cy="0"/>
        </a:xfrm>
      </p:grpSpPr>
      <p:sp>
        <p:nvSpPr>
          <p:cNvPr id="236" name="Google Shape;236;p35"/>
          <p:cNvSpPr txBox="1"/>
          <p:nvPr>
            <p:ph type="title"/>
          </p:nvPr>
        </p:nvSpPr>
        <p:spPr>
          <a:xfrm>
            <a:off x="457200" y="330200"/>
            <a:ext cx="8229600" cy="8382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b="1" lang="zh-CN" sz="3000">
                <a:solidFill>
                  <a:srgbClr val="111829"/>
                </a:solidFill>
              </a:rPr>
              <a:t>The community starting point</a:t>
            </a:r>
            <a:endParaRPr b="1" sz="3000">
              <a:solidFill>
                <a:srgbClr val="111829"/>
              </a:solidFill>
            </a:endParaRPr>
          </a:p>
        </p:txBody>
      </p:sp>
      <p:sp>
        <p:nvSpPr>
          <p:cNvPr id="237" name="Google Shape;237;p35"/>
          <p:cNvSpPr txBox="1"/>
          <p:nvPr/>
        </p:nvSpPr>
        <p:spPr>
          <a:xfrm>
            <a:off x="457200" y="1473200"/>
            <a:ext cx="8229600" cy="29718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zh-CN" sz="2300">
                <a:solidFill>
                  <a:srgbClr val="1A2433"/>
                </a:solidFill>
              </a:rPr>
              <a:t>Source: codaaiteam/jev-pacman, MIT</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Original demo: human player, Jev ghosts</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Our design: learned player, fixed-code ghosts</a:t>
            </a:r>
            <a:endParaRPr sz="2300">
              <a:solidFill>
                <a:srgbClr val="1A2433"/>
              </a:solidFill>
            </a:endParaRPr>
          </a:p>
          <a:p>
            <a:pPr indent="0" lvl="0" marL="0" rtl="0" algn="l">
              <a:lnSpc>
                <a:spcPct val="112000"/>
              </a:lnSpc>
              <a:spcBef>
                <a:spcPts val="800"/>
              </a:spcBef>
              <a:spcAft>
                <a:spcPts val="0"/>
              </a:spcAft>
              <a:buNone/>
            </a:pPr>
            <a:r>
              <a:rPr lang="zh-CN" sz="2300">
                <a:solidFill>
                  <a:srgbClr val="1A2433"/>
                </a:solidFill>
              </a:rPr>
              <a:t>Use the same maze and rules for every model</a:t>
            </a:r>
            <a:endParaRPr sz="2300">
              <a:solidFill>
                <a:srgbClr val="1A2433"/>
              </a:solidFill>
            </a:endParaRPr>
          </a:p>
          <a:p>
            <a:pPr indent="0" lvl="0" marL="0" rtl="0" algn="l">
              <a:lnSpc>
                <a:spcPct val="112000"/>
              </a:lnSpc>
              <a:spcBef>
                <a:spcPts val="800"/>
              </a:spcBef>
              <a:spcAft>
                <a:spcPts val="800"/>
              </a:spcAft>
              <a:buNone/>
            </a:pPr>
            <a:r>
              <a:rPr lang="zh-CN" sz="2300">
                <a:solidFill>
                  <a:srgbClr val="1A2433"/>
                </a:solidFill>
              </a:rPr>
              <a:t>No ROM setup for this browser clone</a:t>
            </a:r>
            <a:endParaRPr sz="2300">
              <a:solidFill>
                <a:srgbClr val="1A2433"/>
              </a:solidFill>
            </a:endParaRPr>
          </a:p>
        </p:txBody>
      </p:sp>
      <p:sp>
        <p:nvSpPr>
          <p:cNvPr id="238" name="Google Shape;238;p35"/>
          <p:cNvSpPr txBox="1"/>
          <p:nvPr/>
        </p:nvSpPr>
        <p:spPr>
          <a:xfrm>
            <a:off x="457200" y="4800600"/>
            <a:ext cx="77724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Clean upstream source and MIT notice are preserved</a:t>
            </a:r>
            <a:endParaRPr sz="900">
              <a:solidFill>
                <a:srgbClr val="5E6E80"/>
              </a:solidFill>
            </a:endParaRPr>
          </a:p>
        </p:txBody>
      </p:sp>
      <p:sp>
        <p:nvSpPr>
          <p:cNvPr id="239" name="Google Shape;239;p35"/>
          <p:cNvSpPr txBox="1"/>
          <p:nvPr/>
        </p:nvSpPr>
        <p:spPr>
          <a:xfrm>
            <a:off x="8470900" y="4800600"/>
            <a:ext cx="304800" cy="203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800"/>
              </a:spcAft>
              <a:buNone/>
            </a:pPr>
            <a:r>
              <a:rPr lang="zh-CN" sz="900">
                <a:solidFill>
                  <a:srgbClr val="5E6E80"/>
                </a:solidFill>
              </a:rPr>
              <a:t>23</a:t>
            </a:r>
            <a:endParaRPr sz="900">
              <a:solidFill>
                <a:srgbClr val="5E6E8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